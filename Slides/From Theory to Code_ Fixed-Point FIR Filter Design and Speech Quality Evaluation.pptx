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8" r:id="rId24"/>
    <p:sldId id="319" r:id="rId25"/>
    <p:sldId id="287" r:id="rId26"/>
    <p:sldId id="320" r:id="rId27"/>
    <p:sldId id="321" r:id="rId28"/>
    <p:sldId id="322" r:id="rId29"/>
    <p:sldId id="316" r:id="rId30"/>
    <p:sldId id="288" r:id="rId31"/>
    <p:sldId id="317" r:id="rId32"/>
    <p:sldId id="262" r:id="rId33"/>
    <p:sldId id="266" r:id="rId34"/>
    <p:sldId id="267" r:id="rId35"/>
    <p:sldId id="263" r:id="rId36"/>
    <p:sldId id="264" r:id="rId37"/>
    <p:sldId id="265" r:id="rId38"/>
    <p:sldId id="268" r:id="rId39"/>
    <p:sldId id="269" r:id="rId40"/>
    <p:sldId id="270" r:id="rId41"/>
    <p:sldId id="271" r:id="rId42"/>
    <p:sldId id="272" r:id="rId43"/>
    <p:sldId id="289" r:id="rId44"/>
    <p:sldId id="273" r:id="rId45"/>
    <p:sldId id="274" r:id="rId46"/>
    <p:sldId id="275" r:id="rId47"/>
    <p:sldId id="276" r:id="rId48"/>
    <p:sldId id="277" r:id="rId49"/>
    <p:sldId id="278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279" r:id="rId61"/>
    <p:sldId id="280" r:id="rId62"/>
    <p:sldId id="281" r:id="rId63"/>
    <p:sldId id="282" r:id="rId64"/>
    <p:sldId id="283" r:id="rId65"/>
    <p:sldId id="284" r:id="rId66"/>
    <p:sldId id="285" r:id="rId67"/>
    <p:sldId id="286" r:id="rId68"/>
  </p:sldIdLst>
  <p:sldSz cx="12192000" cy="6858000"/>
  <p:notesSz cx="6858000" cy="9144000"/>
  <p:embeddedFontLst>
    <p:embeddedFont>
      <p:font typeface="Cambria Math" panose="02040503050406030204" pitchFamily="18" charset="0"/>
      <p:regular r:id="rId69"/>
    </p:embeddedFont>
    <p:embeddedFont>
      <p:font typeface="Poppins" panose="00000500000000000000" pitchFamily="2" charset="0"/>
      <p:regular r:id="rId70"/>
      <p:bold r:id="rId71"/>
      <p:italic r:id="rId72"/>
      <p:boldItalic r:id="rId73"/>
    </p:embeddedFont>
    <p:embeddedFont>
      <p:font typeface="poppins-bold" panose="020B0604020202020204" charset="0"/>
      <p:regular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33675" y="0"/>
            <a:ext cx="9574206" cy="6858000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24155 w 247015"/>
              <a:gd name="connsiteY0" fmla="*/ 45720 h 244475"/>
              <a:gd name="connsiteX1" fmla="*/ 247015 w 247015"/>
              <a:gd name="connsiteY1" fmla="*/ 22860 h 244475"/>
              <a:gd name="connsiteX2" fmla="*/ 224155 w 247015"/>
              <a:gd name="connsiteY2" fmla="*/ 0 h 244475"/>
              <a:gd name="connsiteX3" fmla="*/ 201295 w 247015"/>
              <a:gd name="connsiteY3" fmla="*/ 22860 h 244475"/>
              <a:gd name="connsiteX4" fmla="*/ 224155 w 247015"/>
              <a:gd name="connsiteY4" fmla="*/ 45720 h 244475"/>
              <a:gd name="connsiteX5" fmla="*/ 123190 w 247015"/>
              <a:gd name="connsiteY5" fmla="*/ 45720 h 244475"/>
              <a:gd name="connsiteX6" fmla="*/ 146050 w 247015"/>
              <a:gd name="connsiteY6" fmla="*/ 22860 h 244475"/>
              <a:gd name="connsiteX7" fmla="*/ 123190 w 247015"/>
              <a:gd name="connsiteY7" fmla="*/ 0 h 244475"/>
              <a:gd name="connsiteX8" fmla="*/ 100330 w 247015"/>
              <a:gd name="connsiteY8" fmla="*/ 22860 h 244475"/>
              <a:gd name="connsiteX9" fmla="*/ 123190 w 247015"/>
              <a:gd name="connsiteY9" fmla="*/ 45720 h 244475"/>
              <a:gd name="connsiteX10" fmla="*/ 22860 w 247015"/>
              <a:gd name="connsiteY10" fmla="*/ 45720 h 244475"/>
              <a:gd name="connsiteX11" fmla="*/ 45720 w 247015"/>
              <a:gd name="connsiteY11" fmla="*/ 22860 h 244475"/>
              <a:gd name="connsiteX12" fmla="*/ 22860 w 247015"/>
              <a:gd name="connsiteY12" fmla="*/ 0 h 244475"/>
              <a:gd name="connsiteX13" fmla="*/ 0 w 247015"/>
              <a:gd name="connsiteY13" fmla="*/ 22860 h 244475"/>
              <a:gd name="connsiteX14" fmla="*/ 22860 w 247015"/>
              <a:gd name="connsiteY14" fmla="*/ 45720 h 244475"/>
              <a:gd name="connsiteX15" fmla="*/ 224155 w 247015"/>
              <a:gd name="connsiteY15" fmla="*/ 145415 h 244475"/>
              <a:gd name="connsiteX16" fmla="*/ 247015 w 247015"/>
              <a:gd name="connsiteY16" fmla="*/ 122555 h 244475"/>
              <a:gd name="connsiteX17" fmla="*/ 224155 w 247015"/>
              <a:gd name="connsiteY17" fmla="*/ 99695 h 244475"/>
              <a:gd name="connsiteX18" fmla="*/ 201295 w 247015"/>
              <a:gd name="connsiteY18" fmla="*/ 122555 h 244475"/>
              <a:gd name="connsiteX19" fmla="*/ 224155 w 247015"/>
              <a:gd name="connsiteY19" fmla="*/ 145415 h 244475"/>
              <a:gd name="connsiteX20" fmla="*/ 123190 w 247015"/>
              <a:gd name="connsiteY20" fmla="*/ 145415 h 244475"/>
              <a:gd name="connsiteX21" fmla="*/ 146050 w 247015"/>
              <a:gd name="connsiteY21" fmla="*/ 122555 h 244475"/>
              <a:gd name="connsiteX22" fmla="*/ 123190 w 247015"/>
              <a:gd name="connsiteY22" fmla="*/ 99695 h 244475"/>
              <a:gd name="connsiteX23" fmla="*/ 100330 w 247015"/>
              <a:gd name="connsiteY23" fmla="*/ 122555 h 244475"/>
              <a:gd name="connsiteX24" fmla="*/ 123190 w 247015"/>
              <a:gd name="connsiteY24" fmla="*/ 145415 h 244475"/>
              <a:gd name="connsiteX25" fmla="*/ 22860 w 247015"/>
              <a:gd name="connsiteY25" fmla="*/ 145415 h 244475"/>
              <a:gd name="connsiteX26" fmla="*/ 45720 w 247015"/>
              <a:gd name="connsiteY26" fmla="*/ 122555 h 244475"/>
              <a:gd name="connsiteX27" fmla="*/ 22860 w 247015"/>
              <a:gd name="connsiteY27" fmla="*/ 99695 h 244475"/>
              <a:gd name="connsiteX28" fmla="*/ 0 w 247015"/>
              <a:gd name="connsiteY28" fmla="*/ 122555 h 244475"/>
              <a:gd name="connsiteX29" fmla="*/ 22860 w 247015"/>
              <a:gd name="connsiteY29" fmla="*/ 145415 h 244475"/>
              <a:gd name="connsiteX30" fmla="*/ 224155 w 247015"/>
              <a:gd name="connsiteY30" fmla="*/ 244475 h 244475"/>
              <a:gd name="connsiteX31" fmla="*/ 247015 w 247015"/>
              <a:gd name="connsiteY31" fmla="*/ 221615 h 244475"/>
              <a:gd name="connsiteX32" fmla="*/ 224155 w 247015"/>
              <a:gd name="connsiteY32" fmla="*/ 198755 h 244475"/>
              <a:gd name="connsiteX33" fmla="*/ 201295 w 247015"/>
              <a:gd name="connsiteY33" fmla="*/ 221615 h 244475"/>
              <a:gd name="connsiteX34" fmla="*/ 224155 w 247015"/>
              <a:gd name="connsiteY34" fmla="*/ 244475 h 244475"/>
              <a:gd name="connsiteX35" fmla="*/ 123190 w 247015"/>
              <a:gd name="connsiteY35" fmla="*/ 244475 h 244475"/>
              <a:gd name="connsiteX36" fmla="*/ 146050 w 247015"/>
              <a:gd name="connsiteY36" fmla="*/ 221615 h 244475"/>
              <a:gd name="connsiteX37" fmla="*/ 123190 w 247015"/>
              <a:gd name="connsiteY37" fmla="*/ 198755 h 244475"/>
              <a:gd name="connsiteX38" fmla="*/ 100330 w 247015"/>
              <a:gd name="connsiteY38" fmla="*/ 221615 h 244475"/>
              <a:gd name="connsiteX39" fmla="*/ 123190 w 247015"/>
              <a:gd name="connsiteY39" fmla="*/ 244475 h 244475"/>
              <a:gd name="connsiteX40" fmla="*/ 22860 w 247015"/>
              <a:gd name="connsiteY40" fmla="*/ 244475 h 244475"/>
              <a:gd name="connsiteX41" fmla="*/ 45720 w 247015"/>
              <a:gd name="connsiteY41" fmla="*/ 221615 h 244475"/>
              <a:gd name="connsiteX42" fmla="*/ 22860 w 247015"/>
              <a:gd name="connsiteY42" fmla="*/ 198755 h 244475"/>
              <a:gd name="connsiteX43" fmla="*/ 0 w 247015"/>
              <a:gd name="connsiteY43" fmla="*/ 221615 h 244475"/>
              <a:gd name="connsiteX44" fmla="*/ 22860 w 247015"/>
              <a:gd name="connsiteY44" fmla="*/ 244475 h 244475"/>
            </a:gdLst>
            <a:ahLst/>
            <a:cxnLst/>
            <a:rect l="l" t="t" r="r" b="b"/>
            <a:pathLst>
              <a:path w="247015" h="244475">
                <a:moveTo>
                  <a:pt x="224155" y="45720"/>
                </a:moveTo>
                <a:cubicBezTo>
                  <a:pt x="236780" y="45720"/>
                  <a:pt x="247015" y="35485"/>
                  <a:pt x="247015" y="22860"/>
                </a:cubicBezTo>
                <a:cubicBezTo>
                  <a:pt x="247015" y="10235"/>
                  <a:pt x="236780" y="0"/>
                  <a:pt x="224155" y="0"/>
                </a:cubicBezTo>
                <a:cubicBezTo>
                  <a:pt x="211530" y="0"/>
                  <a:pt x="201295" y="10235"/>
                  <a:pt x="201295" y="22860"/>
                </a:cubicBezTo>
                <a:cubicBezTo>
                  <a:pt x="201295" y="35485"/>
                  <a:pt x="211530" y="45720"/>
                  <a:pt x="224155" y="45720"/>
                </a:cubicBezTo>
                <a:close/>
                <a:moveTo>
                  <a:pt x="123190" y="45720"/>
                </a:moveTo>
                <a:cubicBezTo>
                  <a:pt x="135815" y="45720"/>
                  <a:pt x="146050" y="35485"/>
                  <a:pt x="146050" y="22860"/>
                </a:cubicBezTo>
                <a:cubicBezTo>
                  <a:pt x="146050" y="10235"/>
                  <a:pt x="135815" y="0"/>
                  <a:pt x="123190" y="0"/>
                </a:cubicBezTo>
                <a:cubicBezTo>
                  <a:pt x="110565" y="0"/>
                  <a:pt x="100330" y="10235"/>
                  <a:pt x="100330" y="22860"/>
                </a:cubicBezTo>
                <a:cubicBezTo>
                  <a:pt x="100330" y="35485"/>
                  <a:pt x="110565" y="45720"/>
                  <a:pt x="123190" y="45720"/>
                </a:cubicBezTo>
                <a:close/>
                <a:moveTo>
                  <a:pt x="22860" y="45720"/>
                </a:moveTo>
                <a:cubicBezTo>
                  <a:pt x="35485" y="45720"/>
                  <a:pt x="45720" y="35485"/>
                  <a:pt x="45720" y="22860"/>
                </a:cubicBezTo>
                <a:cubicBezTo>
                  <a:pt x="45720" y="10235"/>
                  <a:pt x="35485" y="0"/>
                  <a:pt x="22860" y="0"/>
                </a:cubicBezTo>
                <a:cubicBezTo>
                  <a:pt x="10235" y="0"/>
                  <a:pt x="0" y="10235"/>
                  <a:pt x="0" y="22860"/>
                </a:cubicBezTo>
                <a:cubicBezTo>
                  <a:pt x="0" y="35485"/>
                  <a:pt x="10235" y="45720"/>
                  <a:pt x="22860" y="45720"/>
                </a:cubicBezTo>
                <a:close/>
                <a:moveTo>
                  <a:pt x="224155" y="145415"/>
                </a:moveTo>
                <a:cubicBezTo>
                  <a:pt x="236780" y="145415"/>
                  <a:pt x="247015" y="135180"/>
                  <a:pt x="247015" y="122555"/>
                </a:cubicBezTo>
                <a:cubicBezTo>
                  <a:pt x="247015" y="109930"/>
                  <a:pt x="236780" y="99695"/>
                  <a:pt x="224155" y="99695"/>
                </a:cubicBezTo>
                <a:cubicBezTo>
                  <a:pt x="211530" y="99695"/>
                  <a:pt x="201295" y="109930"/>
                  <a:pt x="201295" y="122555"/>
                </a:cubicBezTo>
                <a:cubicBezTo>
                  <a:pt x="201295" y="135180"/>
                  <a:pt x="211530" y="145415"/>
                  <a:pt x="224155" y="145415"/>
                </a:cubicBezTo>
                <a:close/>
                <a:moveTo>
                  <a:pt x="123190" y="145415"/>
                </a:moveTo>
                <a:cubicBezTo>
                  <a:pt x="135815" y="145415"/>
                  <a:pt x="146050" y="135180"/>
                  <a:pt x="146050" y="122555"/>
                </a:cubicBezTo>
                <a:cubicBezTo>
                  <a:pt x="146050" y="109930"/>
                  <a:pt x="135815" y="99695"/>
                  <a:pt x="123190" y="99695"/>
                </a:cubicBezTo>
                <a:cubicBezTo>
                  <a:pt x="110565" y="99695"/>
                  <a:pt x="100330" y="109930"/>
                  <a:pt x="100330" y="122555"/>
                </a:cubicBezTo>
                <a:cubicBezTo>
                  <a:pt x="100330" y="135180"/>
                  <a:pt x="110565" y="145415"/>
                  <a:pt x="123190" y="145415"/>
                </a:cubicBezTo>
                <a:close/>
                <a:moveTo>
                  <a:pt x="22860" y="145415"/>
                </a:moveTo>
                <a:cubicBezTo>
                  <a:pt x="35485" y="145415"/>
                  <a:pt x="45720" y="135180"/>
                  <a:pt x="45720" y="122555"/>
                </a:cubicBezTo>
                <a:cubicBezTo>
                  <a:pt x="45720" y="109930"/>
                  <a:pt x="35485" y="99695"/>
                  <a:pt x="22860" y="99695"/>
                </a:cubicBezTo>
                <a:cubicBezTo>
                  <a:pt x="10235" y="99695"/>
                  <a:pt x="0" y="109930"/>
                  <a:pt x="0" y="122555"/>
                </a:cubicBezTo>
                <a:cubicBezTo>
                  <a:pt x="0" y="135180"/>
                  <a:pt x="10235" y="145415"/>
                  <a:pt x="22860" y="145415"/>
                </a:cubicBezTo>
                <a:close/>
                <a:moveTo>
                  <a:pt x="224155" y="244475"/>
                </a:moveTo>
                <a:cubicBezTo>
                  <a:pt x="236780" y="244475"/>
                  <a:pt x="247015" y="234240"/>
                  <a:pt x="247015" y="221615"/>
                </a:cubicBezTo>
                <a:cubicBezTo>
                  <a:pt x="247015" y="208990"/>
                  <a:pt x="236780" y="198755"/>
                  <a:pt x="224155" y="198755"/>
                </a:cubicBezTo>
                <a:cubicBezTo>
                  <a:pt x="211530" y="198755"/>
                  <a:pt x="201295" y="208990"/>
                  <a:pt x="201295" y="221615"/>
                </a:cubicBezTo>
                <a:cubicBezTo>
                  <a:pt x="201295" y="234240"/>
                  <a:pt x="211530" y="244475"/>
                  <a:pt x="224155" y="244475"/>
                </a:cubicBezTo>
                <a:close/>
                <a:moveTo>
                  <a:pt x="123190" y="244475"/>
                </a:moveTo>
                <a:cubicBezTo>
                  <a:pt x="135815" y="244475"/>
                  <a:pt x="146050" y="234240"/>
                  <a:pt x="146050" y="221615"/>
                </a:cubicBezTo>
                <a:cubicBezTo>
                  <a:pt x="146050" y="208990"/>
                  <a:pt x="135815" y="198755"/>
                  <a:pt x="123190" y="198755"/>
                </a:cubicBezTo>
                <a:cubicBezTo>
                  <a:pt x="110565" y="198755"/>
                  <a:pt x="100330" y="208990"/>
                  <a:pt x="100330" y="221615"/>
                </a:cubicBezTo>
                <a:cubicBezTo>
                  <a:pt x="100330" y="234240"/>
                  <a:pt x="110565" y="244475"/>
                  <a:pt x="123190" y="244475"/>
                </a:cubicBezTo>
                <a:close/>
                <a:moveTo>
                  <a:pt x="22860" y="244475"/>
                </a:moveTo>
                <a:cubicBezTo>
                  <a:pt x="35485" y="244475"/>
                  <a:pt x="45720" y="234240"/>
                  <a:pt x="45720" y="221615"/>
                </a:cubicBezTo>
                <a:cubicBezTo>
                  <a:pt x="45720" y="208990"/>
                  <a:pt x="35485" y="198755"/>
                  <a:pt x="22860" y="198755"/>
                </a:cubicBezTo>
                <a:cubicBezTo>
                  <a:pt x="10235" y="198755"/>
                  <a:pt x="0" y="208990"/>
                  <a:pt x="0" y="221615"/>
                </a:cubicBezTo>
                <a:cubicBezTo>
                  <a:pt x="0" y="234240"/>
                  <a:pt x="10235" y="244475"/>
                  <a:pt x="22860" y="244475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6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610881" y="4357000"/>
            <a:ext cx="4829799" cy="2378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Saikiran Chepa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696850" y="1964461"/>
            <a:ext cx="8230808" cy="16151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7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From Theory to Code Fixed-Point FIR Filter Design and Output Quality Evaluation</a:t>
            </a:r>
            <a:endParaRPr kumimoji="1" lang="zh-CN" altLang="en-US" dirty="0"/>
          </a:p>
        </p:txBody>
      </p:sp>
      <p:cxnSp>
        <p:nvCxnSpPr>
          <p:cNvPr id="10" name="标题 1"/>
          <p:cNvCxnSpPr/>
          <p:nvPr/>
        </p:nvCxnSpPr>
        <p:spPr>
          <a:xfrm>
            <a:off x="738099" y="5027316"/>
            <a:ext cx="142335" cy="0"/>
          </a:xfrm>
          <a:prstGeom prst="line">
            <a:avLst/>
          </a:prstGeom>
          <a:noFill/>
          <a:ln w="38100" cap="sq">
            <a:solidFill>
              <a:schemeClr val="bg1"/>
            </a:solidFill>
            <a:prstDash val="solid"/>
            <a:miter/>
          </a:ln>
        </p:spPr>
      </p:cxnSp>
      <p:sp>
        <p:nvSpPr>
          <p:cNvPr id="11" name="标题 1"/>
          <p:cNvSpPr txBox="1"/>
          <p:nvPr/>
        </p:nvSpPr>
        <p:spPr>
          <a:xfrm>
            <a:off x="880434" y="4956030"/>
            <a:ext cx="154793" cy="154793"/>
          </a:xfrm>
          <a:prstGeom prst="ellipse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标题 1"/>
          <p:cNvCxnSpPr/>
          <p:nvPr/>
        </p:nvCxnSpPr>
        <p:spPr>
          <a:xfrm flipV="1">
            <a:off x="5124006" y="4506267"/>
            <a:ext cx="1216380" cy="0"/>
          </a:xfrm>
          <a:prstGeom prst="line">
            <a:avLst/>
          </a:prstGeom>
          <a:noFill/>
          <a:ln w="12700" cap="sq">
            <a:solidFill>
              <a:schemeClr val="bg1"/>
            </a:solidFill>
            <a:prstDash val="solid"/>
            <a:miter/>
          </a:ln>
        </p:spPr>
      </p:cxnSp>
      <p:sp>
        <p:nvSpPr>
          <p:cNvPr id="14" name="标题 1"/>
          <p:cNvSpPr txBox="1"/>
          <p:nvPr/>
        </p:nvSpPr>
        <p:spPr>
          <a:xfrm flipV="1">
            <a:off x="6340386" y="4417650"/>
            <a:ext cx="177233" cy="177233"/>
          </a:xfrm>
          <a:prstGeom prst="ellipse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11550199" y="5824618"/>
            <a:ext cx="476416" cy="980751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/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69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3546353" y="901479"/>
            <a:ext cx="3005521" cy="58273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Contents</a:t>
            </a:r>
            <a:endParaRPr kumimoji="1" lang="zh-CN" altLang="en-US"/>
          </a:p>
        </p:txBody>
      </p:sp>
      <p:cxnSp>
        <p:nvCxnSpPr>
          <p:cNvPr id="4" name="标题 1"/>
          <p:cNvCxnSpPr/>
          <p:nvPr/>
        </p:nvCxnSpPr>
        <p:spPr>
          <a:xfrm flipH="1">
            <a:off x="3546353" y="1532699"/>
            <a:ext cx="455865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5" name="标题 1"/>
          <p:cNvSpPr txBox="1"/>
          <p:nvPr/>
        </p:nvSpPr>
        <p:spPr>
          <a:xfrm>
            <a:off x="8139096" y="2215390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Floating-Point Representation (Refresher)</a:t>
            </a:r>
            <a:endParaRPr kumimoji="1" lang="zh-CN" alt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l"/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8139096" y="3016365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Fixed-Point Representation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778352" y="218366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2.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554304" y="218366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903822" y="2215390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Finite Impulse Response (FIR) Filter Design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3903822" y="3016365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Motivation for Fixed Point</a:t>
            </a:r>
            <a:endParaRPr kumimoji="1" lang="zh-CN" altLang="en-US" sz="1200" dirty="0"/>
          </a:p>
        </p:txBody>
      </p:sp>
      <p:sp>
        <p:nvSpPr>
          <p:cNvPr id="11" name="标题 1"/>
          <p:cNvSpPr txBox="1"/>
          <p:nvPr/>
        </p:nvSpPr>
        <p:spPr>
          <a:xfrm>
            <a:off x="3554304" y="298241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3.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778352" y="298241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4.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-1" y="0"/>
            <a:ext cx="2657476" cy="6858000"/>
          </a:xfrm>
          <a:prstGeom prst="rect">
            <a:avLst/>
          </a:pr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95880" y="0"/>
            <a:ext cx="169707" cy="6858000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13739" y="0"/>
            <a:ext cx="169707" cy="6858000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31597" y="0"/>
            <a:ext cx="169707" cy="6858000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139096" y="3817340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Fixed-Point Arithmetic Examples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903822" y="3817340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Float-to-Fixed Conversion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554304" y="378116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5.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778352" y="378116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6.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139096" y="4618315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Verification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3903822" y="4618315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Practical Example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554304" y="457991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7.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778352" y="4579918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8.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139096" y="5419290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Hands On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3903822" y="5419289"/>
            <a:ext cx="3384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Summary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3554304" y="5378670"/>
            <a:ext cx="324000" cy="28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9.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7641203" y="5378670"/>
            <a:ext cx="468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10.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Finite Impulse Response (FIR) Filter Design</a:t>
            </a: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5341254" y="2088244"/>
            <a:ext cx="6850746" cy="154722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341254" y="3786773"/>
            <a:ext cx="6850746" cy="154722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alphaModFix/>
          </a:blip>
          <a:srcRect l="1743" t="12139" r="79867" b="67974"/>
          <a:stretch>
            <a:fillRect/>
          </a:stretch>
        </p:blipFill>
        <p:spPr>
          <a:xfrm>
            <a:off x="769256" y="2088244"/>
            <a:ext cx="2177143" cy="1569359"/>
          </a:xfrm>
          <a:custGeom>
            <a:avLst/>
            <a:gdLst/>
            <a:ahLst/>
            <a:cxnLst/>
            <a:rect l="l" t="t" r="r" b="b"/>
            <a:pathLst>
              <a:path w="2177143" h="1569359">
                <a:moveTo>
                  <a:pt x="0" y="0"/>
                </a:moveTo>
                <a:lnTo>
                  <a:pt x="2177143" y="0"/>
                </a:lnTo>
                <a:lnTo>
                  <a:pt x="2177143" y="1569359"/>
                </a:lnTo>
                <a:lnTo>
                  <a:pt x="0" y="156935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alphaModFix/>
          </a:blip>
          <a:srcRect l="21053" t="12139" r="60557" b="67974"/>
          <a:stretch>
            <a:fillRect/>
          </a:stretch>
        </p:blipFill>
        <p:spPr>
          <a:xfrm>
            <a:off x="3055255" y="2088244"/>
            <a:ext cx="2177143" cy="1569359"/>
          </a:xfrm>
          <a:custGeom>
            <a:avLst/>
            <a:gdLst/>
            <a:ahLst/>
            <a:cxnLst/>
            <a:rect l="l" t="t" r="r" b="b"/>
            <a:pathLst>
              <a:path w="2177143" h="1569359">
                <a:moveTo>
                  <a:pt x="0" y="0"/>
                </a:moveTo>
                <a:lnTo>
                  <a:pt x="2177143" y="0"/>
                </a:lnTo>
                <a:lnTo>
                  <a:pt x="2177143" y="1569359"/>
                </a:lnTo>
                <a:lnTo>
                  <a:pt x="0" y="156935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alphaModFix/>
          </a:blip>
          <a:srcRect l="21053" t="33383" r="60557" b="46730"/>
          <a:stretch>
            <a:fillRect/>
          </a:stretch>
        </p:blipFill>
        <p:spPr>
          <a:xfrm>
            <a:off x="3055255" y="3764641"/>
            <a:ext cx="2177143" cy="1569359"/>
          </a:xfrm>
          <a:custGeom>
            <a:avLst/>
            <a:gdLst/>
            <a:ahLst/>
            <a:cxnLst/>
            <a:rect l="l" t="t" r="r" b="b"/>
            <a:pathLst>
              <a:path w="2177143" h="1569359">
                <a:moveTo>
                  <a:pt x="0" y="0"/>
                </a:moveTo>
                <a:lnTo>
                  <a:pt x="2177143" y="0"/>
                </a:lnTo>
                <a:lnTo>
                  <a:pt x="2177143" y="1569359"/>
                </a:lnTo>
                <a:lnTo>
                  <a:pt x="0" y="156935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0" y="2088243"/>
            <a:ext cx="660400" cy="3245757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  <a:headEnd/>
            <a:tailEnd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562286" y="2313217"/>
            <a:ext cx="532315" cy="532315"/>
          </a:xfrm>
          <a:prstGeom prst="rect">
            <a:avLst/>
          </a:prstGeom>
          <a:noFill/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300126" y="2299708"/>
            <a:ext cx="5218774" cy="10834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Always stable (no feedback terms)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300126" y="3962761"/>
            <a:ext cx="5218774" cy="10834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Output depends only on current and past inputs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5677345" y="2428276"/>
            <a:ext cx="302196" cy="302196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562286" y="4000465"/>
            <a:ext cx="532315" cy="532315"/>
          </a:xfrm>
          <a:prstGeom prst="rect">
            <a:avLst/>
          </a:prstGeom>
          <a:noFill/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677345" y="4129634"/>
            <a:ext cx="302196" cy="27397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11199" y="4129446"/>
            <a:ext cx="2349500" cy="1219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sz="9600">
                <a:ln w="12700">
                  <a:noFill/>
                </a:ln>
                <a:solidFill>
                  <a:srgbClr val="FBD6DC">
                    <a:alpha val="50000"/>
                  </a:srgbClr>
                </a:solidFill>
                <a:latin typeface="poppins-bold"/>
                <a:ea typeface="poppins-bold"/>
                <a:cs typeface="poppins-bold"/>
              </a:rPr>
              <a:t>01.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Linear-phase design (symmetrical coefficients)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355117" y="2021109"/>
            <a:ext cx="4860000" cy="1782169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06146" y="2021110"/>
            <a:ext cx="4860000" cy="1782169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06146" y="4244638"/>
            <a:ext cx="4860000" cy="1782169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355117" y="4244637"/>
            <a:ext cx="4860000" cy="1782169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06120" y="1721082"/>
            <a:ext cx="600054" cy="60005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06120" y="3961226"/>
            <a:ext cx="600054" cy="60005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0898510" y="3961226"/>
            <a:ext cx="600054" cy="60005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313817" y="2246009"/>
            <a:ext cx="3570888" cy="14674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ℎ 𝑘 = filter coefficients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313817" y="4468332"/>
            <a:ext cx="3570888" cy="147526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𝑦 𝑛 = output signal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69846" y="4468332"/>
            <a:ext cx="3570888" cy="14674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 = number of taps</a:t>
            </a:r>
            <a:endParaRPr kumimoji="1" lang="zh-CN" altLang="en-US" dirty="0"/>
          </a:p>
        </p:txBody>
      </p:sp>
      <p:sp>
        <p:nvSpPr>
          <p:cNvPr id="13" name="标题 1"/>
          <p:cNvSpPr txBox="1"/>
          <p:nvPr/>
        </p:nvSpPr>
        <p:spPr>
          <a:xfrm>
            <a:off x="6669846" y="2246009"/>
            <a:ext cx="3570888" cy="14674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𝑥 𝑛 = input signal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0898510" y="1721082"/>
            <a:ext cx="600054" cy="60005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048283" y="2642194"/>
            <a:ext cx="540000" cy="540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5197111" y="2786194"/>
            <a:ext cx="242345" cy="252000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048283" y="4865722"/>
            <a:ext cx="540000" cy="540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192283" y="5019164"/>
            <a:ext cx="252000" cy="233117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362079" y="2632315"/>
            <a:ext cx="540000" cy="540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0506080" y="2792004"/>
            <a:ext cx="252000" cy="220622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0362079" y="4856176"/>
            <a:ext cx="540000" cy="540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0521750" y="5000176"/>
            <a:ext cx="220658" cy="252000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ahLst/>
            <a:cxnLst/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731211" y="1827143"/>
            <a:ext cx="549872" cy="3879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10923601" y="1827143"/>
            <a:ext cx="549872" cy="3879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731211" y="4067287"/>
            <a:ext cx="549872" cy="3879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0923601" y="4067287"/>
            <a:ext cx="549872" cy="3879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标题 1"/>
              <p:cNvSpPr txBox="1"/>
              <p:nvPr/>
            </p:nvSpPr>
            <p:spPr>
              <a:xfrm>
                <a:off x="783520" y="467040"/>
                <a:ext cx="10671175" cy="46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0" tIns="0" rIns="0" bIns="0" rtlCol="0" anchor="ctr"/>
              <a:lstStyle/>
              <a:p>
                <a:pPr algn="l"/>
                <a:r>
                  <a:rPr kumimoji="1" lang="en-US" altLang="zh-CN" sz="2800" dirty="0">
                    <a:ln w="12700">
                      <a:noFill/>
                    </a:ln>
                    <a:solidFill>
                      <a:srgbClr val="262626">
                        <a:alpha val="100000"/>
                      </a:srgbClr>
                    </a:solidFill>
                    <a:latin typeface="poppins-bold"/>
                    <a:ea typeface="poppins-bold"/>
                    <a:cs typeface="poppins-bold"/>
                  </a:rPr>
                  <a:t>General Equation: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n w="12700">
                          <a:noFill/>
                        </a:ln>
                        <a:solidFill>
                          <a:srgbClr val="262626">
                            <a:alpha val="100000"/>
                          </a:srgb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800" i="0" dirty="0">
                        <a:ln w="12700">
                          <a:noFill/>
                        </a:ln>
                        <a:solidFill>
                          <a:srgbClr val="262626">
                            <a:alpha val="100000"/>
                          </a:srgb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sz="2800" i="0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GB" altLang="zh-CN" sz="2800" b="0" i="0" dirty="0" smtClean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kumimoji="1" lang="en-US" altLang="zh-CN" sz="2800" i="0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n w="12700">
                                  <a:noFill/>
                                </a:ln>
                                <a:solidFill>
                                  <a:srgbClr val="262626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n w="12700">
                                  <a:noFill/>
                                </a:ln>
                                <a:solidFill>
                                  <a:srgbClr val="262626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  <m:r>
                      <a:rPr kumimoji="1" lang="en-US" altLang="zh-CN" sz="2800" i="0" dirty="0">
                        <a:ln w="12700">
                          <a:noFill/>
                        </a:ln>
                        <a:solidFill>
                          <a:srgbClr val="262626">
                            <a:alpha val="100000"/>
                          </a:srgb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kumimoji="1" lang="en-US" altLang="zh-CN" sz="2800" i="1" dirty="0">
                        <a:ln w="12700">
                          <a:noFill/>
                        </a:ln>
                        <a:solidFill>
                          <a:srgbClr val="262626">
                            <a:alpha val="100000"/>
                          </a:srgb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2800" i="0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800" i="1" dirty="0">
                            <a:ln w="12700">
                              <a:noFill/>
                            </a:ln>
                            <a:solidFill>
                              <a:srgbClr val="262626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2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20" y="467040"/>
                <a:ext cx="10671175" cy="468000"/>
              </a:xfrm>
              <a:prstGeom prst="rect">
                <a:avLst/>
              </a:prstGeom>
              <a:blipFill>
                <a:blip r:embed="rId2"/>
                <a:stretch>
                  <a:fillRect l="-2057" t="-14474" b="-473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7417572" y="0"/>
            <a:ext cx="2592181" cy="545996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84032" y="3430599"/>
            <a:ext cx="4320000" cy="9870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92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Input split into blocks
Each block convolved using FFT
Results added with overlap
Efficient for long filters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84032" y="5262231"/>
            <a:ext cx="4320000" cy="8209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48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Input divided into overlapping blocks
FFT- based convolution, discarding invalid samples
Memory- efficient alternative to OLA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14988" y="2476500"/>
            <a:ext cx="4191000" cy="25908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205068" y="2858213"/>
            <a:ext cx="521226" cy="482169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205068" y="4615279"/>
            <a:ext cx="521226" cy="521226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84032" y="1738858"/>
            <a:ext cx="4320000" cy="9870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92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Multiply- accumulate (MAC) for each output sample
ComplexityO(N·M) (N = input length, M = filter length)
Simple but expensive for large filters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205068" y="1181181"/>
            <a:ext cx="435153" cy="458846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779650" y="1152289"/>
            <a:ext cx="4526591" cy="480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Direct Convolution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79650" y="2854089"/>
            <a:ext cx="4526591" cy="480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Overlap-Add (OLA)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779650" y="4644789"/>
            <a:ext cx="4526591" cy="480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Overlap-Save (OLS)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How to do Convolution??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F70D4F-A4E2-8EDB-A9CA-1ADBE6D49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578750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BC66752-7633-09DA-6BDC-AF9B10517B4F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FD03D9-32AF-CB0A-C7C8-339CCBB1C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69178"/>
              </p:ext>
            </p:extLst>
          </p:nvPr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DD8089-54E1-3D93-3785-16AE3A6CE68B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FB7EA2-E590-A304-5904-963B4F60A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34862"/>
              </p:ext>
            </p:extLst>
          </p:nvPr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29A86F-D7CB-0148-4538-CAC0DE41BF2E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4603EC5-0BF4-C79A-02C1-FD844624D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720822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B7B279-7B2E-8B6C-0C78-A02EE088B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707504"/>
              </p:ext>
            </p:extLst>
          </p:nvPr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98DE661-B9B7-1442-B3FB-ED7BE118E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369960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64EDFC7-85E7-DECC-FCFB-D69B3F783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946547"/>
              </p:ext>
            </p:extLst>
          </p:nvPr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F4CDA14-157F-9F5A-2DDA-EE0C2B5AEA51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93A1D7-629E-4241-CFC0-C99A92CF3544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44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A583-78E5-6F2A-23B5-05F6BF88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55FD4B-A508-D63F-672D-BE36240D1CE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AEA6ED-F465-EFFE-6285-0AFE63D56181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E86048-2565-E3BF-BEB1-8DBD95A0B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86178"/>
              </p:ext>
            </p:extLst>
          </p:nvPr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5C0476-2CB0-0FC7-B448-54E8922A5D59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F59F64-4ED1-055D-A12B-E5C21E20F8F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306AFC-C646-F005-2302-03A7F2FAC551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DA3E65-1BC9-FC36-8C26-ADD726B3A44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E3647EA-5FC4-59EA-6E38-8871BB6DC9D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36E548-230B-F767-2CC7-1FAF30044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88111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6D195AAF-415B-8733-7A22-1BF79295E2E2}"/>
              </a:ext>
            </a:extLst>
          </p:cNvPr>
          <p:cNvSpPr/>
          <p:nvPr/>
        </p:nvSpPr>
        <p:spPr>
          <a:xfrm>
            <a:off x="3881535" y="3872204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7CEBE71-7B1E-8970-86B6-EA7A9D928EDA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F08D475-FB2D-17FE-B2F5-21B6EF61D768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EA4774-4CFB-3BBA-6D84-2C9C95F59B51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341A0-B937-B79D-EACE-4B4E131963F8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Y[0] = 1*1 + 2*0 = 1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26E254-3501-A259-DDDA-6C3AF2615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520076"/>
              </p:ext>
            </p:extLst>
          </p:nvPr>
        </p:nvGraphicFramePr>
        <p:xfrm>
          <a:off x="2032000" y="4219926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91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03D6A-BA9F-718E-AD55-786B4867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F478A3-1644-68CD-B1F4-A4EA50C8EAE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F6B827-853D-5CA4-DA34-5375A71FA1EC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CE9166-FE28-F15A-8643-292FD03EBD5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F32800-B33A-F34C-F1B5-947DE09F3F88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65144C-7C11-7E5B-1879-B7AE442F13A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C2ADDC2-730B-5C5D-A059-C54F25034825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3329DDD-1880-74F8-7E19-F4D4F2EE384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FBA454-C71A-FC7C-C78E-99920E67B20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A06BCCC-E0CC-380C-5DCB-9E12642D9DB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FC6D592A-5A29-7C55-BA67-3AEB4BF7E571}"/>
              </a:ext>
            </a:extLst>
          </p:cNvPr>
          <p:cNvSpPr/>
          <p:nvPr/>
        </p:nvSpPr>
        <p:spPr>
          <a:xfrm>
            <a:off x="5393095" y="3815857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CC4D530-E4D8-18FE-7FC3-99C3B197C35A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9413674-439A-DA1F-E162-A9AC32D30C03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5BAD50-88CB-57B0-3C86-1BBE43D15A24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52A38-0503-70DA-648C-C05E0564C8B5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Y[1] = 1*2 + 2*1 = 4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D8F7B4-C74A-2176-3833-6CEF5D374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314678"/>
              </p:ext>
            </p:extLst>
          </p:nvPr>
        </p:nvGraphicFramePr>
        <p:xfrm>
          <a:off x="3636866" y="4160187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85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0D85-68F3-1E77-9BB0-DA843818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D2FC71-1A73-02BB-2D18-B69FD31E5FA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B24CA12-3073-0126-F67E-0B3C71135171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0CDE29-5897-FDFC-7643-0D7A01ECCB7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117496-3A1A-9539-AF31-97EA04749289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55C5D9-B1F3-C8C4-04C4-DD9AFC064D22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6914A1E-9509-F6BB-257D-9E80A977A97A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C5681BF-4644-287C-E8B5-3B8AD15F478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2DD586-0146-2BB4-DE00-D25AF5E0585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B02B779-FF70-6CF0-D0F9-D4BAB924137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4120DF7E-D234-C7B6-2BEB-6CDDA8059D82}"/>
              </a:ext>
            </a:extLst>
          </p:cNvPr>
          <p:cNvSpPr/>
          <p:nvPr/>
        </p:nvSpPr>
        <p:spPr>
          <a:xfrm>
            <a:off x="7025952" y="3815857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4FC0112-D456-BC6C-2531-95F456354DDD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715CDB0-2A93-1ED8-4AFE-DDE9056FBBE1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7841DD-3F8E-8906-FA47-C9338DB47FF5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C35F3-4392-2BF3-B507-BF32BB0456FA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Y[2] = 1*3 + 2*2 = 7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247479-31E1-B90E-A2FC-6FF8FD49D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76796"/>
              </p:ext>
            </p:extLst>
          </p:nvPr>
        </p:nvGraphicFramePr>
        <p:xfrm>
          <a:off x="5279054" y="4110941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540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977C-9834-D014-08C9-151DFF04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779A65-DF8E-5B1C-2FAC-7566A8B2F6C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C1898E-725E-CC18-265B-CADA37F87BE5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77D237-829E-A3DF-667B-A72AA61B026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FC03F1-631F-D604-6596-6C140E581FE0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13B22D1-43CF-7EFF-5201-713DE11D71A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B5B96D-A20E-B672-A326-95F5932CDC1A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929613-C434-FC31-5947-713B7A3C146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7275DC-EF2E-3908-5747-6BB10D8A85D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F25150E-0119-F60C-9ED2-78A45A379A8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724CC4C1-0624-5044-6CF0-294A59595C12}"/>
              </a:ext>
            </a:extLst>
          </p:cNvPr>
          <p:cNvSpPr/>
          <p:nvPr/>
        </p:nvSpPr>
        <p:spPr>
          <a:xfrm>
            <a:off x="8658809" y="3799840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359CE9C-B0E1-0AEE-49EA-02F11B13A01D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33C71CA-09B2-0147-84F0-31794EC742D2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A5A37-7055-8CEB-0162-5AD8EE5C812B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01561-E80E-3426-F857-0BD5DCA906EC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Y[3] = 1*4 + 2*3 = 10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D98664-F6F9-D97A-C5EB-23CFA95F6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82318"/>
              </p:ext>
            </p:extLst>
          </p:nvPr>
        </p:nvGraphicFramePr>
        <p:xfrm>
          <a:off x="6938865" y="4110941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804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C4AF0-C88B-A641-85EE-8007F54E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CDACE4-E12C-BA18-7594-FFA362373CE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920032C-27C9-2020-F54E-F0BB439D305A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5DB32C-A9B1-B775-2C80-D28381CCB392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920A90-5D56-E7AC-50E1-44F19B7073A2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B2A414-DCC2-2294-EED8-FA7ADB7D912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25795E8-212E-8D2C-09B1-71185F1C7019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DA5C6D0-67E0-752D-3B4B-ACB23E3578E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EAA371-8D54-A0E3-E5B7-017B6FCF97D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375F27C-C4E6-064B-4028-14A7390C7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33936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38642F4-3E3E-9C07-8D27-7564C76D6544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B054355-99E7-2B7A-4E25-3718D17D4877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D93334-894C-10AA-3B02-6D12ECCE18CA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732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BDE8-3F71-778E-D6DD-4602E2B4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A40B9B-33A1-D34D-48A1-AED0512691C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7CE05E-8DD3-7EAE-D429-53848F366AC0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2C6D45-6A9A-865A-3BA2-D25E031763A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67D0DD-44E0-F992-A423-65FEC89991F8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A65DEE9-AEE7-8F7D-58C4-FE26D43AA4B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C01240D-C9A4-9860-0AD3-7659772143F0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82074A-1EA0-7327-E6CD-C4E59567299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19A5942-0358-812C-AF9F-58CCB21AD12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4823233-DE9A-8D9F-B9BF-F675FE045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968789"/>
              </p:ext>
            </p:extLst>
          </p:nvPr>
        </p:nvGraphicFramePr>
        <p:xfrm>
          <a:off x="2032000" y="3418507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1538C72-1CF1-29AB-4DD6-C2285A7D1B7B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C1DD8F8-C3E1-8B2C-1ACF-E775A2E0205A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DA7F04-35D6-2CCA-F264-E01163078F17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2560F-FE04-FB9A-6A54-1679D477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F4267FC-7445-DC64-5A97-B4059E80FBE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F3DBE7-EF5F-92D3-0C87-F2AA34677EEC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8FA87D-3D97-7E0E-004C-27E375E24A2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D2C143-EBA6-6634-4532-CE3D4157E47C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9C5636D-D0B4-F342-3CC0-6DB4FE9AF1E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F98904A-8054-6AAE-101E-E530B9934011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6CA3010-A783-ABCF-F877-C1962E64D4C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9481603-9B2B-357F-8885-8B544CCBC78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110B853-E14E-701E-D144-5AD88EBD4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712873"/>
              </p:ext>
            </p:extLst>
          </p:nvPr>
        </p:nvGraphicFramePr>
        <p:xfrm>
          <a:off x="2032000" y="3418507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1EBBA47-E793-75F9-705C-277C76780AC2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DFD3F13-163C-DFB9-331F-7BE77B0D3407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DEEDD4-CA1D-20F4-DF09-ED364CFDCCFE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11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2C04-AED0-6F4A-ECC9-43CB7C7A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A6E832-4F6E-2DB0-41AB-A58B4D96A4F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3545F09-6414-6F2C-1F23-657A8F314F02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516F22-8666-64E7-6CC9-97CEAE3FEB6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7EB9F1-0FCF-FCFD-E430-78450EC2B68B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E0E9CC-3A39-F0D9-3917-C61ADE12BFC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4377C5-25CA-4F6F-A53A-3BDB183701E8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C83805-4C2C-819E-CFE2-1F405744C65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A76B54-436E-2063-76FE-0F56DF2CBDC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D2513CB-FC2C-59EC-0E21-75FA4776D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792668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8049CE5B-0952-4FDB-AA14-E59C4C78BCC5}"/>
              </a:ext>
            </a:extLst>
          </p:cNvPr>
          <p:cNvSpPr/>
          <p:nvPr/>
        </p:nvSpPr>
        <p:spPr>
          <a:xfrm>
            <a:off x="3881535" y="3872204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9293B5B-F50B-6A0D-9409-B5E45E3E0A3F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4409CD8-AF33-E902-61CC-B9553F94BE88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71A32-9AFC-6B4A-0C31-AEE7AFA06920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AFA8D-4C20-13B6-EBA7-D8AD63ABD600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Y[4] = 1*5 + 2*4 = 13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17BF25-0A23-2D3D-94AE-725AB373C46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219926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151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7B1B7-42A1-AB60-7478-27452EE9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9D9FBD-404F-5838-0DE8-DC7745F859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F45E6BE-EBCC-155D-591E-F698689E57A7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E9B167-0525-D9E7-357C-2DB474790872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F62D87-4F11-6364-FE67-5475552A67ED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D2570C-8903-2009-27C2-888AE21A75E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FEC6060-8D01-982A-B826-213F7BD6D414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84A4154-E128-7093-D4B0-6BA667E61A2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62C3255-E5E4-2B24-407E-548E142784E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B6C6A43-AAF6-3397-55F0-95972CF5A95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D956BB43-0DAA-1470-713C-17471B50E11B}"/>
              </a:ext>
            </a:extLst>
          </p:cNvPr>
          <p:cNvSpPr/>
          <p:nvPr/>
        </p:nvSpPr>
        <p:spPr>
          <a:xfrm>
            <a:off x="5411755" y="3838472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EABF5B7-814A-7294-BDA7-A0BC3C9CD354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D696C28-DDD8-B32F-34FC-A8DC72E097FC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DC6EB-F5C0-A52B-36C8-C0567F6C2B30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974A7-B1B4-3835-7CDD-F342C5E9D7A6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Y[5] = 1*6 + 2*5 = 16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D082AE-148B-637A-10CC-DEA3D0963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371424"/>
              </p:ext>
            </p:extLst>
          </p:nvPr>
        </p:nvGraphicFramePr>
        <p:xfrm>
          <a:off x="3646196" y="4187150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419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4096-83F4-67A7-D8AE-ED27DEB9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FFC712-8ABD-E609-578F-30B35DFF16F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0C872C8-0746-2B7B-752A-8967773CF0DD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AEDCFA-4E54-E131-3EDF-95D50978D86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93787B-9808-F3A5-F67B-6C793E7D1447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46876E-B830-7986-EE16-DC966C49691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72A0A98-668F-A0CE-783A-4D47530DD772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B146DE3-BA25-5AC7-7FC0-E298D1BDDD3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00C615A-781C-541B-BEDA-CAB7D75B59D1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D0EAE80-125A-7EBB-1FE2-2FDD8287E8E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18BB6522-2B15-8786-41C4-E139BA6E67FA}"/>
              </a:ext>
            </a:extLst>
          </p:cNvPr>
          <p:cNvSpPr/>
          <p:nvPr/>
        </p:nvSpPr>
        <p:spPr>
          <a:xfrm>
            <a:off x="7063273" y="3838472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E5F2566-66E7-B7DD-6137-D9C4C8D92024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A07F1B7-54D7-CD5A-B5E9-83388D2E8EB9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FB542F-DD09-C74A-6B9D-B5F4CFA5D354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EACC7E-8242-A6E4-9CC3-0B508C940890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Y[6] = 1*7 + 2*6 = 19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3BF392-DEEA-2A53-4238-247F22963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65512"/>
              </p:ext>
            </p:extLst>
          </p:nvPr>
        </p:nvGraphicFramePr>
        <p:xfrm>
          <a:off x="5279053" y="4110941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22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E65E7-1A0F-E945-DADC-14083689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3DFF42-2DF6-A8CF-B85C-B455BB06752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43B223-3EE9-EB8C-683A-AEC3F86F613F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DB354B-739E-50B1-8BBE-FEA31F0733F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2132FA-BAC9-6C76-A5F4-A7FEDB55A240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9AEE876-21E8-9F29-9C49-8D0A6D7A8DC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DD4D0F9-E63E-B8DB-0E4A-82E078D2E97C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964549C-AB8F-9126-D67D-4A8C4C6CAC2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76D7634-B5DE-0CB1-C427-77CFBDBB144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9E69257-473A-D77D-8E01-DCE7D7A5E96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E67FB269-ABBC-524C-97DA-3D2597F788F5}"/>
              </a:ext>
            </a:extLst>
          </p:cNvPr>
          <p:cNvSpPr/>
          <p:nvPr/>
        </p:nvSpPr>
        <p:spPr>
          <a:xfrm>
            <a:off x="8640147" y="3815857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7641463-AA35-11A7-E53B-BE6C60A46F2B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405DB6F-0158-C95D-4760-C12AD4A171C5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1C1CBF-2D4A-EBD3-92D5-1CCABE5EF524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EC503C-F59F-7A25-1EED-5F6A74E8277D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Y[7] = 1*8 + 2*7 = 22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C53CEC-1675-45C2-5A33-9B7B959A9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58014"/>
              </p:ext>
            </p:extLst>
          </p:nvPr>
        </p:nvGraphicFramePr>
        <p:xfrm>
          <a:off x="6864220" y="4056945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847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54EE-90A1-992F-17D6-A28E731C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13DB6F-EBE2-7143-7153-33DAFC87BA7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537C4A2-E464-C26F-413B-7EBD1BFADBAB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D7A00-ABDA-C3E4-E659-FF44247C0CC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6C9C30-53D5-855B-31E7-DF9BB769059E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D5AC65-4FA5-FC1A-845D-88B03268621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7B92D3-9588-C5DA-4357-33ADBFBFE26D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23C60F-FF15-1556-3B43-B7D664AAD43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112CF6D-B3C4-99E9-F9FA-B3CBA60F40D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0B27C8-8C86-3BD9-7DE7-61E948F97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555337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0F23460-D842-D898-6C0C-4DBA95B8E375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E23AC7D-8780-9D6C-A8C4-9ABC96B412CF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7FB2BA-C7DB-79E6-3AAD-37634B3FCAD1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71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8E11A-5987-6365-B068-06CFF9AF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A8AB1E-8337-81BC-B680-87009254EA0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C46E07-5A69-634D-F667-A827D8309FCE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22DAB1-612F-E7A9-733D-D20A02B1034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873CF0-D70F-1128-3975-2A1E6FB2F106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6A4FBB-857D-596F-556F-D3B7AB39B26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00C2D29-D5F3-DE20-4185-125854ACE768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548CE2-F7D5-AE67-3159-051E671812E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4463243-B6F0-D77B-6497-7982AEEE8C2F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AC86B2-70D0-C2DE-5078-0B4B411A8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975108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DA79654-50A8-0695-DF26-0EDB22C6A99C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36CE31E-5E72-C1F3-3A7F-DA5024F0B544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649ACB-0572-2EA3-1457-BA69ED2C532C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62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557CA-BDCD-97FC-C38D-16FDC6703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BB8D1F-D729-5034-2E47-FB9E4996317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9B3DE18-41C4-4195-2A30-2D836E2756D4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1FC574-959D-089C-C345-FA362E36FDA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3B990EA-76FC-FE8F-F352-7261D4A59306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57F9D0-0707-AE3A-2F8A-7E88284B21C1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2906476-4D53-C7C5-D460-8F5FAC0861D1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FC34EA3-1902-290D-CECE-F14C582C687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7322BC-A03A-84C1-224B-F9BE1A0BA4E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F446381-4648-4532-27F4-E340697CB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49524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2A094B2-9D71-C824-6A21-F9D05F37826A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060BFB3-E6A6-5050-2AAF-E3641B1267EA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009A4-C435-8E94-8D6F-84A46C8E4048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471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F478-BFD6-340F-E0B0-DA39F6E5E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DE086C-0A7F-DF22-2EFA-632AF03DEFA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46C4665-7049-8FDA-22FF-24B03A6DD771}"/>
              </a:ext>
            </a:extLst>
          </p:cNvPr>
          <p:cNvSpPr txBox="1"/>
          <p:nvPr/>
        </p:nvSpPr>
        <p:spPr>
          <a:xfrm>
            <a:off x="1950098" y="350334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 Coefficients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B66FD4-3036-BF32-69A0-F55E59D9FD2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34539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53EA3D-E67C-7D7B-4625-5223C1FB3A97}"/>
              </a:ext>
            </a:extLst>
          </p:cNvPr>
          <p:cNvSpPr txBox="1"/>
          <p:nvPr/>
        </p:nvSpPr>
        <p:spPr>
          <a:xfrm>
            <a:off x="1950098" y="1165207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1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9912F4-7981-33C3-0425-EF16A9999BA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12393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25824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527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82964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256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7862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E12EC7-413D-775D-130B-A9B2A594C137}"/>
              </a:ext>
            </a:extLst>
          </p:cNvPr>
          <p:cNvSpPr txBox="1"/>
          <p:nvPr/>
        </p:nvSpPr>
        <p:spPr>
          <a:xfrm>
            <a:off x="1950098" y="214155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Frame 2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4FC54B3-C2A0-968B-72C7-8C2B2B3BFD4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755500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49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21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492756C-3AED-3861-8CDF-CD670A0DD891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793907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526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8F66DA1-CAF6-1DFB-7C71-6F44F96A5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848044"/>
              </p:ext>
            </p:extLst>
          </p:nvPr>
        </p:nvGraphicFramePr>
        <p:xfrm>
          <a:off x="2032000" y="3429000"/>
          <a:ext cx="812800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14207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062283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185555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798841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8507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4640"/>
                  </a:ext>
                </a:extLst>
              </a:tr>
            </a:tbl>
          </a:graphicData>
        </a:graphic>
      </p:graphicFrame>
      <p:sp>
        <p:nvSpPr>
          <p:cNvPr id="15" name="Arrow: Up 14">
            <a:extLst>
              <a:ext uri="{FF2B5EF4-FFF2-40B4-BE49-F238E27FC236}">
                <a16:creationId xmlns:a16="http://schemas.microsoft.com/office/drawing/2014/main" id="{6338E849-0B0C-7E78-51B2-A70DE5BF7203}"/>
              </a:ext>
            </a:extLst>
          </p:cNvPr>
          <p:cNvSpPr/>
          <p:nvPr/>
        </p:nvSpPr>
        <p:spPr>
          <a:xfrm>
            <a:off x="3881535" y="3872204"/>
            <a:ext cx="214604" cy="24259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2E53DCE-9C13-43BB-5E50-D8586CB2E248}"/>
              </a:ext>
            </a:extLst>
          </p:cNvPr>
          <p:cNvGraphicFramePr>
            <a:graphicFrameLocks noGrp="1"/>
          </p:cNvGraphicFramePr>
          <p:nvPr/>
        </p:nvGraphicFramePr>
        <p:xfrm>
          <a:off x="1950098" y="5952914"/>
          <a:ext cx="8127999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1999723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8992991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762018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2931017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1910090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75763959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8561497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5300506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492442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97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6FE1D45-9687-DCD6-2A03-81CB3031C2ED}"/>
              </a:ext>
            </a:extLst>
          </p:cNvPr>
          <p:cNvSpPr txBox="1"/>
          <p:nvPr/>
        </p:nvSpPr>
        <p:spPr>
          <a:xfrm>
            <a:off x="1950098" y="3117899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Delay Line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E3C210-57E0-36C9-F94C-06D4A460BFE7}"/>
              </a:ext>
            </a:extLst>
          </p:cNvPr>
          <p:cNvSpPr txBox="1"/>
          <p:nvPr/>
        </p:nvSpPr>
        <p:spPr>
          <a:xfrm>
            <a:off x="1847461" y="5583582"/>
            <a:ext cx="101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D6113-3649-0531-C804-433A52FF23CA}"/>
              </a:ext>
            </a:extLst>
          </p:cNvPr>
          <p:cNvSpPr txBox="1"/>
          <p:nvPr/>
        </p:nvSpPr>
        <p:spPr>
          <a:xfrm>
            <a:off x="2032000" y="497807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Y[8] = 1*0 + 2*8 = 16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E22C42-F003-5790-5177-0375B804484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219926"/>
          <a:ext cx="3295780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34407581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304182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0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359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7708A6C8-EF7B-C272-0FE3-DB6292C915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84" y="608983"/>
                <a:ext cx="11430000" cy="63709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Impulse response: h[n], length = M + 1.</a:t>
                </a:r>
              </a:p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Input sequence: x[n], length = N</a:t>
                </a:r>
                <a:r>
                  <a:rPr kumimoji="0" lang="en-US" altLang="en-US" sz="2600" b="0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kumimoji="0" lang="en-US" altLang="en-US" sz="2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Choose FFT size N ≥ L + M where:</a:t>
                </a:r>
              </a:p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 = block length of input,</a:t>
                </a:r>
              </a:p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Each input block has length L,</a:t>
                </a:r>
              </a:p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Output per block has length L + M.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sv-SE" alt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Block 1: x[0] ... x[L - 1]</a:t>
                </a: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sv-SE" alt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Block 2: x[L] ... x[2L - 1]</a:t>
                </a: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sv-SE" alt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Block 3: x[2L] ...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endParaRPr kumimoji="0" lang="sv-SE" altLang="en-US" sz="2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GB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Zero-pad each block to length </a:t>
                </a:r>
                <a14:m>
                  <m:oMath xmlns:m="http://schemas.openxmlformats.org/officeDocument/2006/math">
                    <m:r>
                      <a:rPr lang="en-GB" sz="2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Zero-pad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to length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GB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FFT of both, multiply in frequency domain,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IFFT → gives circular convolution.</a:t>
                </a:r>
                <a:endParaRPr kumimoji="0" lang="en-US" altLang="en-US" sz="2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7708A6C8-EF7B-C272-0FE3-DB6292C91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084" y="608983"/>
                <a:ext cx="11430000" cy="6370975"/>
              </a:xfrm>
              <a:prstGeom prst="rect">
                <a:avLst/>
              </a:prstGeom>
              <a:blipFill>
                <a:blip r:embed="rId2"/>
                <a:stretch>
                  <a:fillRect l="-800" t="-38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49487EA-D233-A6D7-58CE-B012E67533BB}"/>
              </a:ext>
            </a:extLst>
          </p:cNvPr>
          <p:cNvSpPr txBox="1"/>
          <p:nvPr/>
        </p:nvSpPr>
        <p:spPr>
          <a:xfrm>
            <a:off x="3424518" y="0"/>
            <a:ext cx="4425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Overlap and Add Method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552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29CE3A-2357-A236-195E-6C30691E8EA2}"/>
                  </a:ext>
                </a:extLst>
              </p:cNvPr>
              <p:cNvSpPr txBox="1"/>
              <p:nvPr/>
            </p:nvSpPr>
            <p:spPr>
              <a:xfrm>
                <a:off x="374905" y="569797"/>
                <a:ext cx="11091671" cy="6427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Handle overlap (why it’s called Overlap-Add):</a:t>
                </a:r>
                <a:endParaRPr lang="en-GB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Each block convolution produces </a:t>
                </a:r>
                <a14:m>
                  <m:oMath xmlns:m="http://schemas.openxmlformats.org/officeDocument/2006/math">
                    <m:r>
                      <a:rPr lang="en-GB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GB" sz="3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samples.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placing results together, </a:t>
                </a:r>
                <a:r>
                  <a:rPr lang="en-GB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last </a:t>
                </a:r>
                <a14:m>
                  <m:oMath xmlns:m="http://schemas.openxmlformats.org/officeDocument/2006/math">
                    <m:r>
                      <a:rPr lang="en-GB" sz="3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𝑴</m:t>
                    </m:r>
                  </m:oMath>
                </a14:m>
                <a:r>
                  <a:rPr lang="en-GB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samples </a:t>
                </a:r>
              </a:p>
              <a:p>
                <a:r>
                  <a:rPr lang="en-GB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of one block overlap with the first </a:t>
                </a:r>
                <a14:m>
                  <m:oMath xmlns:m="http://schemas.openxmlformats.org/officeDocument/2006/math">
                    <m:r>
                      <a:rPr lang="en-GB" sz="3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𝑴</m:t>
                    </m:r>
                    <m:r>
                      <a:rPr lang="en-GB" sz="3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samples of the </a:t>
                </a:r>
              </a:p>
              <a:p>
                <a:r>
                  <a:rPr lang="en-GB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next block’s result</a:t>
                </a:r>
                <a:r>
                  <a:rPr lang="en-GB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So, we </a:t>
                </a:r>
                <a:r>
                  <a:rPr lang="en-GB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add them together</a:t>
                </a:r>
                <a:r>
                  <a:rPr lang="en-GB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3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Concatenate + Add overlaps: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Place outputs one after another, and wherever they overlap, </a:t>
                </a:r>
              </a:p>
              <a:p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 add the samples.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final result = linear convolution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ar-AE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 sz="3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30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ar-AE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 sz="3000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 sz="30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ar-AE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29CE3A-2357-A236-195E-6C30691E8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5" y="569797"/>
                <a:ext cx="11091671" cy="6427337"/>
              </a:xfrm>
              <a:prstGeom prst="rect">
                <a:avLst/>
              </a:prstGeom>
              <a:blipFill>
                <a:blip r:embed="rId2"/>
                <a:stretch>
                  <a:fillRect l="-1319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09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F353A-0DDE-F508-A61B-E78E44B46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35" y="980733"/>
            <a:ext cx="10793505" cy="532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16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F3D23D-F019-FEB6-5743-D568E7F68F6A}"/>
                  </a:ext>
                </a:extLst>
              </p:cNvPr>
              <p:cNvSpPr txBox="1"/>
              <p:nvPr/>
            </p:nvSpPr>
            <p:spPr>
              <a:xfrm>
                <a:off x="1299881" y="1057835"/>
                <a:ext cx="8347971" cy="543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600" dirty="0"/>
                  <a:t>Y[n]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pt-BR" sz="26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6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pt-BR" sz="2600" i="0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sz="26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2600" i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BR" sz="2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d>
                      <m:dPr>
                        <m:ctrlPr>
                          <a:rPr lang="pt-BR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pt-BR" sz="2600" i="0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pt-BR" sz="2600" i="1" dirty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pt-BR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pt-BR" sz="2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6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600" i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6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func>
                          <m:funcPr>
                            <m:ctrlPr>
                              <a:rPr lang="pt-BR" sz="26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2600" i="0" dirty="0">
                                <a:latin typeface="Cambria Math" panose="02040503050406030204" pitchFamily="18" charset="0"/>
                              </a:rPr>
                              <m:t>mod</m:t>
                            </m:r>
                          </m:fName>
                          <m:e>
                            <m:r>
                              <a:rPr lang="pt-BR" sz="26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600" dirty="0"/>
                  <a:t>  n=0,1,…,(N-1)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F3D23D-F019-FEB6-5743-D568E7F68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881" y="1057835"/>
                <a:ext cx="8347971" cy="543995"/>
              </a:xfrm>
              <a:prstGeom prst="rect">
                <a:avLst/>
              </a:prstGeom>
              <a:blipFill>
                <a:blip r:embed="rId2"/>
                <a:stretch>
                  <a:fillRect l="-1314" t="-4494" b="-24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5CBF7CF-482B-A8AF-4C27-5FA8370AF0B6}"/>
              </a:ext>
            </a:extLst>
          </p:cNvPr>
          <p:cNvSpPr txBox="1"/>
          <p:nvPr/>
        </p:nvSpPr>
        <p:spPr>
          <a:xfrm>
            <a:off x="1299882" y="2250141"/>
            <a:ext cx="10825399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Key Points: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Signals are assumed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periodic with period N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Output length is always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Extra terms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wrap around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and add at the beginning of the output.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84DC6-4B78-505E-9FB5-6901A66F406F}"/>
              </a:ext>
            </a:extLst>
          </p:cNvPr>
          <p:cNvSpPr txBox="1"/>
          <p:nvPr/>
        </p:nvSpPr>
        <p:spPr>
          <a:xfrm>
            <a:off x="600636" y="148904"/>
            <a:ext cx="11524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Circular Convolution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32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CE239F0-CF86-1687-5F77-92CFA0CEB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998" y="610136"/>
            <a:ext cx="10999696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 block: x = [1,2,3,4] , length N = 4.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Filter: h = [1,1,1] , length M = 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​ = [1,3,6,9,7,4]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Y[0] = x[0]*h[(0-0) mod N] + x[1]*h[[(0-1) mod N]+ x[2]*h[(0-2) mod N] + x[3]*h[[(0-3) mod N]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= 1*1+2*0+3*1+4*1 = 8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Y[1] = x[0]*h[(1-0) mod N] + x[1]*h[[(1-1) mod N]+ x[2]*h[(1-2) mod N] + x[3]*h[[(1-3) mod N]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= 1*1+2*1+3*0+4*1 = 7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Y[2] = x[0]*h[(2-0) mod N] + x[1]*h[[(2-1) mod N]+ x[2]*h[(2-2) mod N] + x[3]*h[[(2-3) mod N]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= 1*1+2*1+3*1+4*0 = 6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Y[3] = x[0]*h[(3-0) mod N] + x[1]*h[[(3-1) mod N]+ x[2]*h[(3-2) mod N] + x[3]*h[[(3-3) mod N]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= 1*0+2*1+3*1+4*1 = 9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85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F779-5288-8EE2-3842-208BEB77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7057F7C5-ADBC-52A5-4BF8-B6326CDE9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7857" y="-15300"/>
                <a:ext cx="8426826" cy="66465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Input block: x = [1,2,3,4] , length N = 4.</a:t>
                </a:r>
              </a:p>
              <a:p>
                <a:pPr marR="0" lvl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Filter: h = [1,1,1] , length M = 3</a:t>
                </a:r>
              </a:p>
              <a:p>
                <a:pPr marR="0" lvl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 = [1,3,6,9,7,4]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circular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​[k] = 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​[k] + 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​[k + N], (k=0,1,2,3)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explicitly:</a:t>
                </a:r>
              </a:p>
              <a:p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circular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y</m:t>
                    </m:r>
                    <m:r>
                      <m:rPr>
                        <m:nor/>
                      </m:rPr>
                      <a:rPr lang="en-US" sz="20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linear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y</m:t>
                    </m:r>
                    <m:r>
                      <m:rPr>
                        <m:nor/>
                      </m:rPr>
                      <a:rPr lang="en-US" sz="20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linear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GB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ar-A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circular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y</m:t>
                    </m:r>
                    <m:r>
                      <m:rPr>
                        <m:nor/>
                      </m:rPr>
                      <a:rPr lang="en-US" sz="20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linear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y</m:t>
                    </m:r>
                    <m:r>
                      <m:rPr>
                        <m:nor/>
                      </m:rPr>
                      <a:rPr lang="en-US" sz="20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linear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 sz="2000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GB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sz="20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circular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y</m:t>
                    </m:r>
                    <m:r>
                      <m:rPr>
                        <m:nor/>
                      </m:rPr>
                      <a:rPr lang="en-US" sz="20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linear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𝑖𝑛𝑔</m:t>
                        </m:r>
                      </m:e>
                    </m:d>
                  </m:oMath>
                </a14:m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 sz="200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sz="20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circular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y</m:t>
                    </m:r>
                    <m:r>
                      <m:rPr>
                        <m:nor/>
                      </m:rPr>
                      <a:rPr lang="en-US" sz="20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linear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𝑖𝑛𝑔</m:t>
                        </m:r>
                      </m:e>
                    </m:d>
                  </m:oMath>
                </a14:m>
                <a:r>
                  <a:rPr lang="en-GB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ar-AE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 sz="200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ar-AE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So, the circular convolution output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sz="20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circular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ar-AE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7057F7C5-ADBC-52A5-4BF8-B6326CDE9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7857" y="-15300"/>
                <a:ext cx="8426826" cy="6646563"/>
              </a:xfrm>
              <a:prstGeom prst="rect">
                <a:avLst/>
              </a:prstGeom>
              <a:blipFill>
                <a:blip r:embed="rId2"/>
                <a:stretch>
                  <a:fillRect l="-7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469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09534E62-D7E1-7690-2230-EA7EDF7AF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696" y="856357"/>
            <a:ext cx="929329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Let input sequence = x[n], n = 0,1,…,Nx−1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 impulse response = h[n], length M+1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Choose FFT size N such that N ≥ (M+1)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processed block will output N−M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en-US" sz="3200" dirty="0">
                <a:latin typeface="Arial" panose="020B0604020202020204" pitchFamily="34" charset="0"/>
              </a:rPr>
              <a:t> Segment 1: x[0] ... x[N-1]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en-US" sz="3200" dirty="0">
                <a:latin typeface="Arial" panose="020B0604020202020204" pitchFamily="34" charset="0"/>
              </a:rPr>
              <a:t> Segment 2: x[N-M] ... x[2N-M-1]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en-US" sz="3200" dirty="0">
                <a:latin typeface="Arial" panose="020B0604020202020204" pitchFamily="34" charset="0"/>
              </a:rPr>
              <a:t> Segment 3: x[2N-2(M)] ...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F8702-BA04-C0DF-637B-77CA952EF87E}"/>
              </a:ext>
            </a:extLst>
          </p:cNvPr>
          <p:cNvSpPr txBox="1"/>
          <p:nvPr/>
        </p:nvSpPr>
        <p:spPr>
          <a:xfrm>
            <a:off x="2768723" y="331694"/>
            <a:ext cx="5827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Overlap and Save Method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324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1FB65-0D8D-6530-3807-B7D6AD80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82" y="392156"/>
            <a:ext cx="10963836" cy="589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21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834302-88B5-2F1B-76E0-77A9B8393F90}"/>
                  </a:ext>
                </a:extLst>
              </p:cNvPr>
              <p:cNvSpPr txBox="1"/>
              <p:nvPr/>
            </p:nvSpPr>
            <p:spPr>
              <a:xfrm>
                <a:off x="167951" y="167951"/>
                <a:ext cx="12024049" cy="6771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Compute FFT of each segment (length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Compute FFT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zero-padded to length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Multiply in frequency domain.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Perform IFFT to get time-domain result.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Each block produces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samples, but the </a:t>
                </a:r>
                <a:r>
                  <a:rPr lang="en-GB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first </a:t>
                </a:r>
                <a14:m>
                  <m:oMath xmlns:m="http://schemas.openxmlformats.org/officeDocument/2006/math">
                    <m:r>
                      <a:rPr lang="en-GB" sz="3200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GB" sz="32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samples are invalid</a:t>
                </a:r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(they contain circular convolution wrap around).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Discard those.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remaining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samples are the valid part of the linear convolution.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GB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Concatenate the valid samples from each block to reconstruct the full output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ar-AE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1834302-88B5-2F1B-76E0-77A9B8393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51" y="167951"/>
                <a:ext cx="12024049" cy="6771084"/>
              </a:xfrm>
              <a:prstGeom prst="rect">
                <a:avLst/>
              </a:prstGeom>
              <a:blipFill>
                <a:blip r:embed="rId2"/>
                <a:stretch>
                  <a:fillRect l="-1318" t="-1171" r="-1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086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826935" y="1090955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094489" y="1681815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5549650" y="1090955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817204" y="1681815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272366" y="1090955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9539920" y="1681815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36935" y="1924772"/>
            <a:ext cx="3060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Specification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36935" y="2388747"/>
            <a:ext cx="3060000" cy="1130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Define filter type (Low- pass, High- pass, Band- pass, Band- stop)</a:t>
            </a:r>
            <a:endParaRPr kumimoji="1" lang="zh-CN" altLang="en-US" dirty="0"/>
          </a:p>
        </p:txBody>
      </p:sp>
      <p:sp>
        <p:nvSpPr>
          <p:cNvPr id="11" name="标题 1"/>
          <p:cNvSpPr txBox="1"/>
          <p:nvPr/>
        </p:nvSpPr>
        <p:spPr>
          <a:xfrm>
            <a:off x="2698292" y="4539986"/>
            <a:ext cx="3060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Implementation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698292" y="5003962"/>
            <a:ext cx="3060000" cy="1130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Use convolution in C/Python (float or fixed- point)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559650" y="1924772"/>
            <a:ext cx="3060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Select Parameters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559650" y="2388747"/>
            <a:ext cx="3060000" cy="1130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Pass band frequency
Stop band frequency
Pass band ripple
Stop band attenuation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421007" y="4539986"/>
            <a:ext cx="3060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Verification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421007" y="5003962"/>
            <a:ext cx="3060000" cy="1130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Compare float vs fixed output (RMSE, PESQ for speech signals)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282366" y="1924772"/>
            <a:ext cx="30600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Compute Coefficients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282366" y="2388747"/>
            <a:ext cx="3060000" cy="1130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Using mathematical formulas (sinc + window) or tools (MATLAB/Python remez)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688293" y="3735384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3955847" y="4326245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7411007" y="3735384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05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7678562" y="4326245"/>
            <a:ext cx="544893" cy="9368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40000"/>
                  <a:lumOff val="60000"/>
                  <a:alpha val="100000"/>
                </a:schemeClr>
              </a:gs>
            </a:gsLst>
            <a:lin ang="0" scaled="0"/>
          </a:gradFill>
          <a:ln w="6350" cap="sq">
            <a:solidFill>
              <a:schemeClr val="bg1"/>
            </a:solidFill>
            <a:miter/>
          </a:ln>
          <a:effectLst>
            <a:outerShdw blurRad="76200" sx="102000" sy="102000" algn="ctr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Design Steps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 dirty="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Floating-Point Representation (Refresher)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951424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67774" y="1540102"/>
            <a:ext cx="648001" cy="648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7774" y="3112534"/>
            <a:ext cx="648001" cy="648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7774" y="4684966"/>
            <a:ext cx="648001" cy="648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520840" y="1540102"/>
            <a:ext cx="648001" cy="64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520840" y="3112534"/>
            <a:ext cx="648001" cy="648000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489833" y="1540102"/>
            <a:ext cx="4176000" cy="1282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Sign bit (1)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342900" y="1540102"/>
            <a:ext cx="4176000" cy="1282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Advantages wide dynamic range, easy for algorithm development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1489833" y="3112536"/>
            <a:ext cx="4176000" cy="1282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Exponent (8)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342900" y="3112536"/>
            <a:ext cx="4176000" cy="1282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Limitation not always efficient for embedded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1489833" y="4684968"/>
            <a:ext cx="4176000" cy="12829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Mantissa (23)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21930" y="1673489"/>
            <a:ext cx="539690" cy="381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21930" y="3245920"/>
            <a:ext cx="539690" cy="381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21930" y="4818352"/>
            <a:ext cx="539690" cy="381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574996" y="1673489"/>
            <a:ext cx="539690" cy="381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574996" y="3245920"/>
            <a:ext cx="539690" cy="3812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05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IEEE 754 format (32-bit float)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595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 dirty="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Motivation for Fixed Point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-843651" y="1530756"/>
            <a:ext cx="1025180" cy="228197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762000" dist="2540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91440" tIns="45720" rIns="360000" bIns="45720" rtlCol="0" anchor="ctr"/>
          <a:lstStyle/>
          <a:p>
            <a:pPr algn="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07866" y="2237395"/>
            <a:ext cx="740834" cy="740834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07866" y="3184332"/>
            <a:ext cx="2340000" cy="21159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Lower power, smaller memory footprint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537646" y="2281386"/>
            <a:ext cx="732762" cy="690645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537645" y="3184331"/>
            <a:ext cx="2340000" cy="21159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Hardware limitations (many DSPs lack floating- point units)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862226" y="2281490"/>
            <a:ext cx="721829" cy="654421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tx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878868" y="3184331"/>
            <a:ext cx="2340000" cy="21159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Faster execution on embedded DSP/MCU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92006" y="3184331"/>
            <a:ext cx="2340000" cy="211596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Typical applicationsSpeech/audio codecs, filters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192007" y="2241781"/>
            <a:ext cx="667538" cy="694130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/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Why fixed-point?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257562" y="2288701"/>
            <a:ext cx="415890" cy="384728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Quantizer Types: Mid-Rise and Mid-Tread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040D38-E41A-4BE8-9CC8-D7449D900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80" y="1243548"/>
            <a:ext cx="10671175" cy="535783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Fixed-Point Representation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980699" y="4458777"/>
            <a:ext cx="66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528510" y="2908916"/>
            <a:ext cx="66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092055" y="1365623"/>
            <a:ext cx="6660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5400000">
            <a:off x="763657" y="1262366"/>
            <a:ext cx="1440000" cy="1646514"/>
          </a:xfrm>
          <a:custGeom>
            <a:avLst/>
            <a:gdLst>
              <a:gd name="connsiteX0" fmla="*/ 0 w 1368000"/>
              <a:gd name="connsiteY0" fmla="*/ 1564188 h 1564188"/>
              <a:gd name="connsiteX1" fmla="*/ 0 w 1368000"/>
              <a:gd name="connsiteY1" fmla="*/ 196188 h 1564188"/>
              <a:gd name="connsiteX2" fmla="*/ 529178 w 1368000"/>
              <a:gd name="connsiteY2" fmla="*/ 196188 h 1564188"/>
              <a:gd name="connsiteX3" fmla="*/ 684001 w 1368000"/>
              <a:gd name="connsiteY3" fmla="*/ 0 h 1564188"/>
              <a:gd name="connsiteX4" fmla="*/ 838824 w 1368000"/>
              <a:gd name="connsiteY4" fmla="*/ 196188 h 1564188"/>
              <a:gd name="connsiteX5" fmla="*/ 1368000 w 1368000"/>
              <a:gd name="connsiteY5" fmla="*/ 196188 h 1564188"/>
              <a:gd name="connsiteX6" fmla="*/ 1368000 w 1368000"/>
              <a:gd name="connsiteY6" fmla="*/ 1564188 h 1564188"/>
            </a:gdLst>
            <a:ahLst/>
            <a:cxnLst/>
            <a:rect l="l" t="t" r="r" b="b"/>
            <a:pathLst>
              <a:path w="1368000" h="1564188">
                <a:moveTo>
                  <a:pt x="0" y="1564188"/>
                </a:moveTo>
                <a:lnTo>
                  <a:pt x="0" y="196188"/>
                </a:lnTo>
                <a:lnTo>
                  <a:pt x="529178" y="196188"/>
                </a:lnTo>
                <a:lnTo>
                  <a:pt x="684001" y="0"/>
                </a:lnTo>
                <a:lnTo>
                  <a:pt x="838824" y="196188"/>
                </a:lnTo>
                <a:lnTo>
                  <a:pt x="1368000" y="196188"/>
                </a:lnTo>
                <a:lnTo>
                  <a:pt x="1368000" y="156418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>
            <a:off x="2203263" y="2808943"/>
            <a:ext cx="1440000" cy="1646514"/>
          </a:xfrm>
          <a:custGeom>
            <a:avLst/>
            <a:gdLst>
              <a:gd name="connsiteX0" fmla="*/ 0 w 1368000"/>
              <a:gd name="connsiteY0" fmla="*/ 1564188 h 1564188"/>
              <a:gd name="connsiteX1" fmla="*/ 0 w 1368000"/>
              <a:gd name="connsiteY1" fmla="*/ 196188 h 1564188"/>
              <a:gd name="connsiteX2" fmla="*/ 529178 w 1368000"/>
              <a:gd name="connsiteY2" fmla="*/ 196188 h 1564188"/>
              <a:gd name="connsiteX3" fmla="*/ 684001 w 1368000"/>
              <a:gd name="connsiteY3" fmla="*/ 0 h 1564188"/>
              <a:gd name="connsiteX4" fmla="*/ 838824 w 1368000"/>
              <a:gd name="connsiteY4" fmla="*/ 196188 h 1564188"/>
              <a:gd name="connsiteX5" fmla="*/ 1368000 w 1368000"/>
              <a:gd name="connsiteY5" fmla="*/ 196188 h 1564188"/>
              <a:gd name="connsiteX6" fmla="*/ 1368000 w 1368000"/>
              <a:gd name="connsiteY6" fmla="*/ 1564188 h 1564188"/>
            </a:gdLst>
            <a:ahLst/>
            <a:cxnLst/>
            <a:rect l="l" t="t" r="r" b="b"/>
            <a:pathLst>
              <a:path w="1368000" h="1564188">
                <a:moveTo>
                  <a:pt x="0" y="1564188"/>
                </a:moveTo>
                <a:lnTo>
                  <a:pt x="0" y="196188"/>
                </a:lnTo>
                <a:lnTo>
                  <a:pt x="529178" y="196188"/>
                </a:lnTo>
                <a:lnTo>
                  <a:pt x="684001" y="0"/>
                </a:lnTo>
                <a:lnTo>
                  <a:pt x="838824" y="196188"/>
                </a:lnTo>
                <a:lnTo>
                  <a:pt x="1368000" y="196188"/>
                </a:lnTo>
                <a:lnTo>
                  <a:pt x="1368000" y="156418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>
            <a:off x="3651887" y="4355520"/>
            <a:ext cx="1440000" cy="1646514"/>
          </a:xfrm>
          <a:custGeom>
            <a:avLst/>
            <a:gdLst>
              <a:gd name="connsiteX0" fmla="*/ 0 w 1368000"/>
              <a:gd name="connsiteY0" fmla="*/ 1564188 h 1564188"/>
              <a:gd name="connsiteX1" fmla="*/ 0 w 1368000"/>
              <a:gd name="connsiteY1" fmla="*/ 196188 h 1564188"/>
              <a:gd name="connsiteX2" fmla="*/ 529178 w 1368000"/>
              <a:gd name="connsiteY2" fmla="*/ 196188 h 1564188"/>
              <a:gd name="connsiteX3" fmla="*/ 684001 w 1368000"/>
              <a:gd name="connsiteY3" fmla="*/ 0 h 1564188"/>
              <a:gd name="connsiteX4" fmla="*/ 838824 w 1368000"/>
              <a:gd name="connsiteY4" fmla="*/ 196188 h 1564188"/>
              <a:gd name="connsiteX5" fmla="*/ 1368000 w 1368000"/>
              <a:gd name="connsiteY5" fmla="*/ 196188 h 1564188"/>
              <a:gd name="connsiteX6" fmla="*/ 1368000 w 1368000"/>
              <a:gd name="connsiteY6" fmla="*/ 1564188 h 1564188"/>
            </a:gdLst>
            <a:ahLst/>
            <a:cxnLst/>
            <a:rect l="l" t="t" r="r" b="b"/>
            <a:pathLst>
              <a:path w="1368000" h="1564188">
                <a:moveTo>
                  <a:pt x="0" y="1564188"/>
                </a:moveTo>
                <a:lnTo>
                  <a:pt x="0" y="196188"/>
                </a:lnTo>
                <a:lnTo>
                  <a:pt x="529178" y="196188"/>
                </a:lnTo>
                <a:lnTo>
                  <a:pt x="684001" y="0"/>
                </a:lnTo>
                <a:lnTo>
                  <a:pt x="838824" y="196188"/>
                </a:lnTo>
                <a:lnTo>
                  <a:pt x="1368000" y="196188"/>
                </a:lnTo>
                <a:lnTo>
                  <a:pt x="1368000" y="156418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66405" y="1790858"/>
            <a:ext cx="517529" cy="517529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586581" y="3326200"/>
            <a:ext cx="540000" cy="540000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072569" y="4878731"/>
            <a:ext cx="465269" cy="504000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468370" y="1509548"/>
            <a:ext cx="5940000" cy="1152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sign bit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3888511" y="3052841"/>
            <a:ext cx="5940000" cy="1152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 = Range bits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356602" y="4602702"/>
            <a:ext cx="5940000" cy="1152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 = fractional bits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General format: Q1.m.n</a:t>
            </a:r>
            <a:endParaRPr kumimoji="1" lang="zh-CN" altLang="en-US" dirty="0"/>
          </a:p>
        </p:txBody>
      </p:sp>
      <p:sp>
        <p:nvSpPr>
          <p:cNvPr id="17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3950970" y="-1107290"/>
            <a:ext cx="9350376" cy="9350372"/>
          </a:xfrm>
          <a:prstGeom prst="arc">
            <a:avLst>
              <a:gd name="adj1" fmla="val 18716968"/>
              <a:gd name="adj2" fmla="val 284618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2287905" y="1829582"/>
            <a:ext cx="6486182" cy="3490914"/>
          </a:xfrm>
          <a:custGeom>
            <a:avLst/>
            <a:gdLst>
              <a:gd name="connsiteX0" fmla="*/ 0 w 6486182"/>
              <a:gd name="connsiteY0" fmla="*/ 0 h 3490914"/>
              <a:gd name="connsiteX1" fmla="*/ 4740726 w 6486182"/>
              <a:gd name="connsiteY1" fmla="*/ 0 h 3490914"/>
              <a:gd name="connsiteX2" fmla="*/ 6486182 w 6486182"/>
              <a:gd name="connsiteY2" fmla="*/ 1745457 h 3490914"/>
              <a:gd name="connsiteX3" fmla="*/ 6486181 w 6486182"/>
              <a:gd name="connsiteY3" fmla="*/ 1745457 h 3490914"/>
              <a:gd name="connsiteX4" fmla="*/ 4740724 w 6486182"/>
              <a:gd name="connsiteY4" fmla="*/ 3490914 h 3490914"/>
              <a:gd name="connsiteX5" fmla="*/ 0 w 6486182"/>
              <a:gd name="connsiteY5" fmla="*/ 3490913 h 3490914"/>
            </a:gdLst>
            <a:ahLst/>
            <a:cxnLst/>
            <a:rect l="l" t="t" r="r" b="b"/>
            <a:pathLst>
              <a:path w="6486182" h="3490914">
                <a:moveTo>
                  <a:pt x="0" y="0"/>
                </a:moveTo>
                <a:lnTo>
                  <a:pt x="4740726" y="0"/>
                </a:lnTo>
                <a:cubicBezTo>
                  <a:pt x="5704714" y="0"/>
                  <a:pt x="6486182" y="781468"/>
                  <a:pt x="6486182" y="1745457"/>
                </a:cubicBezTo>
                <a:lnTo>
                  <a:pt x="6486181" y="1745457"/>
                </a:lnTo>
                <a:cubicBezTo>
                  <a:pt x="6486181" y="2709446"/>
                  <a:pt x="5704713" y="3490914"/>
                  <a:pt x="4740724" y="3490914"/>
                </a:cubicBezTo>
                <a:lnTo>
                  <a:pt x="0" y="3490913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888943" y="1860108"/>
            <a:ext cx="744810" cy="851280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lumMod val="98000"/>
                  <a:lumOff val="2000"/>
                </a:schemeClr>
              </a:gs>
            </a:gsLst>
            <a:lin ang="5400000" scaled="0"/>
          </a:gradFill>
          <a:ln cap="sq">
            <a:noFill/>
          </a:ln>
          <a:effectLst>
            <a:outerShdw blurRad="330200" dist="203200" dir="5400000" sx="90000" sy="90000" algn="t" rotWithShape="0">
              <a:schemeClr val="accent1">
                <a:lumMod val="50000"/>
                <a:alpha val="6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938083" y="1916272"/>
            <a:ext cx="646527" cy="738949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2700000" scaled="0"/>
          </a:gra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126817" y="2141805"/>
            <a:ext cx="269061" cy="269101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781713" y="1859178"/>
            <a:ext cx="5746517" cy="1958598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Q1.0.15 : Range –2</a:t>
            </a:r>
            <a:r>
              <a:rPr kumimoji="1" lang="en-US" altLang="zh-CN" sz="1400" baseline="300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0</a:t>
            </a:r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to (2</a:t>
            </a:r>
            <a:r>
              <a:rPr kumimoji="1" lang="en-US" altLang="zh-CN" sz="1400" baseline="300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0</a:t>
            </a:r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– 2⁻¹⁵) = - 1.0 to 1 - 2⁻¹⁵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4888943" y="4175502"/>
            <a:ext cx="744810" cy="851280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0"/>
          </a:gradFill>
          <a:ln cap="sq">
            <a:noFill/>
          </a:ln>
          <a:effectLst>
            <a:outerShdw blurRad="330200" dist="203200" dir="5400000" sx="90000" sy="90000" algn="t" rotWithShape="0">
              <a:schemeClr val="accent2">
                <a:lumMod val="50000"/>
                <a:alpha val="6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938083" y="4231668"/>
            <a:ext cx="646527" cy="738949"/>
          </a:xfrm>
          <a:custGeom>
            <a:avLst/>
            <a:gdLst>
              <a:gd name="T0" fmla="*/ 626 w 644"/>
              <a:gd name="T1" fmla="*/ 172 h 736"/>
              <a:gd name="T2" fmla="*/ 340 w 644"/>
              <a:gd name="T3" fmla="*/ 6 h 736"/>
              <a:gd name="T4" fmla="*/ 304 w 644"/>
              <a:gd name="T5" fmla="*/ 6 h 736"/>
              <a:gd name="T6" fmla="*/ 18 w 644"/>
              <a:gd name="T7" fmla="*/ 172 h 736"/>
              <a:gd name="T8" fmla="*/ 0 w 644"/>
              <a:gd name="T9" fmla="*/ 203 h 736"/>
              <a:gd name="T10" fmla="*/ 0 w 644"/>
              <a:gd name="T11" fmla="*/ 533 h 736"/>
              <a:gd name="T12" fmla="*/ 18 w 644"/>
              <a:gd name="T13" fmla="*/ 564 h 736"/>
              <a:gd name="T14" fmla="*/ 304 w 644"/>
              <a:gd name="T15" fmla="*/ 730 h 736"/>
              <a:gd name="T16" fmla="*/ 340 w 644"/>
              <a:gd name="T17" fmla="*/ 730 h 736"/>
              <a:gd name="T18" fmla="*/ 626 w 644"/>
              <a:gd name="T19" fmla="*/ 564 h 736"/>
              <a:gd name="T20" fmla="*/ 644 w 644"/>
              <a:gd name="T21" fmla="*/ 533 h 736"/>
              <a:gd name="T22" fmla="*/ 644 w 644"/>
              <a:gd name="T23" fmla="*/ 203 h 736"/>
              <a:gd name="T24" fmla="*/ 626 w 644"/>
              <a:gd name="T25" fmla="*/ 172 h 736"/>
            </a:gdLst>
            <a:ahLst/>
            <a:cxnLst/>
            <a:rect l="0" t="0" r="r" b="b"/>
            <a:pathLst>
              <a:path w="644" h="736">
                <a:moveTo>
                  <a:pt x="626" y="172"/>
                </a:moveTo>
                <a:cubicBezTo>
                  <a:pt x="340" y="6"/>
                  <a:pt x="340" y="6"/>
                  <a:pt x="340" y="6"/>
                </a:cubicBezTo>
                <a:cubicBezTo>
                  <a:pt x="329" y="0"/>
                  <a:pt x="315" y="0"/>
                  <a:pt x="304" y="6"/>
                </a:cubicBezTo>
                <a:cubicBezTo>
                  <a:pt x="18" y="172"/>
                  <a:pt x="18" y="172"/>
                  <a:pt x="18" y="172"/>
                </a:cubicBezTo>
                <a:cubicBezTo>
                  <a:pt x="7" y="178"/>
                  <a:pt x="0" y="190"/>
                  <a:pt x="0" y="203"/>
                </a:cubicBezTo>
                <a:cubicBezTo>
                  <a:pt x="0" y="533"/>
                  <a:pt x="0" y="533"/>
                  <a:pt x="0" y="533"/>
                </a:cubicBezTo>
                <a:cubicBezTo>
                  <a:pt x="0" y="546"/>
                  <a:pt x="7" y="558"/>
                  <a:pt x="18" y="564"/>
                </a:cubicBezTo>
                <a:cubicBezTo>
                  <a:pt x="304" y="730"/>
                  <a:pt x="304" y="730"/>
                  <a:pt x="304" y="730"/>
                </a:cubicBezTo>
                <a:cubicBezTo>
                  <a:pt x="315" y="736"/>
                  <a:pt x="329" y="736"/>
                  <a:pt x="340" y="730"/>
                </a:cubicBezTo>
                <a:cubicBezTo>
                  <a:pt x="626" y="564"/>
                  <a:pt x="626" y="564"/>
                  <a:pt x="626" y="564"/>
                </a:cubicBezTo>
                <a:cubicBezTo>
                  <a:pt x="637" y="558"/>
                  <a:pt x="644" y="546"/>
                  <a:pt x="644" y="533"/>
                </a:cubicBezTo>
                <a:cubicBezTo>
                  <a:pt x="644" y="203"/>
                  <a:pt x="644" y="203"/>
                  <a:pt x="644" y="203"/>
                </a:cubicBezTo>
                <a:cubicBezTo>
                  <a:pt x="644" y="190"/>
                  <a:pt x="637" y="178"/>
                  <a:pt x="626" y="17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126796" y="4467281"/>
            <a:ext cx="269101" cy="248936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772382" y="4175502"/>
            <a:ext cx="5746517" cy="1958598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Stored as (1+m+n)- bit signed integer</a:t>
            </a:r>
            <a:endParaRPr kumimoji="1" lang="zh-CN" altLang="en-US" dirty="0"/>
          </a:p>
        </p:txBody>
      </p:sp>
      <p:sp>
        <p:nvSpPr>
          <p:cNvPr id="13" name="标题 1"/>
          <p:cNvSpPr txBox="1"/>
          <p:nvPr/>
        </p:nvSpPr>
        <p:spPr>
          <a:xfrm>
            <a:off x="-3301877" y="-458196"/>
            <a:ext cx="8052190" cy="8052186"/>
          </a:xfrm>
          <a:prstGeom prst="arc">
            <a:avLst>
              <a:gd name="adj1" fmla="val 19465670"/>
              <a:gd name="adj2" fmla="val 2211151"/>
            </a:avLst>
          </a:prstGeom>
          <a:noFill/>
          <a:ln w="12700" cap="sq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408824" y="2584913"/>
            <a:ext cx="1870330" cy="1845296"/>
          </a:xfrm>
          <a:custGeom>
            <a:avLst/>
            <a:gdLst>
              <a:gd name="connsiteX0" fmla="*/ 1371696 w 1870330"/>
              <a:gd name="connsiteY0" fmla="*/ 1296270 h 1845296"/>
              <a:gd name="connsiteX1" fmla="*/ 1371696 w 1870330"/>
              <a:gd name="connsiteY1" fmla="*/ 1371136 h 1845296"/>
              <a:gd name="connsiteX2" fmla="*/ 1671448 w 1870330"/>
              <a:gd name="connsiteY2" fmla="*/ 1371136 h 1845296"/>
              <a:gd name="connsiteX3" fmla="*/ 1671448 w 1870330"/>
              <a:gd name="connsiteY3" fmla="*/ 1296270 h 1845296"/>
              <a:gd name="connsiteX4" fmla="*/ 1371696 w 1870330"/>
              <a:gd name="connsiteY4" fmla="*/ 996899 h 1845296"/>
              <a:gd name="connsiteX5" fmla="*/ 1371696 w 1870330"/>
              <a:gd name="connsiteY5" fmla="*/ 1071765 h 1845296"/>
              <a:gd name="connsiteX6" fmla="*/ 1671448 w 1870330"/>
              <a:gd name="connsiteY6" fmla="*/ 1071765 h 1845296"/>
              <a:gd name="connsiteX7" fmla="*/ 1671448 w 1870330"/>
              <a:gd name="connsiteY7" fmla="*/ 996899 h 1845296"/>
              <a:gd name="connsiteX8" fmla="*/ 1371696 w 1870330"/>
              <a:gd name="connsiteY8" fmla="*/ 747820 h 1845296"/>
              <a:gd name="connsiteX9" fmla="*/ 1371696 w 1870330"/>
              <a:gd name="connsiteY9" fmla="*/ 822401 h 1845296"/>
              <a:gd name="connsiteX10" fmla="*/ 1671448 w 1870330"/>
              <a:gd name="connsiteY10" fmla="*/ 822401 h 1845296"/>
              <a:gd name="connsiteX11" fmla="*/ 1671448 w 1870330"/>
              <a:gd name="connsiteY11" fmla="*/ 747820 h 1845296"/>
              <a:gd name="connsiteX12" fmla="*/ 1371696 w 1870330"/>
              <a:gd name="connsiteY12" fmla="*/ 473405 h 1845296"/>
              <a:gd name="connsiteX13" fmla="*/ 1371696 w 1870330"/>
              <a:gd name="connsiteY13" fmla="*/ 547986 h 1845296"/>
              <a:gd name="connsiteX14" fmla="*/ 1671448 w 1870330"/>
              <a:gd name="connsiteY14" fmla="*/ 547986 h 1845296"/>
              <a:gd name="connsiteX15" fmla="*/ 1671448 w 1870330"/>
              <a:gd name="connsiteY15" fmla="*/ 473405 h 1845296"/>
              <a:gd name="connsiteX16" fmla="*/ 1221963 w 1870330"/>
              <a:gd name="connsiteY16" fmla="*/ 224040 h 1845296"/>
              <a:gd name="connsiteX17" fmla="*/ 1794130 w 1870330"/>
              <a:gd name="connsiteY17" fmla="*/ 224040 h 1845296"/>
              <a:gd name="connsiteX18" fmla="*/ 1870330 w 1870330"/>
              <a:gd name="connsiteY18" fmla="*/ 298811 h 1845296"/>
              <a:gd name="connsiteX19" fmla="*/ 1870330 w 1870330"/>
              <a:gd name="connsiteY19" fmla="*/ 1570971 h 1845296"/>
              <a:gd name="connsiteX20" fmla="*/ 1794130 w 1870330"/>
              <a:gd name="connsiteY20" fmla="*/ 1645742 h 1845296"/>
              <a:gd name="connsiteX21" fmla="*/ 1221963 w 1870330"/>
              <a:gd name="connsiteY21" fmla="*/ 1645742 h 1845296"/>
              <a:gd name="connsiteX22" fmla="*/ 1221963 w 1870330"/>
              <a:gd name="connsiteY22" fmla="*/ 1383804 h 1845296"/>
              <a:gd name="connsiteX23" fmla="*/ 1298163 w 1870330"/>
              <a:gd name="connsiteY23" fmla="*/ 1383804 h 1845296"/>
              <a:gd name="connsiteX24" fmla="*/ 1298163 w 1870330"/>
              <a:gd name="connsiteY24" fmla="*/ 1309033 h 1845296"/>
              <a:gd name="connsiteX25" fmla="*/ 1221963 w 1870330"/>
              <a:gd name="connsiteY25" fmla="*/ 1309033 h 1845296"/>
              <a:gd name="connsiteX26" fmla="*/ 1221963 w 1870330"/>
              <a:gd name="connsiteY26" fmla="*/ 1084434 h 1845296"/>
              <a:gd name="connsiteX27" fmla="*/ 1298163 w 1870330"/>
              <a:gd name="connsiteY27" fmla="*/ 1084434 h 1845296"/>
              <a:gd name="connsiteX28" fmla="*/ 1298163 w 1870330"/>
              <a:gd name="connsiteY28" fmla="*/ 1009662 h 1845296"/>
              <a:gd name="connsiteX29" fmla="*/ 1221963 w 1870330"/>
              <a:gd name="connsiteY29" fmla="*/ 1009662 h 1845296"/>
              <a:gd name="connsiteX30" fmla="*/ 1221963 w 1870330"/>
              <a:gd name="connsiteY30" fmla="*/ 822496 h 1845296"/>
              <a:gd name="connsiteX31" fmla="*/ 1298163 w 1870330"/>
              <a:gd name="connsiteY31" fmla="*/ 822496 h 1845296"/>
              <a:gd name="connsiteX32" fmla="*/ 1298163 w 1870330"/>
              <a:gd name="connsiteY32" fmla="*/ 747725 h 1845296"/>
              <a:gd name="connsiteX33" fmla="*/ 1221963 w 1870330"/>
              <a:gd name="connsiteY33" fmla="*/ 747725 h 1845296"/>
              <a:gd name="connsiteX34" fmla="*/ 1221963 w 1870330"/>
              <a:gd name="connsiteY34" fmla="*/ 560654 h 1845296"/>
              <a:gd name="connsiteX35" fmla="*/ 1298163 w 1870330"/>
              <a:gd name="connsiteY35" fmla="*/ 560654 h 1845296"/>
              <a:gd name="connsiteX36" fmla="*/ 1298163 w 1870330"/>
              <a:gd name="connsiteY36" fmla="*/ 485883 h 1845296"/>
              <a:gd name="connsiteX37" fmla="*/ 1221963 w 1870330"/>
              <a:gd name="connsiteY37" fmla="*/ 485883 h 1845296"/>
              <a:gd name="connsiteX38" fmla="*/ 1054227 w 1870330"/>
              <a:gd name="connsiteY38" fmla="*/ 393 h 1845296"/>
              <a:gd name="connsiteX39" fmla="*/ 1054132 w 1870330"/>
              <a:gd name="connsiteY39" fmla="*/ 869 h 1845296"/>
              <a:gd name="connsiteX40" fmla="*/ 1083754 w 1870330"/>
              <a:gd name="connsiteY40" fmla="*/ 7727 h 1845296"/>
              <a:gd name="connsiteX41" fmla="*/ 1097470 w 1870330"/>
              <a:gd name="connsiteY41" fmla="*/ 36302 h 1845296"/>
              <a:gd name="connsiteX42" fmla="*/ 1097470 w 1870330"/>
              <a:gd name="connsiteY42" fmla="*/ 1808714 h 1845296"/>
              <a:gd name="connsiteX43" fmla="*/ 1083754 w 1870330"/>
              <a:gd name="connsiteY43" fmla="*/ 1837289 h 1845296"/>
              <a:gd name="connsiteX44" fmla="*/ 1060895 w 1870330"/>
              <a:gd name="connsiteY44" fmla="*/ 1845290 h 1845296"/>
              <a:gd name="connsiteX45" fmla="*/ 1053941 w 1870330"/>
              <a:gd name="connsiteY45" fmla="*/ 1844148 h 1845296"/>
              <a:gd name="connsiteX46" fmla="*/ 29623 w 1870330"/>
              <a:gd name="connsiteY46" fmla="*/ 1647932 h 1845296"/>
              <a:gd name="connsiteX47" fmla="*/ 0 w 1870330"/>
              <a:gd name="connsiteY47" fmla="*/ 1611071 h 1845296"/>
              <a:gd name="connsiteX48" fmla="*/ 0 w 1870330"/>
              <a:gd name="connsiteY48" fmla="*/ 233375 h 1845296"/>
              <a:gd name="connsiteX49" fmla="*/ 29813 w 1870330"/>
              <a:gd name="connsiteY49" fmla="*/ 196513 h 1845296"/>
            </a:gdLst>
            <a:ahLst/>
            <a:cxnLst/>
            <a:rect l="l" t="t" r="r" b="b"/>
            <a:pathLst>
              <a:path w="1870330" h="1845296">
                <a:moveTo>
                  <a:pt x="1371696" y="1296270"/>
                </a:moveTo>
                <a:lnTo>
                  <a:pt x="1371696" y="1371136"/>
                </a:lnTo>
                <a:lnTo>
                  <a:pt x="1671448" y="1371136"/>
                </a:lnTo>
                <a:lnTo>
                  <a:pt x="1671448" y="1296270"/>
                </a:lnTo>
                <a:close/>
                <a:moveTo>
                  <a:pt x="1371696" y="996899"/>
                </a:moveTo>
                <a:lnTo>
                  <a:pt x="1371696" y="1071765"/>
                </a:lnTo>
                <a:lnTo>
                  <a:pt x="1671448" y="1071765"/>
                </a:lnTo>
                <a:lnTo>
                  <a:pt x="1671448" y="996899"/>
                </a:lnTo>
                <a:close/>
                <a:moveTo>
                  <a:pt x="1371696" y="747820"/>
                </a:moveTo>
                <a:lnTo>
                  <a:pt x="1371696" y="822401"/>
                </a:lnTo>
                <a:lnTo>
                  <a:pt x="1671448" y="822401"/>
                </a:lnTo>
                <a:lnTo>
                  <a:pt x="1671448" y="747820"/>
                </a:lnTo>
                <a:close/>
                <a:moveTo>
                  <a:pt x="1371696" y="473405"/>
                </a:moveTo>
                <a:lnTo>
                  <a:pt x="1371696" y="547986"/>
                </a:lnTo>
                <a:lnTo>
                  <a:pt x="1671448" y="547986"/>
                </a:lnTo>
                <a:lnTo>
                  <a:pt x="1671448" y="473405"/>
                </a:lnTo>
                <a:close/>
                <a:moveTo>
                  <a:pt x="1221963" y="224040"/>
                </a:moveTo>
                <a:lnTo>
                  <a:pt x="1794130" y="224040"/>
                </a:lnTo>
                <a:cubicBezTo>
                  <a:pt x="1835792" y="223723"/>
                  <a:pt x="1869863" y="257155"/>
                  <a:pt x="1870330" y="298811"/>
                </a:cubicBezTo>
                <a:lnTo>
                  <a:pt x="1870330" y="1570971"/>
                </a:lnTo>
                <a:cubicBezTo>
                  <a:pt x="1869863" y="1612623"/>
                  <a:pt x="1835792" y="1646056"/>
                  <a:pt x="1794130" y="1645742"/>
                </a:cubicBezTo>
                <a:lnTo>
                  <a:pt x="1221963" y="1645742"/>
                </a:lnTo>
                <a:lnTo>
                  <a:pt x="1221963" y="1383804"/>
                </a:lnTo>
                <a:lnTo>
                  <a:pt x="1298163" y="1383804"/>
                </a:lnTo>
                <a:lnTo>
                  <a:pt x="1298163" y="1309033"/>
                </a:lnTo>
                <a:lnTo>
                  <a:pt x="1221963" y="1309033"/>
                </a:lnTo>
                <a:lnTo>
                  <a:pt x="1221963" y="1084434"/>
                </a:lnTo>
                <a:lnTo>
                  <a:pt x="1298163" y="1084434"/>
                </a:lnTo>
                <a:lnTo>
                  <a:pt x="1298163" y="1009662"/>
                </a:lnTo>
                <a:lnTo>
                  <a:pt x="1221963" y="1009662"/>
                </a:lnTo>
                <a:lnTo>
                  <a:pt x="1221963" y="822496"/>
                </a:lnTo>
                <a:lnTo>
                  <a:pt x="1298163" y="822496"/>
                </a:lnTo>
                <a:lnTo>
                  <a:pt x="1298163" y="747725"/>
                </a:lnTo>
                <a:lnTo>
                  <a:pt x="1221963" y="747725"/>
                </a:lnTo>
                <a:lnTo>
                  <a:pt x="1221963" y="560654"/>
                </a:lnTo>
                <a:lnTo>
                  <a:pt x="1298163" y="560654"/>
                </a:lnTo>
                <a:lnTo>
                  <a:pt x="1298163" y="485883"/>
                </a:lnTo>
                <a:lnTo>
                  <a:pt x="1221963" y="485883"/>
                </a:lnTo>
                <a:close/>
                <a:moveTo>
                  <a:pt x="1054227" y="393"/>
                </a:moveTo>
                <a:lnTo>
                  <a:pt x="1054132" y="869"/>
                </a:lnTo>
                <a:cubicBezTo>
                  <a:pt x="1064533" y="-1498"/>
                  <a:pt x="1075449" y="1029"/>
                  <a:pt x="1083754" y="7727"/>
                </a:cubicBezTo>
                <a:cubicBezTo>
                  <a:pt x="1092260" y="14808"/>
                  <a:pt x="1097261" y="25237"/>
                  <a:pt x="1097470" y="36302"/>
                </a:cubicBezTo>
                <a:lnTo>
                  <a:pt x="1097470" y="1808714"/>
                </a:lnTo>
                <a:cubicBezTo>
                  <a:pt x="1097271" y="1819783"/>
                  <a:pt x="1092260" y="1830212"/>
                  <a:pt x="1083754" y="1837289"/>
                </a:cubicBezTo>
                <a:cubicBezTo>
                  <a:pt x="1077344" y="1842614"/>
                  <a:pt x="1069229" y="1845452"/>
                  <a:pt x="1060895" y="1845290"/>
                </a:cubicBezTo>
                <a:cubicBezTo>
                  <a:pt x="1058551" y="1845100"/>
                  <a:pt x="1056227" y="1844719"/>
                  <a:pt x="1053941" y="1844148"/>
                </a:cubicBezTo>
                <a:lnTo>
                  <a:pt x="29623" y="1647932"/>
                </a:lnTo>
                <a:cubicBezTo>
                  <a:pt x="12259" y="1644227"/>
                  <a:pt x="-124" y="1628825"/>
                  <a:pt x="0" y="1611071"/>
                </a:cubicBezTo>
                <a:lnTo>
                  <a:pt x="0" y="233375"/>
                </a:lnTo>
                <a:cubicBezTo>
                  <a:pt x="-105" y="215558"/>
                  <a:pt x="12373" y="200139"/>
                  <a:pt x="29813" y="19651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Example: Q1.0.15 (16-bit signed fixed-point)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05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Float-to-Fixed Conversion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alphaModFix/>
          </a:blip>
          <a:srcRect l="25441" r="25441"/>
          <a:stretch>
            <a:fillRect/>
          </a:stretch>
        </p:blipFill>
        <p:spPr>
          <a:xfrm>
            <a:off x="7181850" y="0"/>
            <a:ext cx="5080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1160246" y="3766831"/>
            <a:ext cx="846721" cy="8314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408245" y="4007202"/>
            <a:ext cx="350722" cy="35072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206120" y="3781621"/>
            <a:ext cx="43307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206120" y="4203229"/>
            <a:ext cx="4329587" cy="13553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Example 2Float = –0.5792, Q1.0.15 → round(–0.5792 × 2¹⁵) = –18979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1160246" y="1705820"/>
            <a:ext cx="846721" cy="846721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508000" dist="254000" dir="5400000" algn="t" rotWithShape="0">
              <a:srgbClr val="000000">
                <a:alpha val="3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19813" y="1965386"/>
            <a:ext cx="327585" cy="327585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206120" y="1729662"/>
            <a:ext cx="43307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206119" y="2148424"/>
            <a:ext cx="4329587" cy="13553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Example 1Float = 0.4768, Q1.0.15 → round(0.4768 × 2¹⁵) = 15624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Formula: Q1.m.n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Fixedpt_value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= round (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Floatingpt_value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× 2ⁿ)</a:t>
            </a:r>
            <a:endParaRPr kumimoji="1" lang="zh-CN" altLang="en-US" sz="2400" dirty="0"/>
          </a:p>
        </p:txBody>
      </p:sp>
      <p:sp>
        <p:nvSpPr>
          <p:cNvPr id="14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EB875-5491-6DA7-561E-F7165156C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5C340-DFB0-0371-4FDD-F6AD16988F51}"/>
              </a:ext>
            </a:extLst>
          </p:cNvPr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1816E1-97CD-7021-BE01-B7F50791A2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25441" r="25441"/>
          <a:stretch>
            <a:fillRect/>
          </a:stretch>
        </p:blipFill>
        <p:spPr>
          <a:xfrm>
            <a:off x="7181850" y="0"/>
            <a:ext cx="5080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002A98A0-C134-9B42-2A2B-BD4EA6E41693}"/>
              </a:ext>
            </a:extLst>
          </p:cNvPr>
          <p:cNvSpPr txBox="1"/>
          <p:nvPr/>
        </p:nvSpPr>
        <p:spPr>
          <a:xfrm>
            <a:off x="1160246" y="3766831"/>
            <a:ext cx="846721" cy="8314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941E26A-10E9-B5D7-584B-B8DBA9EC130E}"/>
              </a:ext>
            </a:extLst>
          </p:cNvPr>
          <p:cNvSpPr txBox="1"/>
          <p:nvPr/>
        </p:nvSpPr>
        <p:spPr>
          <a:xfrm>
            <a:off x="1408245" y="4007202"/>
            <a:ext cx="350722" cy="35072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9A7B5E2-0DD5-840A-4D75-D1C6F5081D2B}"/>
              </a:ext>
            </a:extLst>
          </p:cNvPr>
          <p:cNvSpPr txBox="1"/>
          <p:nvPr/>
        </p:nvSpPr>
        <p:spPr>
          <a:xfrm>
            <a:off x="2206120" y="3781621"/>
            <a:ext cx="43307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7E245C6-5C69-B21C-ED67-A21BA1777B32}"/>
              </a:ext>
            </a:extLst>
          </p:cNvPr>
          <p:cNvSpPr txBox="1"/>
          <p:nvPr/>
        </p:nvSpPr>
        <p:spPr>
          <a:xfrm>
            <a:off x="2206120" y="4203229"/>
            <a:ext cx="4329587" cy="13553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Example 2Float = –5.5872, Q1.3.12 → round(–5.5872 × 2</a:t>
            </a:r>
            <a:r>
              <a:rPr kumimoji="1" lang="en-US" altLang="zh-CN" sz="1400" baseline="300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12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) = -22885</a:t>
            </a:r>
            <a:endParaRPr kumimoji="1"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D2010614-8A39-D92A-DABF-D7412517D637}"/>
              </a:ext>
            </a:extLst>
          </p:cNvPr>
          <p:cNvSpPr txBox="1"/>
          <p:nvPr/>
        </p:nvSpPr>
        <p:spPr>
          <a:xfrm>
            <a:off x="1160246" y="1705820"/>
            <a:ext cx="846721" cy="846721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508000" dist="254000" dir="5400000" algn="t" rotWithShape="0">
              <a:srgbClr val="000000">
                <a:alpha val="3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87211B6-DEC5-A995-1F22-4E8F176F1B4B}"/>
              </a:ext>
            </a:extLst>
          </p:cNvPr>
          <p:cNvSpPr txBox="1"/>
          <p:nvPr/>
        </p:nvSpPr>
        <p:spPr>
          <a:xfrm>
            <a:off x="1419813" y="1965386"/>
            <a:ext cx="327585" cy="327585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AB7733B-CB3D-CCDE-B8CF-3FD2629498B7}"/>
              </a:ext>
            </a:extLst>
          </p:cNvPr>
          <p:cNvSpPr txBox="1"/>
          <p:nvPr/>
        </p:nvSpPr>
        <p:spPr>
          <a:xfrm>
            <a:off x="2206120" y="1729662"/>
            <a:ext cx="43307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B02E7076-FAC7-E273-5A66-797489E27642}"/>
              </a:ext>
            </a:extLst>
          </p:cNvPr>
          <p:cNvSpPr txBox="1"/>
          <p:nvPr/>
        </p:nvSpPr>
        <p:spPr>
          <a:xfrm>
            <a:off x="2206119" y="2148424"/>
            <a:ext cx="4329587" cy="13553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Example 1Float = 2.4897, Q1.2.13 → round(2.4897 × 2</a:t>
            </a:r>
            <a:r>
              <a:rPr kumimoji="1" lang="en-US" altLang="zh-CN" sz="1400" baseline="300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13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) = 20396</a:t>
            </a:r>
            <a:endParaRPr kumimoji="1" lang="zh-CN" alt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D31467AE-C0D8-22E1-A8EA-BEAE88A3A356}"/>
              </a:ext>
            </a:extLst>
          </p:cNvPr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F291C07-5BA1-78B2-309F-B60D8C6F1554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Formula: Q1.m.n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Fixedpt_value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= round (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Floatingpt_value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× 2ⁿ)</a:t>
            </a:r>
            <a:endParaRPr kumimoji="1" lang="zh-CN" altLang="en-US" sz="2400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5230179-41CA-B0FA-FA42-A7C2B6C7F49B}"/>
              </a:ext>
            </a:extLst>
          </p:cNvPr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F8F60692-F1B7-2EFC-5CFB-5AC59E8360D2}"/>
              </a:ext>
            </a:extLst>
          </p:cNvPr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0116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054827" y="2612535"/>
            <a:ext cx="2342511" cy="2700138"/>
          </a:xfrm>
          <a:prstGeom prst="roundRect">
            <a:avLst>
              <a:gd name="adj" fmla="val 4708"/>
            </a:avLst>
          </a:prstGeom>
          <a:solidFill>
            <a:schemeClr val="bg1">
              <a:lumMod val="95000"/>
            </a:schemeClr>
          </a:solidFill>
          <a:ln w="9525" cap="flat">
            <a:noFill/>
            <a:miter/>
          </a:ln>
          <a:effectLst>
            <a:outerShdw blurRad="190500" dist="127000" dir="5400000" sx="103000" sy="103000" algn="c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54827" y="5148743"/>
            <a:ext cx="2342511" cy="163932"/>
          </a:xfrm>
          <a:custGeom>
            <a:avLst/>
            <a:gdLst>
              <a:gd name="connsiteX0" fmla="*/ 0 w 831851"/>
              <a:gd name="connsiteY0" fmla="*/ 0 h 58214"/>
              <a:gd name="connsiteX1" fmla="*/ 39164 w 831851"/>
              <a:gd name="connsiteY1" fmla="*/ 39164 h 58214"/>
              <a:gd name="connsiteX2" fmla="*/ 792687 w 831851"/>
              <a:gd name="connsiteY2" fmla="*/ 39164 h 58214"/>
              <a:gd name="connsiteX3" fmla="*/ 831851 w 831851"/>
              <a:gd name="connsiteY3" fmla="*/ 0 h 58214"/>
              <a:gd name="connsiteX4" fmla="*/ 831851 w 831851"/>
              <a:gd name="connsiteY4" fmla="*/ 19050 h 58214"/>
              <a:gd name="connsiteX5" fmla="*/ 792687 w 831851"/>
              <a:gd name="connsiteY5" fmla="*/ 58214 h 58214"/>
              <a:gd name="connsiteX6" fmla="*/ 39164 w 831851"/>
              <a:gd name="connsiteY6" fmla="*/ 58214 h 58214"/>
              <a:gd name="connsiteX7" fmla="*/ 0 w 831851"/>
              <a:gd name="connsiteY7" fmla="*/ 19050 h 58214"/>
            </a:gdLst>
            <a:ahLst/>
            <a:cxnLst/>
            <a:rect l="l" t="t" r="r" b="b"/>
            <a:pathLst>
              <a:path w="831851" h="58214">
                <a:moveTo>
                  <a:pt x="0" y="0"/>
                </a:moveTo>
                <a:cubicBezTo>
                  <a:pt x="0" y="21630"/>
                  <a:pt x="17534" y="39164"/>
                  <a:pt x="39164" y="39164"/>
                </a:cubicBezTo>
                <a:lnTo>
                  <a:pt x="792687" y="39164"/>
                </a:lnTo>
                <a:cubicBezTo>
                  <a:pt x="814317" y="39164"/>
                  <a:pt x="831851" y="21630"/>
                  <a:pt x="831851" y="0"/>
                </a:cubicBezTo>
                <a:lnTo>
                  <a:pt x="831851" y="19050"/>
                </a:lnTo>
                <a:cubicBezTo>
                  <a:pt x="831851" y="40680"/>
                  <a:pt x="814317" y="58214"/>
                  <a:pt x="792687" y="58214"/>
                </a:cubicBezTo>
                <a:lnTo>
                  <a:pt x="39164" y="58214"/>
                </a:lnTo>
                <a:cubicBezTo>
                  <a:pt x="17534" y="58214"/>
                  <a:pt x="0" y="40680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190500" dist="127000" dir="5400000" sx="103000" sy="103000" algn="ctr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924743" y="2612535"/>
            <a:ext cx="2342511" cy="2700138"/>
          </a:xfrm>
          <a:prstGeom prst="roundRect">
            <a:avLst>
              <a:gd name="adj" fmla="val 4708"/>
            </a:avLst>
          </a:prstGeom>
          <a:solidFill>
            <a:schemeClr val="bg1">
              <a:lumMod val="95000"/>
            </a:schemeClr>
          </a:solidFill>
          <a:ln w="9525" cap="flat">
            <a:noFill/>
            <a:miter/>
          </a:ln>
          <a:effectLst>
            <a:outerShdw blurRad="190500" dist="127000" dir="5400000" sx="103000" sy="103000" algn="c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924743" y="5148743"/>
            <a:ext cx="2342511" cy="163932"/>
          </a:xfrm>
          <a:custGeom>
            <a:avLst/>
            <a:gdLst>
              <a:gd name="connsiteX0" fmla="*/ 0 w 831851"/>
              <a:gd name="connsiteY0" fmla="*/ 0 h 58214"/>
              <a:gd name="connsiteX1" fmla="*/ 39164 w 831851"/>
              <a:gd name="connsiteY1" fmla="*/ 39164 h 58214"/>
              <a:gd name="connsiteX2" fmla="*/ 792687 w 831851"/>
              <a:gd name="connsiteY2" fmla="*/ 39164 h 58214"/>
              <a:gd name="connsiteX3" fmla="*/ 831851 w 831851"/>
              <a:gd name="connsiteY3" fmla="*/ 0 h 58214"/>
              <a:gd name="connsiteX4" fmla="*/ 831851 w 831851"/>
              <a:gd name="connsiteY4" fmla="*/ 19050 h 58214"/>
              <a:gd name="connsiteX5" fmla="*/ 792687 w 831851"/>
              <a:gd name="connsiteY5" fmla="*/ 58214 h 58214"/>
              <a:gd name="connsiteX6" fmla="*/ 39164 w 831851"/>
              <a:gd name="connsiteY6" fmla="*/ 58214 h 58214"/>
              <a:gd name="connsiteX7" fmla="*/ 0 w 831851"/>
              <a:gd name="connsiteY7" fmla="*/ 19050 h 58214"/>
            </a:gdLst>
            <a:ahLst/>
            <a:cxnLst/>
            <a:rect l="l" t="t" r="r" b="b"/>
            <a:pathLst>
              <a:path w="831851" h="58214">
                <a:moveTo>
                  <a:pt x="0" y="0"/>
                </a:moveTo>
                <a:cubicBezTo>
                  <a:pt x="0" y="21630"/>
                  <a:pt x="17534" y="39164"/>
                  <a:pt x="39164" y="39164"/>
                </a:cubicBezTo>
                <a:lnTo>
                  <a:pt x="792687" y="39164"/>
                </a:lnTo>
                <a:cubicBezTo>
                  <a:pt x="814317" y="39164"/>
                  <a:pt x="831851" y="21630"/>
                  <a:pt x="831851" y="0"/>
                </a:cubicBezTo>
                <a:lnTo>
                  <a:pt x="831851" y="19050"/>
                </a:lnTo>
                <a:cubicBezTo>
                  <a:pt x="831851" y="40680"/>
                  <a:pt x="814317" y="58214"/>
                  <a:pt x="792687" y="58214"/>
                </a:cubicBezTo>
                <a:lnTo>
                  <a:pt x="39164" y="58214"/>
                </a:lnTo>
                <a:cubicBezTo>
                  <a:pt x="17534" y="58214"/>
                  <a:pt x="0" y="40680"/>
                  <a:pt x="0" y="1905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miter/>
          </a:ln>
          <a:effectLst>
            <a:outerShdw blurRad="190500" dist="127000" dir="5400000" sx="103000" sy="103000" algn="ctr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794662" y="2612535"/>
            <a:ext cx="2342511" cy="2700138"/>
          </a:xfrm>
          <a:prstGeom prst="roundRect">
            <a:avLst>
              <a:gd name="adj" fmla="val 4708"/>
            </a:avLst>
          </a:prstGeom>
          <a:solidFill>
            <a:schemeClr val="bg1">
              <a:lumMod val="95000"/>
            </a:schemeClr>
          </a:solidFill>
          <a:ln w="9525" cap="flat">
            <a:noFill/>
            <a:miter/>
          </a:ln>
          <a:effectLst>
            <a:outerShdw blurRad="190500" dist="127000" dir="5400000" sx="103000" sy="103000" algn="ctr" rotWithShape="0">
              <a:schemeClr val="tx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794662" y="5148743"/>
            <a:ext cx="2342511" cy="163932"/>
          </a:xfrm>
          <a:custGeom>
            <a:avLst/>
            <a:gdLst>
              <a:gd name="connsiteX0" fmla="*/ 0 w 831851"/>
              <a:gd name="connsiteY0" fmla="*/ 0 h 58214"/>
              <a:gd name="connsiteX1" fmla="*/ 39164 w 831851"/>
              <a:gd name="connsiteY1" fmla="*/ 39164 h 58214"/>
              <a:gd name="connsiteX2" fmla="*/ 792687 w 831851"/>
              <a:gd name="connsiteY2" fmla="*/ 39164 h 58214"/>
              <a:gd name="connsiteX3" fmla="*/ 831851 w 831851"/>
              <a:gd name="connsiteY3" fmla="*/ 0 h 58214"/>
              <a:gd name="connsiteX4" fmla="*/ 831851 w 831851"/>
              <a:gd name="connsiteY4" fmla="*/ 19050 h 58214"/>
              <a:gd name="connsiteX5" fmla="*/ 792687 w 831851"/>
              <a:gd name="connsiteY5" fmla="*/ 58214 h 58214"/>
              <a:gd name="connsiteX6" fmla="*/ 39164 w 831851"/>
              <a:gd name="connsiteY6" fmla="*/ 58214 h 58214"/>
              <a:gd name="connsiteX7" fmla="*/ 0 w 831851"/>
              <a:gd name="connsiteY7" fmla="*/ 19050 h 58214"/>
            </a:gdLst>
            <a:ahLst/>
            <a:cxnLst/>
            <a:rect l="l" t="t" r="r" b="b"/>
            <a:pathLst>
              <a:path w="831851" h="58214">
                <a:moveTo>
                  <a:pt x="0" y="0"/>
                </a:moveTo>
                <a:cubicBezTo>
                  <a:pt x="0" y="21630"/>
                  <a:pt x="17534" y="39164"/>
                  <a:pt x="39164" y="39164"/>
                </a:cubicBezTo>
                <a:lnTo>
                  <a:pt x="792687" y="39164"/>
                </a:lnTo>
                <a:cubicBezTo>
                  <a:pt x="814317" y="39164"/>
                  <a:pt x="831851" y="21630"/>
                  <a:pt x="831851" y="0"/>
                </a:cubicBezTo>
                <a:lnTo>
                  <a:pt x="831851" y="19050"/>
                </a:lnTo>
                <a:cubicBezTo>
                  <a:pt x="831851" y="40680"/>
                  <a:pt x="814317" y="58214"/>
                  <a:pt x="792687" y="58214"/>
                </a:cubicBezTo>
                <a:lnTo>
                  <a:pt x="39164" y="58214"/>
                </a:lnTo>
                <a:cubicBezTo>
                  <a:pt x="17534" y="58214"/>
                  <a:pt x="0" y="40680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  <a:effectLst>
            <a:outerShdw blurRad="190500" dist="127000" dir="5400000" sx="103000" sy="103000" algn="ctr" rotWithShape="0">
              <a:schemeClr val="accent1">
                <a:lumMod val="50000"/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标题 1"/>
          <p:cNvCxnSpPr/>
          <p:nvPr/>
        </p:nvCxnSpPr>
        <p:spPr>
          <a:xfrm>
            <a:off x="3617485" y="3685664"/>
            <a:ext cx="1087108" cy="0"/>
          </a:xfrm>
          <a:prstGeom prst="straightConnector1">
            <a:avLst/>
          </a:prstGeom>
          <a:noFill/>
          <a:ln w="13335" cap="sq">
            <a:solidFill>
              <a:schemeClr val="tx1"/>
            </a:solidFill>
            <a:miter/>
            <a:headEnd type="stealth" w="med" len="med"/>
            <a:tailEnd type="stealth" w="med" len="med"/>
          </a:ln>
        </p:spPr>
      </p:cxnSp>
      <p:cxnSp>
        <p:nvCxnSpPr>
          <p:cNvPr id="10" name="标题 1"/>
          <p:cNvCxnSpPr/>
          <p:nvPr/>
        </p:nvCxnSpPr>
        <p:spPr>
          <a:xfrm>
            <a:off x="7487403" y="3685664"/>
            <a:ext cx="1087108" cy="0"/>
          </a:xfrm>
          <a:prstGeom prst="straightConnector1">
            <a:avLst/>
          </a:prstGeom>
          <a:noFill/>
          <a:ln w="13335" cap="sq">
            <a:solidFill>
              <a:schemeClr val="tx1"/>
            </a:solidFill>
            <a:miter/>
            <a:headEnd type="stealth" w="med" len="med"/>
            <a:tailEnd type="stealth" w="med" len="med"/>
          </a:ln>
        </p:spPr>
      </p:cxnSp>
      <p:sp>
        <p:nvSpPr>
          <p:cNvPr id="11" name="标题 1"/>
          <p:cNvSpPr txBox="1"/>
          <p:nvPr/>
        </p:nvSpPr>
        <p:spPr>
          <a:xfrm>
            <a:off x="1653853" y="1930801"/>
            <a:ext cx="1144458" cy="114445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32469" y="2009419"/>
            <a:ext cx="987226" cy="987224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/>
              </a:gs>
            </a:gsLst>
            <a:lin ang="3240000" scaled="0"/>
          </a:gradFill>
          <a:ln w="9525" cap="flat">
            <a:noFill/>
            <a:miter/>
          </a:ln>
          <a:effectLst>
            <a:outerShdw blurRad="254000" dist="190500" dir="2700000" sx="105000" sy="105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995091" y="2272006"/>
            <a:ext cx="461982" cy="462050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523771" y="1930801"/>
            <a:ext cx="1144458" cy="114445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602387" y="2009419"/>
            <a:ext cx="987226" cy="987224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/>
              </a:gs>
            </a:gsLst>
            <a:lin ang="3240000" scaled="0"/>
          </a:gradFill>
          <a:ln w="9525" cap="flat">
            <a:noFill/>
            <a:miter/>
          </a:ln>
          <a:effectLst>
            <a:outerShdw blurRad="254000" dist="190500" dir="2700000" sx="105000" sy="105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5893708" y="2272006"/>
            <a:ext cx="404585" cy="462050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393689" y="1930801"/>
            <a:ext cx="1144458" cy="114445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472305" y="2009419"/>
            <a:ext cx="987226" cy="987224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/>
              </a:gs>
            </a:gsLst>
            <a:lin ang="3240000" scaled="0"/>
          </a:gradFill>
          <a:ln w="9525" cap="flat">
            <a:noFill/>
            <a:miter/>
          </a:ln>
          <a:effectLst>
            <a:outerShdw blurRad="254000" dist="190500" dir="2700000" sx="105000" sy="105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734893" y="2293580"/>
            <a:ext cx="462050" cy="418902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168400" y="3204029"/>
            <a:ext cx="2108200" cy="1925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More fractional bits → higher precision, smaller range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5041900" y="3204029"/>
            <a:ext cx="2108200" cy="1925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More integer bits → larger range, lower precision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915400" y="3204029"/>
            <a:ext cx="2108200" cy="1925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Balance depends on algorithm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Precision vs. Range Trade-off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06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Fixed-Point Arithmetic Examples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590569" y="2342147"/>
            <a:ext cx="1780674" cy="1788695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3443434" y="2342147"/>
            <a:ext cx="7098630" cy="1788695"/>
          </a:xfrm>
          <a:prstGeom prst="round2Diag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654615" y="2558715"/>
            <a:ext cx="6676268" cy="135555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Straightforward, same Q format</a:t>
            </a: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10002043" y="2054065"/>
            <a:ext cx="667674" cy="670681"/>
          </a:xfrm>
          <a:prstGeom prst="round2Diag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165497" y="2231789"/>
            <a:ext cx="340767" cy="315233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776338" y="2646947"/>
            <a:ext cx="1409136" cy="1096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6000">
                <a:ln w="15875">
                  <a:solidFill>
                    <a:srgbClr val="3860F4">
                      <a:alpha val="100000"/>
                    </a:srgbClr>
                  </a:solidFill>
                </a:ln>
                <a:solidFill>
                  <a:srgbClr val="EC314E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52496" y="2184530"/>
            <a:ext cx="203957" cy="204876"/>
          </a:xfrm>
          <a:prstGeom prst="round2DiagRect">
            <a:avLst/>
          </a:prstGeom>
          <a:solidFill>
            <a:schemeClr val="accent2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Addition/Subtraction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769650" y="2264200"/>
            <a:ext cx="8640000" cy="2736000"/>
          </a:xfrm>
          <a:custGeom>
            <a:avLst/>
            <a:gdLst>
              <a:gd name="connsiteX0" fmla="*/ 264751 w 8640000"/>
              <a:gd name="connsiteY0" fmla="*/ 0 h 2736000"/>
              <a:gd name="connsiteX1" fmla="*/ 8375249 w 8640000"/>
              <a:gd name="connsiteY1" fmla="*/ 0 h 2736000"/>
              <a:gd name="connsiteX2" fmla="*/ 8640000 w 8640000"/>
              <a:gd name="connsiteY2" fmla="*/ 264751 h 2736000"/>
              <a:gd name="connsiteX3" fmla="*/ 8640000 w 8640000"/>
              <a:gd name="connsiteY3" fmla="*/ 2160000 h 2736000"/>
              <a:gd name="connsiteX4" fmla="*/ 8336189 w 8640000"/>
              <a:gd name="connsiteY4" fmla="*/ 2448000 h 2736000"/>
              <a:gd name="connsiteX5" fmla="*/ 4623811 w 8640000"/>
              <a:gd name="connsiteY5" fmla="*/ 2448000 h 2736000"/>
              <a:gd name="connsiteX6" fmla="*/ 4320000 w 8640000"/>
              <a:gd name="connsiteY6" fmla="*/ 2736000 h 2736000"/>
              <a:gd name="connsiteX7" fmla="*/ 4016189 w 8640000"/>
              <a:gd name="connsiteY7" fmla="*/ 2448000 h 2736000"/>
              <a:gd name="connsiteX8" fmla="*/ 303812 w 8640000"/>
              <a:gd name="connsiteY8" fmla="*/ 2448000 h 2736000"/>
              <a:gd name="connsiteX9" fmla="*/ 0 w 8640000"/>
              <a:gd name="connsiteY9" fmla="*/ 2160000 h 2736000"/>
              <a:gd name="connsiteX10" fmla="*/ 0 w 8640000"/>
              <a:gd name="connsiteY10" fmla="*/ 2160000 h 2736000"/>
              <a:gd name="connsiteX11" fmla="*/ 0 w 8640000"/>
              <a:gd name="connsiteY11" fmla="*/ 264751 h 2736000"/>
              <a:gd name="connsiteX12" fmla="*/ 264751 w 8640000"/>
              <a:gd name="connsiteY12" fmla="*/ 0 h 2736000"/>
            </a:gdLst>
            <a:ahLst/>
            <a:cxnLst/>
            <a:rect l="l" t="t" r="r" b="b"/>
            <a:pathLst>
              <a:path w="8640000" h="2736000">
                <a:moveTo>
                  <a:pt x="264751" y="0"/>
                </a:moveTo>
                <a:lnTo>
                  <a:pt x="8375249" y="0"/>
                </a:lnTo>
                <a:cubicBezTo>
                  <a:pt x="8521467" y="0"/>
                  <a:pt x="8640000" y="118533"/>
                  <a:pt x="8640000" y="264751"/>
                </a:cubicBezTo>
                <a:lnTo>
                  <a:pt x="8640000" y="2160000"/>
                </a:lnTo>
                <a:cubicBezTo>
                  <a:pt x="8640000" y="2319058"/>
                  <a:pt x="8503979" y="2448000"/>
                  <a:pt x="8336189" y="2448000"/>
                </a:cubicBezTo>
                <a:lnTo>
                  <a:pt x="4623811" y="2448000"/>
                </a:lnTo>
                <a:cubicBezTo>
                  <a:pt x="4456021" y="2448000"/>
                  <a:pt x="4320000" y="2576942"/>
                  <a:pt x="4320000" y="2736000"/>
                </a:cubicBezTo>
                <a:cubicBezTo>
                  <a:pt x="4320000" y="2576942"/>
                  <a:pt x="4183979" y="2448000"/>
                  <a:pt x="4016189" y="2448000"/>
                </a:cubicBezTo>
                <a:lnTo>
                  <a:pt x="303812" y="2448000"/>
                </a:lnTo>
                <a:cubicBezTo>
                  <a:pt x="136021" y="2448000"/>
                  <a:pt x="0" y="2319058"/>
                  <a:pt x="0" y="2160000"/>
                </a:cubicBezTo>
                <a:lnTo>
                  <a:pt x="0" y="2160000"/>
                </a:lnTo>
                <a:lnTo>
                  <a:pt x="0" y="264751"/>
                </a:lnTo>
                <a:cubicBezTo>
                  <a:pt x="0" y="118533"/>
                  <a:pt x="118533" y="0"/>
                  <a:pt x="264751" y="0"/>
                </a:cubicBez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accent1"/>
            </a:solidFill>
            <a:miter/>
          </a:ln>
          <a:effectLst>
            <a:outerShdw blurRad="317500" dist="1905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309650" y="2552450"/>
            <a:ext cx="7560000" cy="17362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GB" altLang="zh-CN" sz="2800" dirty="0"/>
              <a:t>Will you convert Q1.2.13 to Q1.3.12??</a:t>
            </a:r>
            <a:br>
              <a:rPr kumimoji="1" lang="en-GB" altLang="zh-CN" sz="2800" dirty="0"/>
            </a:br>
            <a:r>
              <a:rPr kumimoji="1" lang="en-GB" altLang="zh-CN" sz="2800" dirty="0"/>
              <a:t>Or</a:t>
            </a:r>
            <a:br>
              <a:rPr kumimoji="1" lang="en-GB" altLang="zh-CN" sz="2800" dirty="0"/>
            </a:br>
            <a:r>
              <a:rPr kumimoji="1" lang="en-GB" altLang="zh-CN" sz="2800" dirty="0"/>
              <a:t>Will you convert Q1.3.12 to Q1.2.13??</a:t>
            </a:r>
            <a:endParaRPr kumimoji="1" lang="zh-CN" altLang="en-US" sz="2800" dirty="0"/>
          </a:p>
        </p:txBody>
      </p:sp>
      <p:sp>
        <p:nvSpPr>
          <p:cNvPr id="5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How to add Q1.2.13 and Q1.3.12??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1510739"/>
            <a:ext cx="12192000" cy="382763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标题 1"/>
          <p:cNvCxnSpPr/>
          <p:nvPr/>
        </p:nvCxnSpPr>
        <p:spPr>
          <a:xfrm>
            <a:off x="5651212" y="4886551"/>
            <a:ext cx="889576" cy="0"/>
          </a:xfrm>
          <a:prstGeom prst="line">
            <a:avLst/>
          </a:prstGeom>
          <a:noFill/>
          <a:ln w="12700" cap="rnd">
            <a:solidFill>
              <a:schemeClr val="bg1"/>
            </a:solidFill>
            <a:miter/>
          </a:ln>
        </p:spPr>
      </p:cxnSp>
      <p:sp>
        <p:nvSpPr>
          <p:cNvPr id="5" name="标题 1"/>
          <p:cNvSpPr txBox="1"/>
          <p:nvPr/>
        </p:nvSpPr>
        <p:spPr>
          <a:xfrm>
            <a:off x="2822762" y="1923869"/>
            <a:ext cx="6546476" cy="271420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Q1.m.n × Q1.m.n = Q2.2m.2n → need to re- scale</a:t>
            </a: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Multiplication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689650" y="3934120"/>
            <a:ext cx="10800000" cy="2160000"/>
          </a:xfrm>
          <a:prstGeom prst="round1Rect">
            <a:avLst>
              <a:gd name="adj" fmla="val 30000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464" t="40355" r="464" b="20173"/>
          <a:stretch>
            <a:fillRect/>
          </a:stretch>
        </p:blipFill>
        <p:spPr>
          <a:xfrm>
            <a:off x="689650" y="1414120"/>
            <a:ext cx="10800000" cy="2520000"/>
          </a:xfrm>
          <a:custGeom>
            <a:avLst/>
            <a:gdLst/>
            <a:ahLst/>
            <a:cxnLst/>
            <a:rect l="l" t="t" r="r" b="b"/>
            <a:pathLst>
              <a:path w="10800000" h="2520000">
                <a:moveTo>
                  <a:pt x="0" y="0"/>
                </a:moveTo>
                <a:lnTo>
                  <a:pt x="10044000" y="0"/>
                </a:lnTo>
                <a:cubicBezTo>
                  <a:pt x="10461527" y="0"/>
                  <a:pt x="10800000" y="338473"/>
                  <a:pt x="10800000" y="756000"/>
                </a:cubicBezTo>
                <a:lnTo>
                  <a:pt x="10800000" y="2520000"/>
                </a:lnTo>
                <a:lnTo>
                  <a:pt x="0" y="252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>
            <a:off x="1049650" y="4499778"/>
            <a:ext cx="10080000" cy="115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Expensive, often replaced with reciprocal + multiply</a:t>
            </a:r>
            <a:endParaRPr kumimoji="1" lang="zh-CN" altLang="en-US"/>
          </a:p>
        </p:txBody>
      </p:sp>
      <p:cxnSp>
        <p:nvCxnSpPr>
          <p:cNvPr id="6" name="标题 1"/>
          <p:cNvCxnSpPr/>
          <p:nvPr/>
        </p:nvCxnSpPr>
        <p:spPr>
          <a:xfrm>
            <a:off x="1130835" y="4265816"/>
            <a:ext cx="720000" cy="0"/>
          </a:xfrm>
          <a:prstGeom prst="line">
            <a:avLst/>
          </a:prstGeom>
          <a:noFill/>
          <a:ln w="88900" cap="rnd">
            <a:solidFill>
              <a:schemeClr val="accent1"/>
            </a:solidFill>
            <a:miter/>
          </a:ln>
        </p:spPr>
      </p:cxnSp>
      <p:sp>
        <p:nvSpPr>
          <p:cNvPr id="7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Division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l="-184" r="-184"/>
            </a:stretch>
          </a:blip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711200" y="3918857"/>
            <a:ext cx="2583543" cy="957943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99571" y="1357174"/>
            <a:ext cx="6020758" cy="20718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/>
            <a:r>
              <a:rPr kumimoji="1" lang="en-US" altLang="zh-CN" sz="29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Understanding Precision and Range in Fixed-Point Representation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40921" y="4078560"/>
            <a:ext cx="2324100" cy="63853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3913146" y="3350724"/>
            <a:ext cx="76027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Integer Bits and Range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473707" y="3354776"/>
            <a:ext cx="432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82170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2.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473707" y="2244372"/>
            <a:ext cx="432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82170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916200" y="2240320"/>
            <a:ext cx="76027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Fractional Bits and Precision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6200000">
            <a:off x="669725" y="440543"/>
            <a:ext cx="2520000" cy="2520000"/>
          </a:xfrm>
          <a:prstGeom prst="teardrop">
            <a:avLst/>
          </a:prstGeom>
          <a:solidFill>
            <a:schemeClr val="accent1"/>
          </a:solidFill>
          <a:ln w="462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58682" y="1312602"/>
            <a:ext cx="2331043" cy="553998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Contents</a:t>
            </a:r>
            <a:endParaRPr kumimoji="1" lang="zh-CN" altLang="en-US"/>
          </a:p>
        </p:txBody>
      </p:sp>
      <p:cxnSp>
        <p:nvCxnSpPr>
          <p:cNvPr id="9" name="标题 1"/>
          <p:cNvCxnSpPr/>
          <p:nvPr/>
        </p:nvCxnSpPr>
        <p:spPr>
          <a:xfrm flipH="1">
            <a:off x="845207" y="1937909"/>
            <a:ext cx="2727886" cy="0"/>
          </a:xfrm>
          <a:prstGeom prst="line">
            <a:avLst/>
          </a:prstGeom>
          <a:noFill/>
          <a:ln w="12700" cap="sq">
            <a:solidFill>
              <a:schemeClr val="bg1"/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3913146" y="4461128"/>
            <a:ext cx="7602700" cy="9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Balancing Precision and Range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473707" y="4465180"/>
            <a:ext cx="432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82170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3.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l="-184" r="-184"/>
            </a:stretch>
          </a:blip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473371" y="2840338"/>
            <a:ext cx="5119058" cy="25853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3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Fractional Bits and Precision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315159" y="1432339"/>
            <a:ext cx="2277270" cy="12084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895770" y="1432339"/>
            <a:ext cx="2757871" cy="12084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415089" y="2057567"/>
            <a:ext cx="1008000" cy="1008000"/>
          </a:xfrm>
          <a:prstGeom prst="roundRect">
            <a:avLst>
              <a:gd name="adj" fmla="val 15278"/>
            </a:avLst>
          </a:prstGeom>
          <a:solidFill>
            <a:schemeClr val="bg1"/>
          </a:solidFill>
          <a:ln w="3175" cap="sq">
            <a:solidFill>
              <a:schemeClr val="accent3"/>
            </a:solidFill>
          </a:ln>
          <a:effectLst>
            <a:outerShdw blurRad="254000" sx="109000" sy="109000" algn="ctr" rotWithShape="0">
              <a:schemeClr val="accent1">
                <a:alpha val="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526183" y="2168661"/>
            <a:ext cx="785812" cy="785812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87073" y="2340111"/>
            <a:ext cx="457678" cy="44291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accent1"/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415089" y="3945344"/>
            <a:ext cx="1008000" cy="1008000"/>
          </a:xfrm>
          <a:prstGeom prst="roundRect">
            <a:avLst>
              <a:gd name="adj" fmla="val 15278"/>
            </a:avLst>
          </a:prstGeom>
          <a:solidFill>
            <a:schemeClr val="bg1"/>
          </a:solidFill>
          <a:ln w="3175" cap="sq">
            <a:solidFill>
              <a:schemeClr val="accent3"/>
            </a:solidFill>
          </a:ln>
          <a:effectLst>
            <a:outerShdw blurRad="254000" sx="109000" sy="109000" algn="ctr" rotWithShape="0">
              <a:schemeClr val="accent1">
                <a:alpha val="5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526183" y="4056438"/>
            <a:ext cx="785812" cy="785812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17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730058" y="4244579"/>
            <a:ext cx="378063" cy="409533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583978" y="2489665"/>
            <a:ext cx="3960000" cy="100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95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Increasing the number of fractional bits enhances the accuracy of numerical representation, allowing for more precise calculations, which is crucial in fields requiring detailed data.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583978" y="1878957"/>
            <a:ext cx="3960000" cy="5794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Higher Precision Explained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583978" y="4377443"/>
            <a:ext cx="3960000" cy="100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95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The Q1.2.13 format provides limited precision compared to Q1.2.29, illustrating how the additional fractional bits in Q1.2.29 capture finer details in numerical values, affecting data integrity.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7583978" y="3766734"/>
            <a:ext cx="3960000" cy="5794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Example: Q1.2.13 vs. Q1.2.29</a:t>
            </a:r>
            <a:endParaRPr kumimoji="1" lang="zh-CN" alt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alphaModFix/>
          </a:blip>
          <a:srcRect l="4235" r="32442" b="2461"/>
          <a:stretch>
            <a:fillRect/>
          </a:stretch>
        </p:blipFill>
        <p:spPr>
          <a:xfrm>
            <a:off x="584200" y="1625271"/>
            <a:ext cx="5446538" cy="4521859"/>
          </a:xfrm>
          <a:custGeom>
            <a:avLst/>
            <a:gdLst/>
            <a:ahLst/>
            <a:cxnLst/>
            <a:rect l="l" t="t" r="r" b="b"/>
            <a:pathLst>
              <a:path w="5446538" h="4521859">
                <a:moveTo>
                  <a:pt x="104487" y="0"/>
                </a:moveTo>
                <a:lnTo>
                  <a:pt x="5342051" y="0"/>
                </a:lnTo>
                <a:lnTo>
                  <a:pt x="5389280" y="32638"/>
                </a:lnTo>
                <a:cubicBezTo>
                  <a:pt x="5424657" y="68900"/>
                  <a:pt x="5446538" y="118996"/>
                  <a:pt x="5446538" y="174330"/>
                </a:cubicBezTo>
                <a:lnTo>
                  <a:pt x="5446538" y="4321478"/>
                </a:lnTo>
                <a:cubicBezTo>
                  <a:pt x="5446538" y="4432145"/>
                  <a:pt x="5359013" y="4521859"/>
                  <a:pt x="5251046" y="4521859"/>
                </a:cubicBezTo>
                <a:lnTo>
                  <a:pt x="195492" y="4521859"/>
                </a:lnTo>
                <a:cubicBezTo>
                  <a:pt x="87525" y="4521859"/>
                  <a:pt x="0" y="4432145"/>
                  <a:pt x="0" y="4321478"/>
                </a:cubicBezTo>
                <a:lnTo>
                  <a:pt x="0" y="174330"/>
                </a:lnTo>
                <a:cubicBezTo>
                  <a:pt x="0" y="118996"/>
                  <a:pt x="21881" y="68900"/>
                  <a:pt x="57258" y="32638"/>
                </a:cubicBezTo>
                <a:lnTo>
                  <a:pt x="10448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" name="标题 1"/>
          <p:cNvSpPr txBox="1"/>
          <p:nvPr/>
        </p:nvSpPr>
        <p:spPr>
          <a:xfrm>
            <a:off x="920222" y="417527"/>
            <a:ext cx="1003136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Impact of More Fractional Bits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65340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06781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标题 1"/>
          <p:cNvCxnSpPr/>
          <p:nvPr/>
        </p:nvCxnSpPr>
        <p:spPr>
          <a:xfrm>
            <a:off x="565150" y="958632"/>
            <a:ext cx="11049001" cy="0"/>
          </a:xfrm>
          <a:prstGeom prst="line">
            <a:avLst/>
          </a:prstGeom>
          <a:noFill/>
          <a:ln w="6350" cap="flat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431194" y="1943972"/>
            <a:ext cx="5040000" cy="3420000"/>
          </a:xfrm>
          <a:prstGeom prst="roundRect">
            <a:avLst>
              <a:gd name="adj" fmla="val 5592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582900" y="1900428"/>
            <a:ext cx="936000" cy="936000"/>
          </a:xfrm>
          <a:custGeom>
            <a:avLst/>
            <a:gdLst>
              <a:gd name="connsiteX0" fmla="*/ 2120077 w 2455259"/>
              <a:gd name="connsiteY0" fmla="*/ 0 h 2448912"/>
              <a:gd name="connsiteX1" fmla="*/ 117902 w 2455259"/>
              <a:gd name="connsiteY1" fmla="*/ 0 h 2448912"/>
              <a:gd name="connsiteX2" fmla="*/ 34736 w 2455259"/>
              <a:gd name="connsiteY2" fmla="*/ 200742 h 2448912"/>
              <a:gd name="connsiteX3" fmla="*/ 1865113 w 2455259"/>
              <a:gd name="connsiteY3" fmla="*/ 2031084 h 2448912"/>
              <a:gd name="connsiteX4" fmla="*/ 1881653 w 2455259"/>
              <a:gd name="connsiteY4" fmla="*/ 2043668 h 2448912"/>
              <a:gd name="connsiteX5" fmla="*/ 1891181 w 2455259"/>
              <a:gd name="connsiteY5" fmla="*/ 2050860 h 2448912"/>
              <a:gd name="connsiteX6" fmla="*/ 2254517 w 2455259"/>
              <a:gd name="connsiteY6" fmla="*/ 2414231 h 2448912"/>
              <a:gd name="connsiteX7" fmla="*/ 2455259 w 2455259"/>
              <a:gd name="connsiteY7" fmla="*/ 2331101 h 2448912"/>
              <a:gd name="connsiteX8" fmla="*/ 2455259 w 2455259"/>
              <a:gd name="connsiteY8" fmla="*/ 335254 h 2448912"/>
              <a:gd name="connsiteX9" fmla="*/ 2120077 w 2455259"/>
              <a:gd name="connsiteY9" fmla="*/ 0 h 2448912"/>
            </a:gdLst>
            <a:ahLst/>
            <a:cxnLst/>
            <a:rect l="l" t="t" r="r" b="b"/>
            <a:pathLst>
              <a:path w="2455259" h="2448912">
                <a:moveTo>
                  <a:pt x="2120077" y="0"/>
                </a:moveTo>
                <a:lnTo>
                  <a:pt x="117902" y="0"/>
                </a:lnTo>
                <a:cubicBezTo>
                  <a:pt x="13126" y="0"/>
                  <a:pt x="-39477" y="126673"/>
                  <a:pt x="34736" y="200742"/>
                </a:cubicBezTo>
                <a:lnTo>
                  <a:pt x="1865113" y="2031084"/>
                </a:lnTo>
                <a:cubicBezTo>
                  <a:pt x="1870014" y="2036028"/>
                  <a:pt x="1875584" y="2040263"/>
                  <a:pt x="1881653" y="2043668"/>
                </a:cubicBezTo>
                <a:cubicBezTo>
                  <a:pt x="1885151" y="2045603"/>
                  <a:pt x="1888362" y="2048023"/>
                  <a:pt x="1891181" y="2050860"/>
                </a:cubicBezTo>
                <a:lnTo>
                  <a:pt x="2254517" y="2414231"/>
                </a:lnTo>
                <a:cubicBezTo>
                  <a:pt x="2328586" y="2488336"/>
                  <a:pt x="2455259" y="2435805"/>
                  <a:pt x="2455259" y="2331101"/>
                </a:cubicBezTo>
                <a:lnTo>
                  <a:pt x="2455259" y="335254"/>
                </a:lnTo>
                <a:cubicBezTo>
                  <a:pt x="2455259" y="150126"/>
                  <a:pt x="2305204" y="40"/>
                  <a:pt x="2120077" y="0"/>
                </a:cubicBez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blurRad="317500" dist="190500" dir="810000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942900" y="2075799"/>
            <a:ext cx="5760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7943" y="1943972"/>
            <a:ext cx="5040000" cy="3420000"/>
          </a:xfrm>
          <a:prstGeom prst="roundRect">
            <a:avLst>
              <a:gd name="adj" fmla="val 5592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819649" y="1900428"/>
            <a:ext cx="936000" cy="936000"/>
          </a:xfrm>
          <a:custGeom>
            <a:avLst/>
            <a:gdLst>
              <a:gd name="connsiteX0" fmla="*/ 2120077 w 2455259"/>
              <a:gd name="connsiteY0" fmla="*/ 0 h 2448912"/>
              <a:gd name="connsiteX1" fmla="*/ 117902 w 2455259"/>
              <a:gd name="connsiteY1" fmla="*/ 0 h 2448912"/>
              <a:gd name="connsiteX2" fmla="*/ 34736 w 2455259"/>
              <a:gd name="connsiteY2" fmla="*/ 200742 h 2448912"/>
              <a:gd name="connsiteX3" fmla="*/ 1865113 w 2455259"/>
              <a:gd name="connsiteY3" fmla="*/ 2031084 h 2448912"/>
              <a:gd name="connsiteX4" fmla="*/ 1881653 w 2455259"/>
              <a:gd name="connsiteY4" fmla="*/ 2043668 h 2448912"/>
              <a:gd name="connsiteX5" fmla="*/ 1891181 w 2455259"/>
              <a:gd name="connsiteY5" fmla="*/ 2050860 h 2448912"/>
              <a:gd name="connsiteX6" fmla="*/ 2254517 w 2455259"/>
              <a:gd name="connsiteY6" fmla="*/ 2414231 h 2448912"/>
              <a:gd name="connsiteX7" fmla="*/ 2455259 w 2455259"/>
              <a:gd name="connsiteY7" fmla="*/ 2331101 h 2448912"/>
              <a:gd name="connsiteX8" fmla="*/ 2455259 w 2455259"/>
              <a:gd name="connsiteY8" fmla="*/ 335254 h 2448912"/>
              <a:gd name="connsiteX9" fmla="*/ 2120077 w 2455259"/>
              <a:gd name="connsiteY9" fmla="*/ 0 h 2448912"/>
            </a:gdLst>
            <a:ahLst/>
            <a:cxnLst/>
            <a:rect l="l" t="t" r="r" b="b"/>
            <a:pathLst>
              <a:path w="2455259" h="2448912">
                <a:moveTo>
                  <a:pt x="2120077" y="0"/>
                </a:moveTo>
                <a:lnTo>
                  <a:pt x="117902" y="0"/>
                </a:lnTo>
                <a:cubicBezTo>
                  <a:pt x="13126" y="0"/>
                  <a:pt x="-39477" y="126673"/>
                  <a:pt x="34736" y="200742"/>
                </a:cubicBezTo>
                <a:lnTo>
                  <a:pt x="1865113" y="2031084"/>
                </a:lnTo>
                <a:cubicBezTo>
                  <a:pt x="1870014" y="2036028"/>
                  <a:pt x="1875584" y="2040263"/>
                  <a:pt x="1881653" y="2043668"/>
                </a:cubicBezTo>
                <a:cubicBezTo>
                  <a:pt x="1885151" y="2045603"/>
                  <a:pt x="1888362" y="2048023"/>
                  <a:pt x="1891181" y="2050860"/>
                </a:cubicBezTo>
                <a:lnTo>
                  <a:pt x="2254517" y="2414231"/>
                </a:lnTo>
                <a:cubicBezTo>
                  <a:pt x="2328586" y="2488336"/>
                  <a:pt x="2455259" y="2435805"/>
                  <a:pt x="2455259" y="2331101"/>
                </a:cubicBezTo>
                <a:lnTo>
                  <a:pt x="2455259" y="335254"/>
                </a:lnTo>
                <a:cubicBezTo>
                  <a:pt x="2455259" y="150126"/>
                  <a:pt x="2305204" y="40"/>
                  <a:pt x="2120077" y="0"/>
                </a:cubicBezTo>
                <a:close/>
              </a:path>
            </a:pathLst>
          </a:custGeom>
          <a:solidFill>
            <a:schemeClr val="accent1"/>
          </a:solidFill>
          <a:ln w="3584" cap="flat">
            <a:noFill/>
            <a:miter/>
          </a:ln>
          <a:effectLst>
            <a:outerShdw blurRad="317500" dist="190500" dir="8100000" algn="tr" rotWithShape="0">
              <a:schemeClr val="tx1">
                <a:lumMod val="50000"/>
                <a:lumOff val="50000"/>
                <a:alpha val="3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179649" y="2075799"/>
            <a:ext cx="5760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991943" y="2359072"/>
            <a:ext cx="4189657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Range Limitations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91943" y="3045556"/>
            <a:ext cx="4392000" cy="19438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As more fractional bits are added, the range of representable values can decrease, leading to potential underflow or overflow issues that limit practical data use in various applications.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755194" y="2359072"/>
            <a:ext cx="4192206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Real-world Applications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755194" y="3045556"/>
            <a:ext cx="4392000" cy="19438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 engineering and computer graphics, the balance between precision and range is essential, influencing how data is processed and displayed in tools such as CAD software and gaming engines.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20222" y="417527"/>
            <a:ext cx="1003136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Trade-offs in Precision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65340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06781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>
            <a:off x="565150" y="958632"/>
            <a:ext cx="11049001" cy="0"/>
          </a:xfrm>
          <a:prstGeom prst="line">
            <a:avLst/>
          </a:prstGeom>
          <a:noFill/>
          <a:ln w="6350" cap="flat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l="-184" r="-184"/>
            </a:stretch>
          </a:blip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473371" y="2840338"/>
            <a:ext cx="5119058" cy="25853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3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Integer Bits and Range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315159" y="1432339"/>
            <a:ext cx="2277270" cy="12084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895770" y="1432339"/>
            <a:ext cx="2757871" cy="12084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61068" y="1780673"/>
            <a:ext cx="5134003" cy="3609474"/>
          </a:xfrm>
          <a:prstGeom prst="roundRect">
            <a:avLst>
              <a:gd name="adj" fmla="val 422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1068" y="1780673"/>
            <a:ext cx="795324" cy="842211"/>
          </a:xfrm>
          <a:prstGeom prst="diagStrip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 flipV="1">
            <a:off x="4999747" y="4547936"/>
            <a:ext cx="795324" cy="842211"/>
          </a:xfrm>
          <a:prstGeom prst="diagStrip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68326" y="3160296"/>
            <a:ext cx="4594132" cy="17084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Increasing the number of integer bits allows for a greater range of values, enabling computers to accurately represent larger numbers without overflow, which is crucial for complex calculations.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68326" y="2589782"/>
            <a:ext cx="4594274" cy="40196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82170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Larger Range Benefits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384229" y="1780673"/>
            <a:ext cx="5134003" cy="3609474"/>
          </a:xfrm>
          <a:prstGeom prst="roundRect">
            <a:avLst>
              <a:gd name="adj" fmla="val 422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384229" y="1780673"/>
            <a:ext cx="795324" cy="842211"/>
          </a:xfrm>
          <a:prstGeom prst="diagStrip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 flipV="1">
            <a:off x="10722908" y="4547936"/>
            <a:ext cx="795324" cy="842211"/>
          </a:xfrm>
          <a:prstGeom prst="diagStrip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91487" y="3160296"/>
            <a:ext cx="4594132" cy="17084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 data representation, more integer bits can store larger integers, enhancing performance in applications like gaming and data analysis where numerical limits are often a concern.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91487" y="2589782"/>
            <a:ext cx="4598813" cy="40196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82170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Examples in Data Representation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20222" y="417527"/>
            <a:ext cx="1003136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Importance of More Integer Bits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65340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06781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>
            <a:off x="565150" y="958632"/>
            <a:ext cx="11049001" cy="0"/>
          </a:xfrm>
          <a:prstGeom prst="line">
            <a:avLst/>
          </a:prstGeom>
          <a:noFill/>
          <a:ln w="6350" cap="flat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alphaModFix/>
          </a:blip>
          <a:srcRect l="33451" r="21147"/>
          <a:stretch>
            <a:fillRect/>
          </a:stretch>
        </p:blipFill>
        <p:spPr>
          <a:xfrm>
            <a:off x="6410798" y="0"/>
            <a:ext cx="4954937" cy="6858000"/>
          </a:xfrm>
          <a:custGeom>
            <a:avLst/>
            <a:gdLst/>
            <a:ahLst/>
            <a:cxnLst/>
            <a:rect l="l" t="t" r="r" b="b"/>
            <a:pathLst>
              <a:path w="4954937" h="6858000">
                <a:moveTo>
                  <a:pt x="916808" y="0"/>
                </a:moveTo>
                <a:lnTo>
                  <a:pt x="4954937" y="0"/>
                </a:lnTo>
                <a:lnTo>
                  <a:pt x="4694472" y="125630"/>
                </a:lnTo>
                <a:cubicBezTo>
                  <a:pt x="3532956" y="756725"/>
                  <a:pt x="2741286" y="1982578"/>
                  <a:pt x="2728765" y="3395709"/>
                </a:cubicBezTo>
                <a:cubicBezTo>
                  <a:pt x="2715958" y="4840957"/>
                  <a:pt x="3521461" y="6104790"/>
                  <a:pt x="4715218" y="6743618"/>
                </a:cubicBezTo>
                <a:lnTo>
                  <a:pt x="4948967" y="6858000"/>
                </a:lnTo>
                <a:lnTo>
                  <a:pt x="916144" y="6858000"/>
                </a:lnTo>
                <a:lnTo>
                  <a:pt x="787532" y="6627233"/>
                </a:lnTo>
                <a:cubicBezTo>
                  <a:pt x="275312" y="5653959"/>
                  <a:pt x="-10142" y="4543809"/>
                  <a:pt x="276" y="3368065"/>
                </a:cubicBezTo>
                <a:cubicBezTo>
                  <a:pt x="10694" y="2192322"/>
                  <a:pt x="315776" y="1087404"/>
                  <a:pt x="845162" y="12336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6100116" y="2045138"/>
            <a:ext cx="667634" cy="66763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268839" y="2219188"/>
            <a:ext cx="330188" cy="31953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27101" y="1962433"/>
            <a:ext cx="5058164" cy="3357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Decreased Precision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27100" y="2383240"/>
            <a:ext cx="5058165" cy="14672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While more bits increase the range, they can reduce precision in some contexts, affecting applications that rely on exact numeric representation, such as financial calculations.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308320" y="4353172"/>
            <a:ext cx="251226" cy="286908"/>
          </a:xfrm>
          <a:custGeom>
            <a:avLst/>
            <a:gdLst>
              <a:gd name="connsiteX0" fmla="*/ 1449958 w 1449958"/>
              <a:gd name="connsiteY0" fmla="*/ 669913 h 1655898"/>
              <a:gd name="connsiteX1" fmla="*/ 1449586 w 1449958"/>
              <a:gd name="connsiteY1" fmla="*/ 666192 h 1655898"/>
              <a:gd name="connsiteX2" fmla="*/ 1449586 w 1449958"/>
              <a:gd name="connsiteY2" fmla="*/ 665634 h 1655898"/>
              <a:gd name="connsiteX3" fmla="*/ 1448098 w 1449958"/>
              <a:gd name="connsiteY3" fmla="*/ 658006 h 1655898"/>
              <a:gd name="connsiteX4" fmla="*/ 1445307 w 1449958"/>
              <a:gd name="connsiteY4" fmla="*/ 650379 h 1655898"/>
              <a:gd name="connsiteX5" fmla="*/ 1443633 w 1449958"/>
              <a:gd name="connsiteY5" fmla="*/ 646844 h 1655898"/>
              <a:gd name="connsiteX6" fmla="*/ 1441772 w 1449958"/>
              <a:gd name="connsiteY6" fmla="*/ 643496 h 1655898"/>
              <a:gd name="connsiteX7" fmla="*/ 1441400 w 1449958"/>
              <a:gd name="connsiteY7" fmla="*/ 643124 h 1655898"/>
              <a:gd name="connsiteX8" fmla="*/ 1439354 w 1449958"/>
              <a:gd name="connsiteY8" fmla="*/ 640147 h 1655898"/>
              <a:gd name="connsiteX9" fmla="*/ 1439168 w 1449958"/>
              <a:gd name="connsiteY9" fmla="*/ 639775 h 1655898"/>
              <a:gd name="connsiteX10" fmla="*/ 1436936 w 1449958"/>
              <a:gd name="connsiteY10" fmla="*/ 636798 h 1655898"/>
              <a:gd name="connsiteX11" fmla="*/ 1436378 w 1449958"/>
              <a:gd name="connsiteY11" fmla="*/ 636240 h 1655898"/>
              <a:gd name="connsiteX12" fmla="*/ 1433773 w 1449958"/>
              <a:gd name="connsiteY12" fmla="*/ 633450 h 1655898"/>
              <a:gd name="connsiteX13" fmla="*/ 816136 w 1449958"/>
              <a:gd name="connsiteY13" fmla="*/ 15813 h 1655898"/>
              <a:gd name="connsiteX14" fmla="*/ 813346 w 1449958"/>
              <a:gd name="connsiteY14" fmla="*/ 13208 h 1655898"/>
              <a:gd name="connsiteX15" fmla="*/ 812788 w 1449958"/>
              <a:gd name="connsiteY15" fmla="*/ 12650 h 1655898"/>
              <a:gd name="connsiteX16" fmla="*/ 809997 w 1449958"/>
              <a:gd name="connsiteY16" fmla="*/ 10418 h 1655898"/>
              <a:gd name="connsiteX17" fmla="*/ 809625 w 1449958"/>
              <a:gd name="connsiteY17" fmla="*/ 10232 h 1655898"/>
              <a:gd name="connsiteX18" fmla="*/ 806834 w 1449958"/>
              <a:gd name="connsiteY18" fmla="*/ 8372 h 1655898"/>
              <a:gd name="connsiteX19" fmla="*/ 806276 w 1449958"/>
              <a:gd name="connsiteY19" fmla="*/ 8000 h 1655898"/>
              <a:gd name="connsiteX20" fmla="*/ 802928 w 1449958"/>
              <a:gd name="connsiteY20" fmla="*/ 6139 h 1655898"/>
              <a:gd name="connsiteX21" fmla="*/ 802742 w 1449958"/>
              <a:gd name="connsiteY21" fmla="*/ 6139 h 1655898"/>
              <a:gd name="connsiteX22" fmla="*/ 799207 w 1449958"/>
              <a:gd name="connsiteY22" fmla="*/ 4465 h 1655898"/>
              <a:gd name="connsiteX23" fmla="*/ 799021 w 1449958"/>
              <a:gd name="connsiteY23" fmla="*/ 4465 h 1655898"/>
              <a:gd name="connsiteX24" fmla="*/ 791580 w 1449958"/>
              <a:gd name="connsiteY24" fmla="*/ 1860 h 1655898"/>
              <a:gd name="connsiteX25" fmla="*/ 791394 w 1449958"/>
              <a:gd name="connsiteY25" fmla="*/ 1860 h 1655898"/>
              <a:gd name="connsiteX26" fmla="*/ 783766 w 1449958"/>
              <a:gd name="connsiteY26" fmla="*/ 372 h 1655898"/>
              <a:gd name="connsiteX27" fmla="*/ 783022 w 1449958"/>
              <a:gd name="connsiteY27" fmla="*/ 372 h 1655898"/>
              <a:gd name="connsiteX28" fmla="*/ 779301 w 1449958"/>
              <a:gd name="connsiteY28" fmla="*/ 0 h 1655898"/>
              <a:gd name="connsiteX29" fmla="*/ 261751 w 1449958"/>
              <a:gd name="connsiteY29" fmla="*/ 0 h 1655898"/>
              <a:gd name="connsiteX30" fmla="*/ 0 w 1449958"/>
              <a:gd name="connsiteY30" fmla="*/ 261751 h 1655898"/>
              <a:gd name="connsiteX31" fmla="*/ 0 w 1449958"/>
              <a:gd name="connsiteY31" fmla="*/ 1394148 h 1655898"/>
              <a:gd name="connsiteX32" fmla="*/ 261751 w 1449958"/>
              <a:gd name="connsiteY32" fmla="*/ 1655899 h 1655898"/>
              <a:gd name="connsiteX33" fmla="*/ 1188207 w 1449958"/>
              <a:gd name="connsiteY33" fmla="*/ 1655899 h 1655898"/>
              <a:gd name="connsiteX34" fmla="*/ 1449958 w 1449958"/>
              <a:gd name="connsiteY34" fmla="*/ 1394148 h 1655898"/>
              <a:gd name="connsiteX35" fmla="*/ 1449958 w 1449958"/>
              <a:gd name="connsiteY35" fmla="*/ 672889 h 1655898"/>
              <a:gd name="connsiteX36" fmla="*/ 1449958 w 1449958"/>
              <a:gd name="connsiteY36" fmla="*/ 669913 h 1655898"/>
              <a:gd name="connsiteX37" fmla="*/ 832321 w 1449958"/>
              <a:gd name="connsiteY37" fmla="*/ 466948 h 1655898"/>
              <a:gd name="connsiteX38" fmla="*/ 832321 w 1449958"/>
              <a:gd name="connsiteY38" fmla="*/ 189942 h 1655898"/>
              <a:gd name="connsiteX39" fmla="*/ 1259458 w 1449958"/>
              <a:gd name="connsiteY39" fmla="*/ 617079 h 1655898"/>
              <a:gd name="connsiteX40" fmla="*/ 982452 w 1449958"/>
              <a:gd name="connsiteY40" fmla="*/ 617079 h 1655898"/>
              <a:gd name="connsiteX41" fmla="*/ 832321 w 1449958"/>
              <a:gd name="connsiteY41" fmla="*/ 466948 h 1655898"/>
              <a:gd name="connsiteX42" fmla="*/ 1338337 w 1449958"/>
              <a:gd name="connsiteY42" fmla="*/ 1393403 h 1655898"/>
              <a:gd name="connsiteX43" fmla="*/ 1188207 w 1449958"/>
              <a:gd name="connsiteY43" fmla="*/ 1543534 h 1655898"/>
              <a:gd name="connsiteX44" fmla="*/ 261751 w 1449958"/>
              <a:gd name="connsiteY44" fmla="*/ 1543534 h 1655898"/>
              <a:gd name="connsiteX45" fmla="*/ 111621 w 1449958"/>
              <a:gd name="connsiteY45" fmla="*/ 1393403 h 1655898"/>
              <a:gd name="connsiteX46" fmla="*/ 111621 w 1449958"/>
              <a:gd name="connsiteY46" fmla="*/ 261007 h 1655898"/>
              <a:gd name="connsiteX47" fmla="*/ 261751 w 1449958"/>
              <a:gd name="connsiteY47" fmla="*/ 110877 h 1655898"/>
              <a:gd name="connsiteX48" fmla="*/ 720700 w 1449958"/>
              <a:gd name="connsiteY48" fmla="*/ 110877 h 1655898"/>
              <a:gd name="connsiteX49" fmla="*/ 720700 w 1449958"/>
              <a:gd name="connsiteY49" fmla="*/ 466948 h 1655898"/>
              <a:gd name="connsiteX50" fmla="*/ 982452 w 1449958"/>
              <a:gd name="connsiteY50" fmla="*/ 728700 h 1655898"/>
              <a:gd name="connsiteX51" fmla="*/ 1338523 w 1449958"/>
              <a:gd name="connsiteY51" fmla="*/ 728700 h 1655898"/>
              <a:gd name="connsiteX52" fmla="*/ 1338523 w 1449958"/>
              <a:gd name="connsiteY52" fmla="*/ 1393403 h 1655898"/>
            </a:gdLst>
            <a:ahLst/>
            <a:cxnLst/>
            <a:rect l="l" t="t" r="r" b="b"/>
            <a:pathLst>
              <a:path w="1449958" h="1655898">
                <a:moveTo>
                  <a:pt x="1449958" y="669913"/>
                </a:moveTo>
                <a:cubicBezTo>
                  <a:pt x="1449958" y="668610"/>
                  <a:pt x="1449772" y="667308"/>
                  <a:pt x="1449586" y="666192"/>
                </a:cubicBezTo>
                <a:lnTo>
                  <a:pt x="1449586" y="665634"/>
                </a:lnTo>
                <a:cubicBezTo>
                  <a:pt x="1449214" y="663029"/>
                  <a:pt x="1448656" y="660425"/>
                  <a:pt x="1448098" y="658006"/>
                </a:cubicBezTo>
                <a:cubicBezTo>
                  <a:pt x="1447354" y="655402"/>
                  <a:pt x="1446423" y="652797"/>
                  <a:pt x="1445307" y="650379"/>
                </a:cubicBezTo>
                <a:cubicBezTo>
                  <a:pt x="1444749" y="649077"/>
                  <a:pt x="1444191" y="647960"/>
                  <a:pt x="1443633" y="646844"/>
                </a:cubicBezTo>
                <a:cubicBezTo>
                  <a:pt x="1443075" y="645728"/>
                  <a:pt x="1442331" y="644612"/>
                  <a:pt x="1441772" y="643496"/>
                </a:cubicBezTo>
                <a:cubicBezTo>
                  <a:pt x="1441587" y="643310"/>
                  <a:pt x="1441587" y="643124"/>
                  <a:pt x="1441400" y="643124"/>
                </a:cubicBezTo>
                <a:cubicBezTo>
                  <a:pt x="1440842" y="642193"/>
                  <a:pt x="1440098" y="641077"/>
                  <a:pt x="1439354" y="640147"/>
                </a:cubicBezTo>
                <a:cubicBezTo>
                  <a:pt x="1439354" y="640147"/>
                  <a:pt x="1439168" y="639961"/>
                  <a:pt x="1439168" y="639775"/>
                </a:cubicBezTo>
                <a:cubicBezTo>
                  <a:pt x="1438424" y="638845"/>
                  <a:pt x="1437680" y="637729"/>
                  <a:pt x="1436936" y="636798"/>
                </a:cubicBezTo>
                <a:lnTo>
                  <a:pt x="1436378" y="636240"/>
                </a:lnTo>
                <a:cubicBezTo>
                  <a:pt x="1435633" y="635310"/>
                  <a:pt x="1434703" y="634380"/>
                  <a:pt x="1433773" y="633450"/>
                </a:cubicBezTo>
                <a:lnTo>
                  <a:pt x="816136" y="15813"/>
                </a:lnTo>
                <a:cubicBezTo>
                  <a:pt x="815206" y="14883"/>
                  <a:pt x="814276" y="14139"/>
                  <a:pt x="813346" y="13208"/>
                </a:cubicBezTo>
                <a:lnTo>
                  <a:pt x="812788" y="12650"/>
                </a:lnTo>
                <a:lnTo>
                  <a:pt x="809997" y="10418"/>
                </a:lnTo>
                <a:cubicBezTo>
                  <a:pt x="809811" y="10418"/>
                  <a:pt x="809811" y="10232"/>
                  <a:pt x="809625" y="10232"/>
                </a:cubicBezTo>
                <a:cubicBezTo>
                  <a:pt x="808695" y="9488"/>
                  <a:pt x="807765" y="8930"/>
                  <a:pt x="806834" y="8372"/>
                </a:cubicBezTo>
                <a:cubicBezTo>
                  <a:pt x="806649" y="8186"/>
                  <a:pt x="806462" y="8186"/>
                  <a:pt x="806276" y="8000"/>
                </a:cubicBezTo>
                <a:cubicBezTo>
                  <a:pt x="805160" y="7255"/>
                  <a:pt x="804044" y="6697"/>
                  <a:pt x="802928" y="6139"/>
                </a:cubicBezTo>
                <a:lnTo>
                  <a:pt x="802742" y="6139"/>
                </a:lnTo>
                <a:cubicBezTo>
                  <a:pt x="801626" y="5581"/>
                  <a:pt x="800509" y="5023"/>
                  <a:pt x="799207" y="4465"/>
                </a:cubicBezTo>
                <a:lnTo>
                  <a:pt x="799021" y="4465"/>
                </a:lnTo>
                <a:cubicBezTo>
                  <a:pt x="796603" y="3349"/>
                  <a:pt x="793998" y="2418"/>
                  <a:pt x="791580" y="1860"/>
                </a:cubicBezTo>
                <a:lnTo>
                  <a:pt x="791394" y="1860"/>
                </a:lnTo>
                <a:cubicBezTo>
                  <a:pt x="788975" y="1116"/>
                  <a:pt x="786371" y="744"/>
                  <a:pt x="783766" y="372"/>
                </a:cubicBezTo>
                <a:lnTo>
                  <a:pt x="783022" y="372"/>
                </a:lnTo>
                <a:cubicBezTo>
                  <a:pt x="781720" y="186"/>
                  <a:pt x="780604" y="186"/>
                  <a:pt x="779301" y="0"/>
                </a:cubicBezTo>
                <a:lnTo>
                  <a:pt x="261751" y="0"/>
                </a:lnTo>
                <a:cubicBezTo>
                  <a:pt x="117388" y="0"/>
                  <a:pt x="0" y="117388"/>
                  <a:pt x="0" y="261751"/>
                </a:cubicBezTo>
                <a:lnTo>
                  <a:pt x="0" y="1394148"/>
                </a:lnTo>
                <a:cubicBezTo>
                  <a:pt x="0" y="1538511"/>
                  <a:pt x="117388" y="1655899"/>
                  <a:pt x="261751" y="1655899"/>
                </a:cubicBezTo>
                <a:lnTo>
                  <a:pt x="1188207" y="1655899"/>
                </a:lnTo>
                <a:cubicBezTo>
                  <a:pt x="1332570" y="1655899"/>
                  <a:pt x="1449958" y="1538511"/>
                  <a:pt x="1449958" y="1394148"/>
                </a:cubicBezTo>
                <a:lnTo>
                  <a:pt x="1449958" y="672889"/>
                </a:lnTo>
                <a:lnTo>
                  <a:pt x="1449958" y="669913"/>
                </a:lnTo>
                <a:close/>
                <a:moveTo>
                  <a:pt x="832321" y="466948"/>
                </a:moveTo>
                <a:lnTo>
                  <a:pt x="832321" y="189942"/>
                </a:lnTo>
                <a:lnTo>
                  <a:pt x="1259458" y="617079"/>
                </a:lnTo>
                <a:lnTo>
                  <a:pt x="982452" y="617079"/>
                </a:lnTo>
                <a:cubicBezTo>
                  <a:pt x="899666" y="617079"/>
                  <a:pt x="832321" y="549734"/>
                  <a:pt x="832321" y="466948"/>
                </a:cubicBezTo>
                <a:close/>
                <a:moveTo>
                  <a:pt x="1338337" y="1393403"/>
                </a:moveTo>
                <a:cubicBezTo>
                  <a:pt x="1338337" y="1476189"/>
                  <a:pt x="1270992" y="1543534"/>
                  <a:pt x="1188207" y="1543534"/>
                </a:cubicBezTo>
                <a:lnTo>
                  <a:pt x="261751" y="1543534"/>
                </a:lnTo>
                <a:cubicBezTo>
                  <a:pt x="178966" y="1543534"/>
                  <a:pt x="111621" y="1476189"/>
                  <a:pt x="111621" y="1393403"/>
                </a:cubicBezTo>
                <a:lnTo>
                  <a:pt x="111621" y="261007"/>
                </a:lnTo>
                <a:cubicBezTo>
                  <a:pt x="111621" y="178222"/>
                  <a:pt x="178966" y="110877"/>
                  <a:pt x="261751" y="110877"/>
                </a:cubicBezTo>
                <a:lnTo>
                  <a:pt x="720700" y="110877"/>
                </a:lnTo>
                <a:lnTo>
                  <a:pt x="720700" y="466948"/>
                </a:lnTo>
                <a:cubicBezTo>
                  <a:pt x="720700" y="611312"/>
                  <a:pt x="838088" y="728700"/>
                  <a:pt x="982452" y="728700"/>
                </a:cubicBezTo>
                <a:lnTo>
                  <a:pt x="1338523" y="728700"/>
                </a:lnTo>
                <a:lnTo>
                  <a:pt x="1338523" y="1393403"/>
                </a:ln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27100" y="4082898"/>
            <a:ext cx="5054600" cy="302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endParaRPr kumimoji="1" lang="zh-CN" altLang="en-US" dirty="0"/>
          </a:p>
        </p:txBody>
      </p:sp>
      <p:sp>
        <p:nvSpPr>
          <p:cNvPr id="11" name="标题 1"/>
          <p:cNvSpPr txBox="1"/>
          <p:nvPr/>
        </p:nvSpPr>
        <p:spPr>
          <a:xfrm>
            <a:off x="927100" y="4500911"/>
            <a:ext cx="5041900" cy="14672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400" dirty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920222" y="417527"/>
            <a:ext cx="1003136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Consequences of Increasing Integer Bits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65340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06781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标题 1"/>
          <p:cNvCxnSpPr/>
          <p:nvPr/>
        </p:nvCxnSpPr>
        <p:spPr>
          <a:xfrm>
            <a:off x="565150" y="958632"/>
            <a:ext cx="11049001" cy="0"/>
          </a:xfrm>
          <a:prstGeom prst="line">
            <a:avLst/>
          </a:prstGeom>
          <a:noFill/>
          <a:ln w="6350" cap="flat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l="-184" r="-184"/>
            </a:stretch>
          </a:blip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标题 1"/>
          <p:cNvSpPr txBox="1"/>
          <p:nvPr/>
        </p:nvSpPr>
        <p:spPr>
          <a:xfrm>
            <a:off x="6473371" y="2840338"/>
            <a:ext cx="5119058" cy="25853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3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Balancing Precision and Range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315159" y="1432339"/>
            <a:ext cx="2277270" cy="12084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895770" y="1432339"/>
            <a:ext cx="2757871" cy="12084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2122126" y="1923633"/>
            <a:ext cx="1767840" cy="1524000"/>
          </a:xfrm>
          <a:prstGeom prst="hexagon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762000" dist="254000" dir="5400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517400" y="2160760"/>
            <a:ext cx="294658" cy="25401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788745" y="1652203"/>
            <a:ext cx="543206" cy="468280"/>
          </a:xfrm>
          <a:prstGeom prst="hexagon">
            <a:avLst/>
          </a:prstGeom>
          <a:solidFill>
            <a:schemeClr val="bg2">
              <a:alpha val="70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122126" y="3807511"/>
            <a:ext cx="1767840" cy="1524000"/>
          </a:xfrm>
          <a:prstGeom prst="hexagon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762000" dist="254000" dir="5400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184622" y="4044638"/>
            <a:ext cx="294658" cy="254016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675480" y="3536081"/>
            <a:ext cx="543206" cy="468280"/>
          </a:xfrm>
          <a:prstGeom prst="hexagon">
            <a:avLst/>
          </a:prstGeom>
          <a:solidFill>
            <a:schemeClr val="bg2">
              <a:alpha val="70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标题 1"/>
          <p:cNvCxnSpPr/>
          <p:nvPr/>
        </p:nvCxnSpPr>
        <p:spPr>
          <a:xfrm>
            <a:off x="4777647" y="3556000"/>
            <a:ext cx="5807803" cy="0"/>
          </a:xfrm>
          <a:prstGeom prst="line">
            <a:avLst/>
          </a:prstGeom>
          <a:noFill/>
          <a:ln w="6350" cap="sq">
            <a:solidFill>
              <a:schemeClr val="tx1">
                <a:alpha val="20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2348142" y="5760323"/>
            <a:ext cx="1315808" cy="1134318"/>
          </a:xfrm>
          <a:prstGeom prst="hexagon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848883" y="6172200"/>
            <a:ext cx="314325" cy="342900"/>
          </a:xfrm>
          <a:prstGeom prst="downArrow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768122" y="1915299"/>
            <a:ext cx="5829300" cy="3683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82170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Algorithmic Dependencies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768121" y="2403641"/>
            <a:ext cx="5823679" cy="105918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29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Algorithmic dependencies refer to how various algorithms interact with data. Understanding these relationships helps in achieving optimal performance in precision and range while avoiding errors.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768122" y="3964277"/>
            <a:ext cx="5829300" cy="3683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82170C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Practical Considerations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768121" y="4439919"/>
            <a:ext cx="5823679" cy="105918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29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Practical considerations involve real- world factors such as computational resources, data variability, and context of use, influencing how to balance precision and range effectively in algorithm design.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561457" y="4309603"/>
            <a:ext cx="892943" cy="6563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EC463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561457" y="2353803"/>
            <a:ext cx="892943" cy="6563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EC463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20222" y="417527"/>
            <a:ext cx="1003136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Understanding the Balance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65340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06781" y="471527"/>
            <a:ext cx="72000" cy="36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标题 1"/>
          <p:cNvCxnSpPr/>
          <p:nvPr/>
        </p:nvCxnSpPr>
        <p:spPr>
          <a:xfrm>
            <a:off x="565150" y="958632"/>
            <a:ext cx="11049001" cy="0"/>
          </a:xfrm>
          <a:prstGeom prst="line">
            <a:avLst/>
          </a:prstGeom>
          <a:noFill/>
          <a:ln w="6350" cap="flat">
            <a:solidFill>
              <a:schemeClr val="accent1"/>
            </a:solidFill>
            <a:miter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07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Practical Example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092890" y="1478888"/>
            <a:ext cx="11099110" cy="1880921"/>
          </a:xfrm>
          <a:custGeom>
            <a:avLst/>
            <a:gdLst>
              <a:gd name="connsiteX0" fmla="*/ 777240 w 11099110"/>
              <a:gd name="connsiteY0" fmla="*/ 0 h 1554480"/>
              <a:gd name="connsiteX1" fmla="*/ 11099110 w 11099110"/>
              <a:gd name="connsiteY1" fmla="*/ 0 h 1554480"/>
              <a:gd name="connsiteX2" fmla="*/ 11099110 w 11099110"/>
              <a:gd name="connsiteY2" fmla="*/ 1554480 h 1554480"/>
              <a:gd name="connsiteX3" fmla="*/ 777240 w 11099110"/>
              <a:gd name="connsiteY3" fmla="*/ 1554480 h 1554480"/>
              <a:gd name="connsiteX4" fmla="*/ 0 w 11099110"/>
              <a:gd name="connsiteY4" fmla="*/ 777240 h 1554480"/>
              <a:gd name="connsiteX5" fmla="*/ 777240 w 11099110"/>
              <a:gd name="connsiteY5" fmla="*/ 0 h 1554480"/>
            </a:gdLst>
            <a:ahLst/>
            <a:cxnLst/>
            <a:rect l="l" t="t" r="r" b="b"/>
            <a:pathLst>
              <a:path w="11099110" h="1554480">
                <a:moveTo>
                  <a:pt x="777240" y="0"/>
                </a:moveTo>
                <a:lnTo>
                  <a:pt x="11099110" y="0"/>
                </a:lnTo>
                <a:lnTo>
                  <a:pt x="11099110" y="1554480"/>
                </a:lnTo>
                <a:lnTo>
                  <a:pt x="777240" y="1554480"/>
                </a:lnTo>
                <a:cubicBezTo>
                  <a:pt x="347982" y="1554480"/>
                  <a:pt x="0" y="1206498"/>
                  <a:pt x="0" y="777240"/>
                </a:cubicBezTo>
                <a:cubicBezTo>
                  <a:pt x="0" y="347982"/>
                  <a:pt x="347982" y="0"/>
                  <a:pt x="777240" y="0"/>
                </a:cubicBez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0800000" flipH="1">
            <a:off x="10250960" y="4157013"/>
            <a:ext cx="976290" cy="114037"/>
          </a:xfrm>
          <a:custGeom>
            <a:avLst/>
            <a:gdLst>
              <a:gd name="connsiteX0" fmla="*/ 862309 w 976290"/>
              <a:gd name="connsiteY0" fmla="*/ 114037 h 114037"/>
              <a:gd name="connsiteX1" fmla="*/ 919300 w 976290"/>
              <a:gd name="connsiteY1" fmla="*/ 114037 h 114037"/>
              <a:gd name="connsiteX2" fmla="*/ 976290 w 976290"/>
              <a:gd name="connsiteY2" fmla="*/ 57019 h 114037"/>
              <a:gd name="connsiteX3" fmla="*/ 919300 w 976290"/>
              <a:gd name="connsiteY3" fmla="*/ 0 h 114037"/>
              <a:gd name="connsiteX4" fmla="*/ 862309 w 976290"/>
              <a:gd name="connsiteY4" fmla="*/ 0 h 114037"/>
              <a:gd name="connsiteX5" fmla="*/ 919300 w 976290"/>
              <a:gd name="connsiteY5" fmla="*/ 57019 h 114037"/>
              <a:gd name="connsiteX6" fmla="*/ 738104 w 976290"/>
              <a:gd name="connsiteY6" fmla="*/ 114037 h 114037"/>
              <a:gd name="connsiteX7" fmla="*/ 795095 w 976290"/>
              <a:gd name="connsiteY7" fmla="*/ 114037 h 114037"/>
              <a:gd name="connsiteX8" fmla="*/ 852085 w 976290"/>
              <a:gd name="connsiteY8" fmla="*/ 57019 h 114037"/>
              <a:gd name="connsiteX9" fmla="*/ 795095 w 976290"/>
              <a:gd name="connsiteY9" fmla="*/ 0 h 114037"/>
              <a:gd name="connsiteX10" fmla="*/ 738104 w 976290"/>
              <a:gd name="connsiteY10" fmla="*/ 0 h 114037"/>
              <a:gd name="connsiteX11" fmla="*/ 795095 w 976290"/>
              <a:gd name="connsiteY11" fmla="*/ 57019 h 114037"/>
              <a:gd name="connsiteX12" fmla="*/ 616275 w 976290"/>
              <a:gd name="connsiteY12" fmla="*/ 114037 h 114037"/>
              <a:gd name="connsiteX13" fmla="*/ 673266 w 976290"/>
              <a:gd name="connsiteY13" fmla="*/ 114037 h 114037"/>
              <a:gd name="connsiteX14" fmla="*/ 730256 w 976290"/>
              <a:gd name="connsiteY14" fmla="*/ 57019 h 114037"/>
              <a:gd name="connsiteX15" fmla="*/ 673266 w 976290"/>
              <a:gd name="connsiteY15" fmla="*/ 0 h 114037"/>
              <a:gd name="connsiteX16" fmla="*/ 616275 w 976290"/>
              <a:gd name="connsiteY16" fmla="*/ 0 h 114037"/>
              <a:gd name="connsiteX17" fmla="*/ 673266 w 976290"/>
              <a:gd name="connsiteY17" fmla="*/ 57019 h 114037"/>
              <a:gd name="connsiteX18" fmla="*/ 492070 w 976290"/>
              <a:gd name="connsiteY18" fmla="*/ 114037 h 114037"/>
              <a:gd name="connsiteX19" fmla="*/ 549061 w 976290"/>
              <a:gd name="connsiteY19" fmla="*/ 114037 h 114037"/>
              <a:gd name="connsiteX20" fmla="*/ 606051 w 976290"/>
              <a:gd name="connsiteY20" fmla="*/ 57019 h 114037"/>
              <a:gd name="connsiteX21" fmla="*/ 549061 w 976290"/>
              <a:gd name="connsiteY21" fmla="*/ 0 h 114037"/>
              <a:gd name="connsiteX22" fmla="*/ 492070 w 976290"/>
              <a:gd name="connsiteY22" fmla="*/ 0 h 114037"/>
              <a:gd name="connsiteX23" fmla="*/ 549061 w 976290"/>
              <a:gd name="connsiteY23" fmla="*/ 57019 h 114037"/>
              <a:gd name="connsiteX24" fmla="*/ 370240 w 976290"/>
              <a:gd name="connsiteY24" fmla="*/ 114037 h 114037"/>
              <a:gd name="connsiteX25" fmla="*/ 427231 w 976290"/>
              <a:gd name="connsiteY25" fmla="*/ 114037 h 114037"/>
              <a:gd name="connsiteX26" fmla="*/ 484221 w 976290"/>
              <a:gd name="connsiteY26" fmla="*/ 57019 h 114037"/>
              <a:gd name="connsiteX27" fmla="*/ 427231 w 976290"/>
              <a:gd name="connsiteY27" fmla="*/ 0 h 114037"/>
              <a:gd name="connsiteX28" fmla="*/ 370240 w 976290"/>
              <a:gd name="connsiteY28" fmla="*/ 0 h 114037"/>
              <a:gd name="connsiteX29" fmla="*/ 427231 w 976290"/>
              <a:gd name="connsiteY29" fmla="*/ 57019 h 114037"/>
              <a:gd name="connsiteX30" fmla="*/ 246035 w 976290"/>
              <a:gd name="connsiteY30" fmla="*/ 114037 h 114037"/>
              <a:gd name="connsiteX31" fmla="*/ 303026 w 976290"/>
              <a:gd name="connsiteY31" fmla="*/ 114037 h 114037"/>
              <a:gd name="connsiteX32" fmla="*/ 360016 w 976290"/>
              <a:gd name="connsiteY32" fmla="*/ 57019 h 114037"/>
              <a:gd name="connsiteX33" fmla="*/ 303026 w 976290"/>
              <a:gd name="connsiteY33" fmla="*/ 0 h 114037"/>
              <a:gd name="connsiteX34" fmla="*/ 246035 w 976290"/>
              <a:gd name="connsiteY34" fmla="*/ 0 h 114037"/>
              <a:gd name="connsiteX35" fmla="*/ 303026 w 976290"/>
              <a:gd name="connsiteY35" fmla="*/ 57019 h 114037"/>
              <a:gd name="connsiteX36" fmla="*/ 124205 w 976290"/>
              <a:gd name="connsiteY36" fmla="*/ 114037 h 114037"/>
              <a:gd name="connsiteX37" fmla="*/ 181196 w 976290"/>
              <a:gd name="connsiteY37" fmla="*/ 114037 h 114037"/>
              <a:gd name="connsiteX38" fmla="*/ 238186 w 976290"/>
              <a:gd name="connsiteY38" fmla="*/ 57019 h 114037"/>
              <a:gd name="connsiteX39" fmla="*/ 181196 w 976290"/>
              <a:gd name="connsiteY39" fmla="*/ 0 h 114037"/>
              <a:gd name="connsiteX40" fmla="*/ 124205 w 976290"/>
              <a:gd name="connsiteY40" fmla="*/ 0 h 114037"/>
              <a:gd name="connsiteX41" fmla="*/ 181196 w 976290"/>
              <a:gd name="connsiteY41" fmla="*/ 57019 h 114037"/>
              <a:gd name="connsiteX42" fmla="*/ 0 w 976290"/>
              <a:gd name="connsiteY42" fmla="*/ 114037 h 114037"/>
              <a:gd name="connsiteX43" fmla="*/ 56991 w 976290"/>
              <a:gd name="connsiteY43" fmla="*/ 114037 h 114037"/>
              <a:gd name="connsiteX44" fmla="*/ 113981 w 976290"/>
              <a:gd name="connsiteY44" fmla="*/ 57019 h 114037"/>
              <a:gd name="connsiteX45" fmla="*/ 56991 w 976290"/>
              <a:gd name="connsiteY45" fmla="*/ 0 h 114037"/>
              <a:gd name="connsiteX46" fmla="*/ 0 w 976290"/>
              <a:gd name="connsiteY46" fmla="*/ 0 h 114037"/>
              <a:gd name="connsiteX47" fmla="*/ 56991 w 976290"/>
              <a:gd name="connsiteY47" fmla="*/ 57019 h 114037"/>
            </a:gdLst>
            <a:ahLst/>
            <a:cxnLst/>
            <a:rect l="l" t="t" r="r" b="b"/>
            <a:pathLst>
              <a:path w="976290" h="114037">
                <a:moveTo>
                  <a:pt x="862309" y="114037"/>
                </a:moveTo>
                <a:lnTo>
                  <a:pt x="919300" y="114037"/>
                </a:lnTo>
                <a:lnTo>
                  <a:pt x="976290" y="57019"/>
                </a:lnTo>
                <a:lnTo>
                  <a:pt x="919300" y="0"/>
                </a:lnTo>
                <a:lnTo>
                  <a:pt x="862309" y="0"/>
                </a:lnTo>
                <a:lnTo>
                  <a:pt x="919300" y="57019"/>
                </a:lnTo>
                <a:close/>
                <a:moveTo>
                  <a:pt x="738104" y="114037"/>
                </a:moveTo>
                <a:lnTo>
                  <a:pt x="795095" y="114037"/>
                </a:lnTo>
                <a:lnTo>
                  <a:pt x="852085" y="57019"/>
                </a:lnTo>
                <a:lnTo>
                  <a:pt x="795095" y="0"/>
                </a:lnTo>
                <a:lnTo>
                  <a:pt x="738104" y="0"/>
                </a:lnTo>
                <a:lnTo>
                  <a:pt x="795095" y="57019"/>
                </a:lnTo>
                <a:close/>
                <a:moveTo>
                  <a:pt x="616275" y="114037"/>
                </a:moveTo>
                <a:lnTo>
                  <a:pt x="673266" y="114037"/>
                </a:lnTo>
                <a:lnTo>
                  <a:pt x="730256" y="57019"/>
                </a:lnTo>
                <a:lnTo>
                  <a:pt x="673266" y="0"/>
                </a:lnTo>
                <a:lnTo>
                  <a:pt x="616275" y="0"/>
                </a:lnTo>
                <a:lnTo>
                  <a:pt x="673266" y="57019"/>
                </a:lnTo>
                <a:close/>
                <a:moveTo>
                  <a:pt x="492070" y="114037"/>
                </a:moveTo>
                <a:lnTo>
                  <a:pt x="549061" y="114037"/>
                </a:lnTo>
                <a:lnTo>
                  <a:pt x="606051" y="57019"/>
                </a:lnTo>
                <a:lnTo>
                  <a:pt x="549061" y="0"/>
                </a:lnTo>
                <a:lnTo>
                  <a:pt x="492070" y="0"/>
                </a:lnTo>
                <a:lnTo>
                  <a:pt x="549061" y="57019"/>
                </a:lnTo>
                <a:close/>
                <a:moveTo>
                  <a:pt x="370240" y="114037"/>
                </a:moveTo>
                <a:lnTo>
                  <a:pt x="427231" y="114037"/>
                </a:lnTo>
                <a:lnTo>
                  <a:pt x="484221" y="57019"/>
                </a:lnTo>
                <a:lnTo>
                  <a:pt x="427231" y="0"/>
                </a:lnTo>
                <a:lnTo>
                  <a:pt x="370240" y="0"/>
                </a:lnTo>
                <a:lnTo>
                  <a:pt x="427231" y="57019"/>
                </a:lnTo>
                <a:close/>
                <a:moveTo>
                  <a:pt x="246035" y="114037"/>
                </a:moveTo>
                <a:lnTo>
                  <a:pt x="303026" y="114037"/>
                </a:lnTo>
                <a:lnTo>
                  <a:pt x="360016" y="57019"/>
                </a:lnTo>
                <a:lnTo>
                  <a:pt x="303026" y="0"/>
                </a:lnTo>
                <a:lnTo>
                  <a:pt x="246035" y="0"/>
                </a:lnTo>
                <a:lnTo>
                  <a:pt x="303026" y="57019"/>
                </a:lnTo>
                <a:close/>
                <a:moveTo>
                  <a:pt x="124205" y="114037"/>
                </a:moveTo>
                <a:lnTo>
                  <a:pt x="181196" y="114037"/>
                </a:lnTo>
                <a:lnTo>
                  <a:pt x="238186" y="57019"/>
                </a:lnTo>
                <a:lnTo>
                  <a:pt x="181196" y="0"/>
                </a:lnTo>
                <a:lnTo>
                  <a:pt x="124205" y="0"/>
                </a:lnTo>
                <a:lnTo>
                  <a:pt x="181196" y="57019"/>
                </a:lnTo>
                <a:close/>
                <a:moveTo>
                  <a:pt x="0" y="114037"/>
                </a:moveTo>
                <a:lnTo>
                  <a:pt x="56991" y="114037"/>
                </a:lnTo>
                <a:lnTo>
                  <a:pt x="113981" y="57019"/>
                </a:lnTo>
                <a:lnTo>
                  <a:pt x="56991" y="0"/>
                </a:lnTo>
                <a:lnTo>
                  <a:pt x="0" y="0"/>
                </a:lnTo>
                <a:lnTo>
                  <a:pt x="56991" y="57019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51326" y="3947891"/>
            <a:ext cx="2724156" cy="53228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51326" y="4566782"/>
            <a:ext cx="2724156" cy="10517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Coefficients max: 2.786655772180386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3954932" y="3947891"/>
            <a:ext cx="2724156" cy="53228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954932" y="4566782"/>
            <a:ext cx="2724156" cy="10517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Coefficients min:</a:t>
            </a:r>
            <a:b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</a:br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-2.9153372837924336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7088695" y="4002027"/>
            <a:ext cx="2883980" cy="424010"/>
          </a:xfrm>
          <a:prstGeom prst="roundRect">
            <a:avLst>
              <a:gd name="adj" fmla="val 50000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250618" y="3947891"/>
            <a:ext cx="2560132" cy="532282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7168606" y="4566782"/>
            <a:ext cx="2724156" cy="10517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All Coefficients absolute sum: 23.597984136187275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 rot="20700000" flipH="1">
            <a:off x="773281" y="1982539"/>
            <a:ext cx="441936" cy="227832"/>
          </a:xfrm>
          <a:prstGeom prst="triangle">
            <a:avLst>
              <a:gd name="adj" fmla="val 33815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4422872" flipV="1">
            <a:off x="427439" y="1451676"/>
            <a:ext cx="274407" cy="155613"/>
          </a:xfrm>
          <a:prstGeom prst="triangle">
            <a:avLst>
              <a:gd name="adj" fmla="val 33815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330200" dist="190500" dir="5400000" sx="90000" sy="90000" algn="t" rotWithShape="0">
              <a:schemeClr val="accent1">
                <a:lumMod val="75000"/>
                <a:alpha val="25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1295400" y="1608353"/>
            <a:ext cx="10883900" cy="1840879"/>
          </a:xfrm>
          <a:prstGeom prst="rect">
            <a:avLst/>
          </a:prstGeom>
        </p:spPr>
      </p:pic>
      <p:sp>
        <p:nvSpPr>
          <p:cNvPr id="15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Total FIR Filter Coefficients is 13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2083881" y="2481737"/>
            <a:ext cx="8221089" cy="2520000"/>
          </a:xfrm>
          <a:custGeom>
            <a:avLst/>
            <a:gdLst>
              <a:gd name="connsiteX0" fmla="*/ 518943 w 8221089"/>
              <a:gd name="connsiteY0" fmla="*/ 0 h 2520000"/>
              <a:gd name="connsiteX1" fmla="*/ 540000 w 8221089"/>
              <a:gd name="connsiteY1" fmla="*/ 0 h 2520000"/>
              <a:gd name="connsiteX2" fmla="*/ 8003235 w 8221089"/>
              <a:gd name="connsiteY2" fmla="*/ 0 h 2520000"/>
              <a:gd name="connsiteX3" fmla="*/ 8221089 w 8221089"/>
              <a:gd name="connsiteY3" fmla="*/ 217854 h 2520000"/>
              <a:gd name="connsiteX4" fmla="*/ 8221089 w 8221089"/>
              <a:gd name="connsiteY4" fmla="*/ 2302146 h 2520000"/>
              <a:gd name="connsiteX5" fmla="*/ 8003235 w 8221089"/>
              <a:gd name="connsiteY5" fmla="*/ 2520000 h 2520000"/>
              <a:gd name="connsiteX6" fmla="*/ 540000 w 8221089"/>
              <a:gd name="connsiteY6" fmla="*/ 2520000 h 2520000"/>
              <a:gd name="connsiteX7" fmla="*/ 518943 w 8221089"/>
              <a:gd name="connsiteY7" fmla="*/ 2520000 h 2520000"/>
              <a:gd name="connsiteX8" fmla="*/ 434145 w 8221089"/>
              <a:gd name="connsiteY8" fmla="*/ 2502880 h 2520000"/>
              <a:gd name="connsiteX9" fmla="*/ 412558 w 8221089"/>
              <a:gd name="connsiteY9" fmla="*/ 2488326 h 2520000"/>
              <a:gd name="connsiteX10" fmla="*/ 389041 w 8221089"/>
              <a:gd name="connsiteY10" fmla="*/ 2476201 h 2520000"/>
              <a:gd name="connsiteX11" fmla="*/ 270000 w 8221089"/>
              <a:gd name="connsiteY11" fmla="*/ 2263543 h 2520000"/>
              <a:gd name="connsiteX12" fmla="*/ 270000 w 8221089"/>
              <a:gd name="connsiteY12" fmla="*/ 1516457 h 2520000"/>
              <a:gd name="connsiteX13" fmla="*/ 0 w 8221089"/>
              <a:gd name="connsiteY13" fmla="*/ 1260000 h 2520000"/>
              <a:gd name="connsiteX14" fmla="*/ 270000 w 8221089"/>
              <a:gd name="connsiteY14" fmla="*/ 1003543 h 2520000"/>
              <a:gd name="connsiteX15" fmla="*/ 270000 w 8221089"/>
              <a:gd name="connsiteY15" fmla="*/ 256457 h 2520000"/>
              <a:gd name="connsiteX16" fmla="*/ 389041 w 8221089"/>
              <a:gd name="connsiteY16" fmla="*/ 43799 h 2520000"/>
              <a:gd name="connsiteX17" fmla="*/ 412558 w 8221089"/>
              <a:gd name="connsiteY17" fmla="*/ 31674 h 2520000"/>
              <a:gd name="connsiteX18" fmla="*/ 434145 w 8221089"/>
              <a:gd name="connsiteY18" fmla="*/ 17120 h 2520000"/>
              <a:gd name="connsiteX19" fmla="*/ 518943 w 8221089"/>
              <a:gd name="connsiteY19" fmla="*/ 0 h 2520000"/>
            </a:gdLst>
            <a:ahLst/>
            <a:cxnLst/>
            <a:rect l="l" t="t" r="r" b="b"/>
            <a:pathLst>
              <a:path w="8221089" h="2520000">
                <a:moveTo>
                  <a:pt x="518943" y="0"/>
                </a:moveTo>
                <a:lnTo>
                  <a:pt x="540000" y="0"/>
                </a:lnTo>
                <a:lnTo>
                  <a:pt x="8003235" y="0"/>
                </a:lnTo>
                <a:cubicBezTo>
                  <a:pt x="8123552" y="0"/>
                  <a:pt x="8221089" y="97537"/>
                  <a:pt x="8221089" y="217854"/>
                </a:cubicBezTo>
                <a:lnTo>
                  <a:pt x="8221089" y="2302146"/>
                </a:lnTo>
                <a:cubicBezTo>
                  <a:pt x="8221089" y="2422463"/>
                  <a:pt x="8123552" y="2520000"/>
                  <a:pt x="8003235" y="2520000"/>
                </a:cubicBezTo>
                <a:lnTo>
                  <a:pt x="540000" y="2520000"/>
                </a:lnTo>
                <a:lnTo>
                  <a:pt x="518943" y="2520000"/>
                </a:lnTo>
                <a:cubicBezTo>
                  <a:pt x="488864" y="2520000"/>
                  <a:pt x="460208" y="2513904"/>
                  <a:pt x="434145" y="2502880"/>
                </a:cubicBezTo>
                <a:lnTo>
                  <a:pt x="412558" y="2488326"/>
                </a:lnTo>
                <a:lnTo>
                  <a:pt x="389041" y="2476201"/>
                </a:lnTo>
                <a:cubicBezTo>
                  <a:pt x="317220" y="2430114"/>
                  <a:pt x="270000" y="2352066"/>
                  <a:pt x="270000" y="2263543"/>
                </a:cubicBezTo>
                <a:lnTo>
                  <a:pt x="270000" y="1516457"/>
                </a:lnTo>
                <a:cubicBezTo>
                  <a:pt x="270000" y="1374820"/>
                  <a:pt x="149117" y="1260000"/>
                  <a:pt x="0" y="1260000"/>
                </a:cubicBezTo>
                <a:cubicBezTo>
                  <a:pt x="149117" y="1260000"/>
                  <a:pt x="270000" y="1145180"/>
                  <a:pt x="270000" y="1003543"/>
                </a:cubicBezTo>
                <a:lnTo>
                  <a:pt x="270000" y="256457"/>
                </a:lnTo>
                <a:cubicBezTo>
                  <a:pt x="270000" y="167934"/>
                  <a:pt x="317220" y="89886"/>
                  <a:pt x="389041" y="43799"/>
                </a:cubicBezTo>
                <a:lnTo>
                  <a:pt x="412558" y="31674"/>
                </a:lnTo>
                <a:lnTo>
                  <a:pt x="434145" y="17120"/>
                </a:lnTo>
                <a:cubicBezTo>
                  <a:pt x="460208" y="6096"/>
                  <a:pt x="488864" y="0"/>
                  <a:pt x="518943" y="0"/>
                </a:cubicBezTo>
                <a:close/>
              </a:path>
            </a:pathLst>
          </a:cu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874331" y="2262662"/>
            <a:ext cx="8221089" cy="2520000"/>
          </a:xfrm>
          <a:custGeom>
            <a:avLst/>
            <a:gdLst>
              <a:gd name="connsiteX0" fmla="*/ 518943 w 8221089"/>
              <a:gd name="connsiteY0" fmla="*/ 0 h 2520000"/>
              <a:gd name="connsiteX1" fmla="*/ 540000 w 8221089"/>
              <a:gd name="connsiteY1" fmla="*/ 0 h 2520000"/>
              <a:gd name="connsiteX2" fmla="*/ 8003235 w 8221089"/>
              <a:gd name="connsiteY2" fmla="*/ 0 h 2520000"/>
              <a:gd name="connsiteX3" fmla="*/ 8221089 w 8221089"/>
              <a:gd name="connsiteY3" fmla="*/ 217854 h 2520000"/>
              <a:gd name="connsiteX4" fmla="*/ 8221089 w 8221089"/>
              <a:gd name="connsiteY4" fmla="*/ 2302146 h 2520000"/>
              <a:gd name="connsiteX5" fmla="*/ 8003235 w 8221089"/>
              <a:gd name="connsiteY5" fmla="*/ 2520000 h 2520000"/>
              <a:gd name="connsiteX6" fmla="*/ 540000 w 8221089"/>
              <a:gd name="connsiteY6" fmla="*/ 2520000 h 2520000"/>
              <a:gd name="connsiteX7" fmla="*/ 518943 w 8221089"/>
              <a:gd name="connsiteY7" fmla="*/ 2520000 h 2520000"/>
              <a:gd name="connsiteX8" fmla="*/ 434145 w 8221089"/>
              <a:gd name="connsiteY8" fmla="*/ 2502880 h 2520000"/>
              <a:gd name="connsiteX9" fmla="*/ 412558 w 8221089"/>
              <a:gd name="connsiteY9" fmla="*/ 2488326 h 2520000"/>
              <a:gd name="connsiteX10" fmla="*/ 389041 w 8221089"/>
              <a:gd name="connsiteY10" fmla="*/ 2476201 h 2520000"/>
              <a:gd name="connsiteX11" fmla="*/ 270000 w 8221089"/>
              <a:gd name="connsiteY11" fmla="*/ 2263543 h 2520000"/>
              <a:gd name="connsiteX12" fmla="*/ 270000 w 8221089"/>
              <a:gd name="connsiteY12" fmla="*/ 1516457 h 2520000"/>
              <a:gd name="connsiteX13" fmla="*/ 0 w 8221089"/>
              <a:gd name="connsiteY13" fmla="*/ 1260000 h 2520000"/>
              <a:gd name="connsiteX14" fmla="*/ 270000 w 8221089"/>
              <a:gd name="connsiteY14" fmla="*/ 1003543 h 2520000"/>
              <a:gd name="connsiteX15" fmla="*/ 270000 w 8221089"/>
              <a:gd name="connsiteY15" fmla="*/ 256457 h 2520000"/>
              <a:gd name="connsiteX16" fmla="*/ 389041 w 8221089"/>
              <a:gd name="connsiteY16" fmla="*/ 43799 h 2520000"/>
              <a:gd name="connsiteX17" fmla="*/ 412558 w 8221089"/>
              <a:gd name="connsiteY17" fmla="*/ 31674 h 2520000"/>
              <a:gd name="connsiteX18" fmla="*/ 434145 w 8221089"/>
              <a:gd name="connsiteY18" fmla="*/ 17120 h 2520000"/>
              <a:gd name="connsiteX19" fmla="*/ 518943 w 8221089"/>
              <a:gd name="connsiteY19" fmla="*/ 0 h 2520000"/>
            </a:gdLst>
            <a:ahLst/>
            <a:cxnLst/>
            <a:rect l="l" t="t" r="r" b="b"/>
            <a:pathLst>
              <a:path w="8221089" h="2520000">
                <a:moveTo>
                  <a:pt x="518943" y="0"/>
                </a:moveTo>
                <a:lnTo>
                  <a:pt x="540000" y="0"/>
                </a:lnTo>
                <a:lnTo>
                  <a:pt x="8003235" y="0"/>
                </a:lnTo>
                <a:cubicBezTo>
                  <a:pt x="8123552" y="0"/>
                  <a:pt x="8221089" y="97537"/>
                  <a:pt x="8221089" y="217854"/>
                </a:cubicBezTo>
                <a:lnTo>
                  <a:pt x="8221089" y="2302146"/>
                </a:lnTo>
                <a:cubicBezTo>
                  <a:pt x="8221089" y="2422463"/>
                  <a:pt x="8123552" y="2520000"/>
                  <a:pt x="8003235" y="2520000"/>
                </a:cubicBezTo>
                <a:lnTo>
                  <a:pt x="540000" y="2520000"/>
                </a:lnTo>
                <a:lnTo>
                  <a:pt x="518943" y="2520000"/>
                </a:lnTo>
                <a:cubicBezTo>
                  <a:pt x="488864" y="2520000"/>
                  <a:pt x="460208" y="2513904"/>
                  <a:pt x="434145" y="2502880"/>
                </a:cubicBezTo>
                <a:lnTo>
                  <a:pt x="412558" y="2488326"/>
                </a:lnTo>
                <a:lnTo>
                  <a:pt x="389041" y="2476201"/>
                </a:lnTo>
                <a:cubicBezTo>
                  <a:pt x="317220" y="2430114"/>
                  <a:pt x="270000" y="2352066"/>
                  <a:pt x="270000" y="2263543"/>
                </a:cubicBezTo>
                <a:lnTo>
                  <a:pt x="270000" y="1516457"/>
                </a:lnTo>
                <a:cubicBezTo>
                  <a:pt x="270000" y="1374820"/>
                  <a:pt x="149117" y="1260000"/>
                  <a:pt x="0" y="1260000"/>
                </a:cubicBezTo>
                <a:cubicBezTo>
                  <a:pt x="149117" y="1260000"/>
                  <a:pt x="270000" y="1145180"/>
                  <a:pt x="270000" y="1003543"/>
                </a:cubicBezTo>
                <a:lnTo>
                  <a:pt x="270000" y="256457"/>
                </a:lnTo>
                <a:cubicBezTo>
                  <a:pt x="270000" y="167934"/>
                  <a:pt x="317220" y="89886"/>
                  <a:pt x="389041" y="43799"/>
                </a:cubicBezTo>
                <a:lnTo>
                  <a:pt x="412558" y="31674"/>
                </a:lnTo>
                <a:lnTo>
                  <a:pt x="434145" y="17120"/>
                </a:lnTo>
                <a:cubicBezTo>
                  <a:pt x="460208" y="6096"/>
                  <a:pt x="488864" y="0"/>
                  <a:pt x="518943" y="0"/>
                </a:cubicBezTo>
                <a:close/>
              </a:path>
            </a:pathLst>
          </a:custGeom>
          <a:solidFill>
            <a:schemeClr val="accent1"/>
          </a:solidFill>
          <a:ln w="63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537620" y="2621662"/>
            <a:ext cx="7132100" cy="1814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How will you decide Q format for Coefficients??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08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Verification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-12700"/>
            <a:ext cx="12192000" cy="68707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7800684" y="1922201"/>
            <a:ext cx="3827950" cy="3420000"/>
          </a:xfrm>
          <a:custGeom>
            <a:avLst/>
            <a:gdLst>
              <a:gd name="connsiteX0" fmla="*/ 5240153 w 7498005"/>
              <a:gd name="connsiteY0" fmla="*/ 0 h 6698932"/>
              <a:gd name="connsiteX1" fmla="*/ 2257875 w 7498005"/>
              <a:gd name="connsiteY1" fmla="*/ 0 h 6698932"/>
              <a:gd name="connsiteX2" fmla="*/ 1593887 w 7498005"/>
              <a:gd name="connsiteY2" fmla="*/ 383381 h 6698932"/>
              <a:gd name="connsiteX3" fmla="*/ 102653 w 7498005"/>
              <a:gd name="connsiteY3" fmla="*/ 2966085 h 6698932"/>
              <a:gd name="connsiteX4" fmla="*/ 102653 w 7498005"/>
              <a:gd name="connsiteY4" fmla="*/ 3732848 h 6698932"/>
              <a:gd name="connsiteX5" fmla="*/ 1593887 w 7498005"/>
              <a:gd name="connsiteY5" fmla="*/ 6315551 h 6698932"/>
              <a:gd name="connsiteX6" fmla="*/ 2257875 w 7498005"/>
              <a:gd name="connsiteY6" fmla="*/ 6698933 h 6698932"/>
              <a:gd name="connsiteX7" fmla="*/ 5240153 w 7498005"/>
              <a:gd name="connsiteY7" fmla="*/ 6698933 h 6698932"/>
              <a:gd name="connsiteX8" fmla="*/ 5904140 w 7498005"/>
              <a:gd name="connsiteY8" fmla="*/ 6315551 h 6698932"/>
              <a:gd name="connsiteX9" fmla="*/ 7395279 w 7498005"/>
              <a:gd name="connsiteY9" fmla="*/ 3732848 h 6698932"/>
              <a:gd name="connsiteX10" fmla="*/ 7395279 w 7498005"/>
              <a:gd name="connsiteY10" fmla="*/ 2966085 h 6698932"/>
              <a:gd name="connsiteX11" fmla="*/ 5904140 w 7498005"/>
              <a:gd name="connsiteY11" fmla="*/ 383381 h 6698932"/>
              <a:gd name="connsiteX12" fmla="*/ 5240153 w 7498005"/>
              <a:gd name="connsiteY12" fmla="*/ 0 h 6698932"/>
            </a:gdLst>
            <a:ahLst/>
            <a:cxnLst/>
            <a:rect l="l" t="t" r="r" b="b"/>
            <a:pathLst>
              <a:path w="7498005" h="6698932">
                <a:moveTo>
                  <a:pt x="5240153" y="0"/>
                </a:moveTo>
                <a:lnTo>
                  <a:pt x="2257875" y="0"/>
                </a:lnTo>
                <a:cubicBezTo>
                  <a:pt x="1983945" y="-2"/>
                  <a:pt x="1730838" y="146145"/>
                  <a:pt x="1593887" y="383381"/>
                </a:cubicBezTo>
                <a:lnTo>
                  <a:pt x="102653" y="2966085"/>
                </a:lnTo>
                <a:cubicBezTo>
                  <a:pt x="-34218" y="3203353"/>
                  <a:pt x="-34218" y="3495580"/>
                  <a:pt x="102653" y="3732848"/>
                </a:cubicBezTo>
                <a:lnTo>
                  <a:pt x="1593887" y="6315551"/>
                </a:lnTo>
                <a:cubicBezTo>
                  <a:pt x="1730838" y="6552790"/>
                  <a:pt x="1983945" y="6698933"/>
                  <a:pt x="2257875" y="6698933"/>
                </a:cubicBezTo>
                <a:lnTo>
                  <a:pt x="5240153" y="6698933"/>
                </a:lnTo>
                <a:cubicBezTo>
                  <a:pt x="5514082" y="6698933"/>
                  <a:pt x="5767190" y="6552790"/>
                  <a:pt x="5904140" y="6315551"/>
                </a:cubicBezTo>
                <a:lnTo>
                  <a:pt x="7395279" y="3732848"/>
                </a:lnTo>
                <a:cubicBezTo>
                  <a:pt x="7532248" y="3495609"/>
                  <a:pt x="7532248" y="3203324"/>
                  <a:pt x="7395279" y="2966085"/>
                </a:cubicBezTo>
                <a:lnTo>
                  <a:pt x="5904140" y="383381"/>
                </a:lnTo>
                <a:cubicBezTo>
                  <a:pt x="5767190" y="146145"/>
                  <a:pt x="5514082" y="-2"/>
                  <a:pt x="5240153" y="0"/>
                </a:cubicBezTo>
                <a:close/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0800000">
            <a:off x="550666" y="1922200"/>
            <a:ext cx="3827950" cy="3420000"/>
          </a:xfrm>
          <a:custGeom>
            <a:avLst/>
            <a:gdLst>
              <a:gd name="connsiteX0" fmla="*/ 5240153 w 7498005"/>
              <a:gd name="connsiteY0" fmla="*/ 0 h 6698932"/>
              <a:gd name="connsiteX1" fmla="*/ 2257875 w 7498005"/>
              <a:gd name="connsiteY1" fmla="*/ 0 h 6698932"/>
              <a:gd name="connsiteX2" fmla="*/ 1593887 w 7498005"/>
              <a:gd name="connsiteY2" fmla="*/ 383381 h 6698932"/>
              <a:gd name="connsiteX3" fmla="*/ 102653 w 7498005"/>
              <a:gd name="connsiteY3" fmla="*/ 2966085 h 6698932"/>
              <a:gd name="connsiteX4" fmla="*/ 102653 w 7498005"/>
              <a:gd name="connsiteY4" fmla="*/ 3732848 h 6698932"/>
              <a:gd name="connsiteX5" fmla="*/ 1593887 w 7498005"/>
              <a:gd name="connsiteY5" fmla="*/ 6315551 h 6698932"/>
              <a:gd name="connsiteX6" fmla="*/ 2257875 w 7498005"/>
              <a:gd name="connsiteY6" fmla="*/ 6698933 h 6698932"/>
              <a:gd name="connsiteX7" fmla="*/ 5240153 w 7498005"/>
              <a:gd name="connsiteY7" fmla="*/ 6698933 h 6698932"/>
              <a:gd name="connsiteX8" fmla="*/ 5904140 w 7498005"/>
              <a:gd name="connsiteY8" fmla="*/ 6315551 h 6698932"/>
              <a:gd name="connsiteX9" fmla="*/ 7395279 w 7498005"/>
              <a:gd name="connsiteY9" fmla="*/ 3732848 h 6698932"/>
              <a:gd name="connsiteX10" fmla="*/ 7395279 w 7498005"/>
              <a:gd name="connsiteY10" fmla="*/ 2966085 h 6698932"/>
              <a:gd name="connsiteX11" fmla="*/ 5904140 w 7498005"/>
              <a:gd name="connsiteY11" fmla="*/ 383381 h 6698932"/>
              <a:gd name="connsiteX12" fmla="*/ 5240153 w 7498005"/>
              <a:gd name="connsiteY12" fmla="*/ 0 h 6698932"/>
            </a:gdLst>
            <a:ahLst/>
            <a:cxnLst/>
            <a:rect l="l" t="t" r="r" b="b"/>
            <a:pathLst>
              <a:path w="7498005" h="6698932">
                <a:moveTo>
                  <a:pt x="5240153" y="0"/>
                </a:moveTo>
                <a:lnTo>
                  <a:pt x="2257875" y="0"/>
                </a:lnTo>
                <a:cubicBezTo>
                  <a:pt x="1983945" y="-2"/>
                  <a:pt x="1730838" y="146145"/>
                  <a:pt x="1593887" y="383381"/>
                </a:cubicBezTo>
                <a:lnTo>
                  <a:pt x="102653" y="2966085"/>
                </a:lnTo>
                <a:cubicBezTo>
                  <a:pt x="-34218" y="3203353"/>
                  <a:pt x="-34218" y="3495580"/>
                  <a:pt x="102653" y="3732848"/>
                </a:cubicBezTo>
                <a:lnTo>
                  <a:pt x="1593887" y="6315551"/>
                </a:lnTo>
                <a:cubicBezTo>
                  <a:pt x="1730838" y="6552790"/>
                  <a:pt x="1983945" y="6698933"/>
                  <a:pt x="2257875" y="6698933"/>
                </a:cubicBezTo>
                <a:lnTo>
                  <a:pt x="5240153" y="6698933"/>
                </a:lnTo>
                <a:cubicBezTo>
                  <a:pt x="5514082" y="6698933"/>
                  <a:pt x="5767190" y="6552790"/>
                  <a:pt x="5904140" y="6315551"/>
                </a:cubicBezTo>
                <a:lnTo>
                  <a:pt x="7395279" y="3732848"/>
                </a:lnTo>
                <a:cubicBezTo>
                  <a:pt x="7532248" y="3495609"/>
                  <a:pt x="7532248" y="3203324"/>
                  <a:pt x="7395279" y="2966085"/>
                </a:cubicBezTo>
                <a:lnTo>
                  <a:pt x="5904140" y="383381"/>
                </a:lnTo>
                <a:cubicBezTo>
                  <a:pt x="5767190" y="146145"/>
                  <a:pt x="5514082" y="-2"/>
                  <a:pt x="5240153" y="0"/>
                </a:cubicBezTo>
                <a:close/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651402" y="2012200"/>
            <a:ext cx="3626478" cy="3240000"/>
          </a:xfrm>
          <a:custGeom>
            <a:avLst/>
            <a:gdLst>
              <a:gd name="connsiteX0" fmla="*/ 5240153 w 7498005"/>
              <a:gd name="connsiteY0" fmla="*/ 0 h 6698932"/>
              <a:gd name="connsiteX1" fmla="*/ 2257875 w 7498005"/>
              <a:gd name="connsiteY1" fmla="*/ 0 h 6698932"/>
              <a:gd name="connsiteX2" fmla="*/ 1593887 w 7498005"/>
              <a:gd name="connsiteY2" fmla="*/ 383381 h 6698932"/>
              <a:gd name="connsiteX3" fmla="*/ 102653 w 7498005"/>
              <a:gd name="connsiteY3" fmla="*/ 2966085 h 6698932"/>
              <a:gd name="connsiteX4" fmla="*/ 102653 w 7498005"/>
              <a:gd name="connsiteY4" fmla="*/ 3732848 h 6698932"/>
              <a:gd name="connsiteX5" fmla="*/ 1593887 w 7498005"/>
              <a:gd name="connsiteY5" fmla="*/ 6315551 h 6698932"/>
              <a:gd name="connsiteX6" fmla="*/ 2257875 w 7498005"/>
              <a:gd name="connsiteY6" fmla="*/ 6698933 h 6698932"/>
              <a:gd name="connsiteX7" fmla="*/ 5240153 w 7498005"/>
              <a:gd name="connsiteY7" fmla="*/ 6698933 h 6698932"/>
              <a:gd name="connsiteX8" fmla="*/ 5904140 w 7498005"/>
              <a:gd name="connsiteY8" fmla="*/ 6315551 h 6698932"/>
              <a:gd name="connsiteX9" fmla="*/ 7395279 w 7498005"/>
              <a:gd name="connsiteY9" fmla="*/ 3732848 h 6698932"/>
              <a:gd name="connsiteX10" fmla="*/ 7395279 w 7498005"/>
              <a:gd name="connsiteY10" fmla="*/ 2966085 h 6698932"/>
              <a:gd name="connsiteX11" fmla="*/ 5904140 w 7498005"/>
              <a:gd name="connsiteY11" fmla="*/ 383381 h 6698932"/>
              <a:gd name="connsiteX12" fmla="*/ 5240153 w 7498005"/>
              <a:gd name="connsiteY12" fmla="*/ 0 h 6698932"/>
            </a:gdLst>
            <a:ahLst/>
            <a:cxnLst/>
            <a:rect l="l" t="t" r="r" b="b"/>
            <a:pathLst>
              <a:path w="7498005" h="6698932">
                <a:moveTo>
                  <a:pt x="5240153" y="0"/>
                </a:moveTo>
                <a:lnTo>
                  <a:pt x="2257875" y="0"/>
                </a:lnTo>
                <a:cubicBezTo>
                  <a:pt x="1983945" y="-2"/>
                  <a:pt x="1730838" y="146145"/>
                  <a:pt x="1593887" y="383381"/>
                </a:cubicBezTo>
                <a:lnTo>
                  <a:pt x="102653" y="2966085"/>
                </a:lnTo>
                <a:cubicBezTo>
                  <a:pt x="-34218" y="3203353"/>
                  <a:pt x="-34218" y="3495580"/>
                  <a:pt x="102653" y="3732848"/>
                </a:cubicBezTo>
                <a:lnTo>
                  <a:pt x="1593887" y="6315551"/>
                </a:lnTo>
                <a:cubicBezTo>
                  <a:pt x="1730838" y="6552790"/>
                  <a:pt x="1983945" y="6698933"/>
                  <a:pt x="2257875" y="6698933"/>
                </a:cubicBezTo>
                <a:lnTo>
                  <a:pt x="5240153" y="6698933"/>
                </a:lnTo>
                <a:cubicBezTo>
                  <a:pt x="5514082" y="6698933"/>
                  <a:pt x="5767190" y="6552790"/>
                  <a:pt x="5904140" y="6315551"/>
                </a:cubicBezTo>
                <a:lnTo>
                  <a:pt x="7395279" y="3732848"/>
                </a:lnTo>
                <a:cubicBezTo>
                  <a:pt x="7532248" y="3495609"/>
                  <a:pt x="7532248" y="3203324"/>
                  <a:pt x="7395279" y="2966085"/>
                </a:cubicBezTo>
                <a:lnTo>
                  <a:pt x="5904140" y="383381"/>
                </a:lnTo>
                <a:cubicBezTo>
                  <a:pt x="5767190" y="146145"/>
                  <a:pt x="5514082" y="-2"/>
                  <a:pt x="52401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0800000">
            <a:off x="7901421" y="2012201"/>
            <a:ext cx="3626478" cy="3240000"/>
          </a:xfrm>
          <a:custGeom>
            <a:avLst/>
            <a:gdLst>
              <a:gd name="connsiteX0" fmla="*/ 5240153 w 7498005"/>
              <a:gd name="connsiteY0" fmla="*/ 0 h 6698932"/>
              <a:gd name="connsiteX1" fmla="*/ 2257875 w 7498005"/>
              <a:gd name="connsiteY1" fmla="*/ 0 h 6698932"/>
              <a:gd name="connsiteX2" fmla="*/ 1593887 w 7498005"/>
              <a:gd name="connsiteY2" fmla="*/ 383381 h 6698932"/>
              <a:gd name="connsiteX3" fmla="*/ 102653 w 7498005"/>
              <a:gd name="connsiteY3" fmla="*/ 2966085 h 6698932"/>
              <a:gd name="connsiteX4" fmla="*/ 102653 w 7498005"/>
              <a:gd name="connsiteY4" fmla="*/ 3732848 h 6698932"/>
              <a:gd name="connsiteX5" fmla="*/ 1593887 w 7498005"/>
              <a:gd name="connsiteY5" fmla="*/ 6315551 h 6698932"/>
              <a:gd name="connsiteX6" fmla="*/ 2257875 w 7498005"/>
              <a:gd name="connsiteY6" fmla="*/ 6698933 h 6698932"/>
              <a:gd name="connsiteX7" fmla="*/ 5240153 w 7498005"/>
              <a:gd name="connsiteY7" fmla="*/ 6698933 h 6698932"/>
              <a:gd name="connsiteX8" fmla="*/ 5904140 w 7498005"/>
              <a:gd name="connsiteY8" fmla="*/ 6315551 h 6698932"/>
              <a:gd name="connsiteX9" fmla="*/ 7395279 w 7498005"/>
              <a:gd name="connsiteY9" fmla="*/ 3732848 h 6698932"/>
              <a:gd name="connsiteX10" fmla="*/ 7395279 w 7498005"/>
              <a:gd name="connsiteY10" fmla="*/ 2966085 h 6698932"/>
              <a:gd name="connsiteX11" fmla="*/ 5904140 w 7498005"/>
              <a:gd name="connsiteY11" fmla="*/ 383381 h 6698932"/>
              <a:gd name="connsiteX12" fmla="*/ 5240153 w 7498005"/>
              <a:gd name="connsiteY12" fmla="*/ 0 h 6698932"/>
            </a:gdLst>
            <a:ahLst/>
            <a:cxnLst/>
            <a:rect l="l" t="t" r="r" b="b"/>
            <a:pathLst>
              <a:path w="7498005" h="6698932">
                <a:moveTo>
                  <a:pt x="5240153" y="0"/>
                </a:moveTo>
                <a:lnTo>
                  <a:pt x="2257875" y="0"/>
                </a:lnTo>
                <a:cubicBezTo>
                  <a:pt x="1983945" y="-2"/>
                  <a:pt x="1730838" y="146145"/>
                  <a:pt x="1593887" y="383381"/>
                </a:cubicBezTo>
                <a:lnTo>
                  <a:pt x="102653" y="2966085"/>
                </a:lnTo>
                <a:cubicBezTo>
                  <a:pt x="-34218" y="3203353"/>
                  <a:pt x="-34218" y="3495580"/>
                  <a:pt x="102653" y="3732848"/>
                </a:cubicBezTo>
                <a:lnTo>
                  <a:pt x="1593887" y="6315551"/>
                </a:lnTo>
                <a:cubicBezTo>
                  <a:pt x="1730838" y="6552790"/>
                  <a:pt x="1983945" y="6698933"/>
                  <a:pt x="2257875" y="6698933"/>
                </a:cubicBezTo>
                <a:lnTo>
                  <a:pt x="5240153" y="6698933"/>
                </a:lnTo>
                <a:cubicBezTo>
                  <a:pt x="5514082" y="6698933"/>
                  <a:pt x="5767190" y="6552790"/>
                  <a:pt x="5904140" y="6315551"/>
                </a:cubicBezTo>
                <a:lnTo>
                  <a:pt x="7395279" y="3732848"/>
                </a:lnTo>
                <a:cubicBezTo>
                  <a:pt x="7532248" y="3495609"/>
                  <a:pt x="7532248" y="3203324"/>
                  <a:pt x="7395279" y="2966085"/>
                </a:cubicBezTo>
                <a:lnTo>
                  <a:pt x="5904140" y="383381"/>
                </a:lnTo>
                <a:cubicBezTo>
                  <a:pt x="5767190" y="146145"/>
                  <a:pt x="5514082" y="-2"/>
                  <a:pt x="52401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974204" y="1742200"/>
            <a:ext cx="4230892" cy="3780000"/>
          </a:xfrm>
          <a:custGeom>
            <a:avLst/>
            <a:gdLst>
              <a:gd name="connsiteX0" fmla="*/ 5240153 w 7498005"/>
              <a:gd name="connsiteY0" fmla="*/ 0 h 6698932"/>
              <a:gd name="connsiteX1" fmla="*/ 2257875 w 7498005"/>
              <a:gd name="connsiteY1" fmla="*/ 0 h 6698932"/>
              <a:gd name="connsiteX2" fmla="*/ 1593887 w 7498005"/>
              <a:gd name="connsiteY2" fmla="*/ 383381 h 6698932"/>
              <a:gd name="connsiteX3" fmla="*/ 102653 w 7498005"/>
              <a:gd name="connsiteY3" fmla="*/ 2966085 h 6698932"/>
              <a:gd name="connsiteX4" fmla="*/ 102653 w 7498005"/>
              <a:gd name="connsiteY4" fmla="*/ 3732848 h 6698932"/>
              <a:gd name="connsiteX5" fmla="*/ 1593887 w 7498005"/>
              <a:gd name="connsiteY5" fmla="*/ 6315551 h 6698932"/>
              <a:gd name="connsiteX6" fmla="*/ 2257875 w 7498005"/>
              <a:gd name="connsiteY6" fmla="*/ 6698933 h 6698932"/>
              <a:gd name="connsiteX7" fmla="*/ 5240153 w 7498005"/>
              <a:gd name="connsiteY7" fmla="*/ 6698933 h 6698932"/>
              <a:gd name="connsiteX8" fmla="*/ 5904140 w 7498005"/>
              <a:gd name="connsiteY8" fmla="*/ 6315551 h 6698932"/>
              <a:gd name="connsiteX9" fmla="*/ 7395279 w 7498005"/>
              <a:gd name="connsiteY9" fmla="*/ 3732848 h 6698932"/>
              <a:gd name="connsiteX10" fmla="*/ 7395279 w 7498005"/>
              <a:gd name="connsiteY10" fmla="*/ 2966085 h 6698932"/>
              <a:gd name="connsiteX11" fmla="*/ 5904140 w 7498005"/>
              <a:gd name="connsiteY11" fmla="*/ 383381 h 6698932"/>
              <a:gd name="connsiteX12" fmla="*/ 5240153 w 7498005"/>
              <a:gd name="connsiteY12" fmla="*/ 0 h 6698932"/>
            </a:gdLst>
            <a:ahLst/>
            <a:cxnLst/>
            <a:rect l="l" t="t" r="r" b="b"/>
            <a:pathLst>
              <a:path w="7498005" h="6698932">
                <a:moveTo>
                  <a:pt x="5240153" y="0"/>
                </a:moveTo>
                <a:lnTo>
                  <a:pt x="2257875" y="0"/>
                </a:lnTo>
                <a:cubicBezTo>
                  <a:pt x="1983945" y="-2"/>
                  <a:pt x="1730838" y="146145"/>
                  <a:pt x="1593887" y="383381"/>
                </a:cubicBezTo>
                <a:lnTo>
                  <a:pt x="102653" y="2966085"/>
                </a:lnTo>
                <a:cubicBezTo>
                  <a:pt x="-34218" y="3203353"/>
                  <a:pt x="-34218" y="3495580"/>
                  <a:pt x="102653" y="3732848"/>
                </a:cubicBezTo>
                <a:lnTo>
                  <a:pt x="1593887" y="6315551"/>
                </a:lnTo>
                <a:cubicBezTo>
                  <a:pt x="1730838" y="6552790"/>
                  <a:pt x="1983945" y="6698933"/>
                  <a:pt x="2257875" y="6698933"/>
                </a:cubicBezTo>
                <a:lnTo>
                  <a:pt x="5240153" y="6698933"/>
                </a:lnTo>
                <a:cubicBezTo>
                  <a:pt x="5514082" y="6698933"/>
                  <a:pt x="5767190" y="6552790"/>
                  <a:pt x="5904140" y="6315551"/>
                </a:cubicBezTo>
                <a:lnTo>
                  <a:pt x="7395279" y="3732848"/>
                </a:lnTo>
                <a:cubicBezTo>
                  <a:pt x="7532248" y="3495609"/>
                  <a:pt x="7532248" y="3203324"/>
                  <a:pt x="7395279" y="2966085"/>
                </a:cubicBezTo>
                <a:lnTo>
                  <a:pt x="5904140" y="383381"/>
                </a:lnTo>
                <a:cubicBezTo>
                  <a:pt x="5767190" y="146145"/>
                  <a:pt x="5514082" y="-2"/>
                  <a:pt x="5240153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50800" cap="flat">
            <a:noFill/>
            <a:miter/>
          </a:ln>
          <a:effectLst>
            <a:outerShdw blurRad="508000" dist="127000" dir="30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alphaModFix/>
          </a:blip>
          <a:srcRect l="15592" t="2985" r="12841" b="1095"/>
          <a:stretch>
            <a:fillRect/>
          </a:stretch>
        </p:blipFill>
        <p:spPr>
          <a:xfrm>
            <a:off x="4276415" y="2012200"/>
            <a:ext cx="3626468" cy="3240000"/>
          </a:xfrm>
          <a:custGeom>
            <a:avLst/>
            <a:gdLst/>
            <a:ahLst/>
            <a:cxnLst/>
            <a:rect l="l" t="t" r="r" b="b"/>
            <a:pathLst>
              <a:path w="3626468" h="3240000">
                <a:moveTo>
                  <a:pt x="1092039" y="1"/>
                </a:moveTo>
                <a:lnTo>
                  <a:pt x="2534440" y="1"/>
                </a:lnTo>
                <a:cubicBezTo>
                  <a:pt x="2666929" y="0"/>
                  <a:pt x="2789346" y="70685"/>
                  <a:pt x="2855583" y="185427"/>
                </a:cubicBezTo>
                <a:lnTo>
                  <a:pt x="3576784" y="1434574"/>
                </a:lnTo>
                <a:cubicBezTo>
                  <a:pt x="3643030" y="1549317"/>
                  <a:pt x="3643030" y="1690684"/>
                  <a:pt x="3576784" y="1805427"/>
                </a:cubicBezTo>
                <a:lnTo>
                  <a:pt x="2855583" y="3054573"/>
                </a:lnTo>
                <a:cubicBezTo>
                  <a:pt x="2789346" y="3169316"/>
                  <a:pt x="2666929" y="3240000"/>
                  <a:pt x="2534440" y="3240000"/>
                </a:cubicBezTo>
                <a:lnTo>
                  <a:pt x="1092039" y="3240000"/>
                </a:lnTo>
                <a:cubicBezTo>
                  <a:pt x="959551" y="3240000"/>
                  <a:pt x="837134" y="3169316"/>
                  <a:pt x="770897" y="3054573"/>
                </a:cubicBezTo>
                <a:lnTo>
                  <a:pt x="49650" y="1805427"/>
                </a:lnTo>
                <a:cubicBezTo>
                  <a:pt x="-16549" y="1690669"/>
                  <a:pt x="-16549" y="1549332"/>
                  <a:pt x="49650" y="1434574"/>
                </a:cubicBezTo>
                <a:lnTo>
                  <a:pt x="770897" y="185427"/>
                </a:lnTo>
                <a:cubicBezTo>
                  <a:pt x="837134" y="70685"/>
                  <a:pt x="959551" y="0"/>
                  <a:pt x="1092039" y="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>
            <a:off x="1114640" y="2770300"/>
            <a:ext cx="2700000" cy="18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Metrics RMSE, PESQ score for speech signals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8364660" y="2770300"/>
            <a:ext cx="2700000" cy="18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PESQ score → indicates perceptual quality difference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16690" y="37338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Compare float vs fixed-point FIR outputs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4765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82870" y="441095"/>
            <a:ext cx="177530" cy="519890"/>
          </a:xfrm>
          <a:prstGeom prst="roundRect">
            <a:avLst>
              <a:gd name="adj" fmla="val 48424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 09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Summary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16115" y="0"/>
            <a:ext cx="8952411" cy="6858000"/>
          </a:xfrm>
          <a:prstGeom prst="rect">
            <a:avLst/>
          </a:prstGeom>
          <a:gradFill>
            <a:gsLst>
              <a:gs pos="1300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75000">
                <a:schemeClr val="tx1">
                  <a:lumMod val="85000"/>
                  <a:lumOff val="1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2717717" y="833633"/>
            <a:ext cx="2158153" cy="20218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381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10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80721" y="2902039"/>
            <a:ext cx="6843184" cy="18491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Hands On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6421" y="2159513"/>
            <a:ext cx="2607520" cy="69596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b"/>
          <a:lstStyle/>
          <a:p>
            <a:pPr algn="l"/>
            <a:r>
              <a:rPr kumimoji="1" lang="en-US" altLang="zh-CN" sz="5400">
                <a:ln w="12700">
                  <a:noFill/>
                </a:ln>
                <a:gradFill>
                  <a:gsLst>
                    <a:gs pos="0">
                      <a:schemeClr val="bg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300000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79081" y="1038014"/>
            <a:ext cx="4464473" cy="6040967"/>
          </a:xfrm>
          <a:prstGeom prst="flowChartMultidocument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alphaModFix/>
          </a:blip>
          <a:srcRect l="23814" r="23814"/>
          <a:stretch>
            <a:fillRect/>
          </a:stretch>
        </p:blipFill>
        <p:spPr>
          <a:xfrm>
            <a:off x="8041641" y="1227667"/>
            <a:ext cx="4148666" cy="5557520"/>
          </a:xfrm>
          <a:prstGeom prst="flowChartMultidocument">
            <a:avLst/>
          </a:prstGeom>
          <a:noFill/>
          <a:ln>
            <a:noFill/>
          </a:ln>
        </p:spPr>
      </p:pic>
      <p:sp>
        <p:nvSpPr>
          <p:cNvPr id="9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98873 w 329353"/>
              <a:gd name="connsiteY0" fmla="*/ 60960 h 325967"/>
              <a:gd name="connsiteX1" fmla="*/ 329353 w 329353"/>
              <a:gd name="connsiteY1" fmla="*/ 30480 h 325967"/>
              <a:gd name="connsiteX2" fmla="*/ 298873 w 329353"/>
              <a:gd name="connsiteY2" fmla="*/ 0 h 325967"/>
              <a:gd name="connsiteX3" fmla="*/ 268393 w 329353"/>
              <a:gd name="connsiteY3" fmla="*/ 30480 h 325967"/>
              <a:gd name="connsiteX4" fmla="*/ 298873 w 329353"/>
              <a:gd name="connsiteY4" fmla="*/ 60960 h 325967"/>
              <a:gd name="connsiteX5" fmla="*/ 164253 w 329353"/>
              <a:gd name="connsiteY5" fmla="*/ 60960 h 325967"/>
              <a:gd name="connsiteX6" fmla="*/ 194733 w 329353"/>
              <a:gd name="connsiteY6" fmla="*/ 30480 h 325967"/>
              <a:gd name="connsiteX7" fmla="*/ 164253 w 329353"/>
              <a:gd name="connsiteY7" fmla="*/ 0 h 325967"/>
              <a:gd name="connsiteX8" fmla="*/ 133773 w 329353"/>
              <a:gd name="connsiteY8" fmla="*/ 30480 h 325967"/>
              <a:gd name="connsiteX9" fmla="*/ 164253 w 329353"/>
              <a:gd name="connsiteY9" fmla="*/ 60960 h 325967"/>
              <a:gd name="connsiteX10" fmla="*/ 30480 w 329353"/>
              <a:gd name="connsiteY10" fmla="*/ 60960 h 325967"/>
              <a:gd name="connsiteX11" fmla="*/ 60960 w 329353"/>
              <a:gd name="connsiteY11" fmla="*/ 30480 h 325967"/>
              <a:gd name="connsiteX12" fmla="*/ 30480 w 329353"/>
              <a:gd name="connsiteY12" fmla="*/ 0 h 325967"/>
              <a:gd name="connsiteX13" fmla="*/ 0 w 329353"/>
              <a:gd name="connsiteY13" fmla="*/ 30480 h 325967"/>
              <a:gd name="connsiteX14" fmla="*/ 30480 w 329353"/>
              <a:gd name="connsiteY14" fmla="*/ 60960 h 325967"/>
              <a:gd name="connsiteX15" fmla="*/ 298873 w 329353"/>
              <a:gd name="connsiteY15" fmla="*/ 193887 h 325967"/>
              <a:gd name="connsiteX16" fmla="*/ 329353 w 329353"/>
              <a:gd name="connsiteY16" fmla="*/ 163407 h 325967"/>
              <a:gd name="connsiteX17" fmla="*/ 298873 w 329353"/>
              <a:gd name="connsiteY17" fmla="*/ 132927 h 325967"/>
              <a:gd name="connsiteX18" fmla="*/ 268393 w 329353"/>
              <a:gd name="connsiteY18" fmla="*/ 163407 h 325967"/>
              <a:gd name="connsiteX19" fmla="*/ 298873 w 329353"/>
              <a:gd name="connsiteY19" fmla="*/ 193887 h 325967"/>
              <a:gd name="connsiteX20" fmla="*/ 164253 w 329353"/>
              <a:gd name="connsiteY20" fmla="*/ 193887 h 325967"/>
              <a:gd name="connsiteX21" fmla="*/ 194733 w 329353"/>
              <a:gd name="connsiteY21" fmla="*/ 163407 h 325967"/>
              <a:gd name="connsiteX22" fmla="*/ 164253 w 329353"/>
              <a:gd name="connsiteY22" fmla="*/ 132927 h 325967"/>
              <a:gd name="connsiteX23" fmla="*/ 133773 w 329353"/>
              <a:gd name="connsiteY23" fmla="*/ 163407 h 325967"/>
              <a:gd name="connsiteX24" fmla="*/ 164253 w 329353"/>
              <a:gd name="connsiteY24" fmla="*/ 193887 h 325967"/>
              <a:gd name="connsiteX25" fmla="*/ 30480 w 329353"/>
              <a:gd name="connsiteY25" fmla="*/ 193887 h 325967"/>
              <a:gd name="connsiteX26" fmla="*/ 60960 w 329353"/>
              <a:gd name="connsiteY26" fmla="*/ 163407 h 325967"/>
              <a:gd name="connsiteX27" fmla="*/ 30480 w 329353"/>
              <a:gd name="connsiteY27" fmla="*/ 132927 h 325967"/>
              <a:gd name="connsiteX28" fmla="*/ 0 w 329353"/>
              <a:gd name="connsiteY28" fmla="*/ 163407 h 325967"/>
              <a:gd name="connsiteX29" fmla="*/ 30480 w 329353"/>
              <a:gd name="connsiteY29" fmla="*/ 193887 h 325967"/>
              <a:gd name="connsiteX30" fmla="*/ 298873 w 329353"/>
              <a:gd name="connsiteY30" fmla="*/ 325967 h 325967"/>
              <a:gd name="connsiteX31" fmla="*/ 329353 w 329353"/>
              <a:gd name="connsiteY31" fmla="*/ 295487 h 325967"/>
              <a:gd name="connsiteX32" fmla="*/ 298873 w 329353"/>
              <a:gd name="connsiteY32" fmla="*/ 265007 h 325967"/>
              <a:gd name="connsiteX33" fmla="*/ 268393 w 329353"/>
              <a:gd name="connsiteY33" fmla="*/ 295487 h 325967"/>
              <a:gd name="connsiteX34" fmla="*/ 298873 w 329353"/>
              <a:gd name="connsiteY34" fmla="*/ 325967 h 325967"/>
              <a:gd name="connsiteX35" fmla="*/ 164253 w 329353"/>
              <a:gd name="connsiteY35" fmla="*/ 325967 h 325967"/>
              <a:gd name="connsiteX36" fmla="*/ 194733 w 329353"/>
              <a:gd name="connsiteY36" fmla="*/ 295487 h 325967"/>
              <a:gd name="connsiteX37" fmla="*/ 164253 w 329353"/>
              <a:gd name="connsiteY37" fmla="*/ 265007 h 325967"/>
              <a:gd name="connsiteX38" fmla="*/ 133773 w 329353"/>
              <a:gd name="connsiteY38" fmla="*/ 295487 h 325967"/>
              <a:gd name="connsiteX39" fmla="*/ 164253 w 329353"/>
              <a:gd name="connsiteY39" fmla="*/ 325967 h 325967"/>
              <a:gd name="connsiteX40" fmla="*/ 30480 w 329353"/>
              <a:gd name="connsiteY40" fmla="*/ 325967 h 325967"/>
              <a:gd name="connsiteX41" fmla="*/ 60960 w 329353"/>
              <a:gd name="connsiteY41" fmla="*/ 295487 h 325967"/>
              <a:gd name="connsiteX42" fmla="*/ 30480 w 329353"/>
              <a:gd name="connsiteY42" fmla="*/ 265007 h 325967"/>
              <a:gd name="connsiteX43" fmla="*/ 0 w 329353"/>
              <a:gd name="connsiteY43" fmla="*/ 295487 h 325967"/>
              <a:gd name="connsiteX44" fmla="*/ 30480 w 329353"/>
              <a:gd name="connsiteY44" fmla="*/ 325967 h 325967"/>
            </a:gdLst>
            <a:ahLst/>
            <a:cxnLst/>
            <a:rect l="l" t="t" r="r" b="b"/>
            <a:pathLst>
              <a:path w="329353" h="325967">
                <a:moveTo>
                  <a:pt x="298873" y="60960"/>
                </a:moveTo>
                <a:cubicBezTo>
                  <a:pt x="315707" y="60960"/>
                  <a:pt x="329353" y="47314"/>
                  <a:pt x="329353" y="30480"/>
                </a:cubicBezTo>
                <a:cubicBezTo>
                  <a:pt x="329353" y="13646"/>
                  <a:pt x="315707" y="0"/>
                  <a:pt x="298873" y="0"/>
                </a:cubicBezTo>
                <a:cubicBezTo>
                  <a:pt x="282039" y="0"/>
                  <a:pt x="268393" y="13646"/>
                  <a:pt x="268393" y="30480"/>
                </a:cubicBezTo>
                <a:cubicBezTo>
                  <a:pt x="268393" y="47314"/>
                  <a:pt x="282039" y="60960"/>
                  <a:pt x="298873" y="60960"/>
                </a:cubicBezTo>
                <a:close/>
                <a:moveTo>
                  <a:pt x="164253" y="60960"/>
                </a:moveTo>
                <a:cubicBezTo>
                  <a:pt x="181087" y="60960"/>
                  <a:pt x="194733" y="47314"/>
                  <a:pt x="194733" y="30480"/>
                </a:cubicBezTo>
                <a:cubicBezTo>
                  <a:pt x="194733" y="13646"/>
                  <a:pt x="181087" y="0"/>
                  <a:pt x="164253" y="0"/>
                </a:cubicBezTo>
                <a:cubicBezTo>
                  <a:pt x="147419" y="0"/>
                  <a:pt x="133773" y="13646"/>
                  <a:pt x="133773" y="30480"/>
                </a:cubicBezTo>
                <a:cubicBezTo>
                  <a:pt x="133773" y="47314"/>
                  <a:pt x="147419" y="60960"/>
                  <a:pt x="164253" y="60960"/>
                </a:cubicBezTo>
                <a:close/>
                <a:moveTo>
                  <a:pt x="30480" y="60960"/>
                </a:moveTo>
                <a:cubicBezTo>
                  <a:pt x="47314" y="60960"/>
                  <a:pt x="60960" y="47314"/>
                  <a:pt x="60960" y="30480"/>
                </a:cubicBezTo>
                <a:cubicBezTo>
                  <a:pt x="60960" y="13646"/>
                  <a:pt x="47314" y="0"/>
                  <a:pt x="30480" y="0"/>
                </a:cubicBezTo>
                <a:cubicBezTo>
                  <a:pt x="13646" y="0"/>
                  <a:pt x="0" y="13646"/>
                  <a:pt x="0" y="30480"/>
                </a:cubicBezTo>
                <a:cubicBezTo>
                  <a:pt x="0" y="47314"/>
                  <a:pt x="13646" y="60960"/>
                  <a:pt x="30480" y="60960"/>
                </a:cubicBezTo>
                <a:close/>
                <a:moveTo>
                  <a:pt x="298873" y="193887"/>
                </a:moveTo>
                <a:cubicBezTo>
                  <a:pt x="315707" y="193887"/>
                  <a:pt x="329353" y="180241"/>
                  <a:pt x="329353" y="163407"/>
                </a:cubicBezTo>
                <a:cubicBezTo>
                  <a:pt x="329353" y="146573"/>
                  <a:pt x="315707" y="132927"/>
                  <a:pt x="298873" y="132927"/>
                </a:cubicBezTo>
                <a:cubicBezTo>
                  <a:pt x="282039" y="132927"/>
                  <a:pt x="268393" y="146573"/>
                  <a:pt x="268393" y="163407"/>
                </a:cubicBezTo>
                <a:cubicBezTo>
                  <a:pt x="268393" y="180241"/>
                  <a:pt x="282039" y="193887"/>
                  <a:pt x="298873" y="193887"/>
                </a:cubicBezTo>
                <a:close/>
                <a:moveTo>
                  <a:pt x="164253" y="193887"/>
                </a:moveTo>
                <a:cubicBezTo>
                  <a:pt x="181087" y="193887"/>
                  <a:pt x="194733" y="180241"/>
                  <a:pt x="194733" y="163407"/>
                </a:cubicBezTo>
                <a:cubicBezTo>
                  <a:pt x="194733" y="146573"/>
                  <a:pt x="181087" y="132927"/>
                  <a:pt x="164253" y="132927"/>
                </a:cubicBezTo>
                <a:cubicBezTo>
                  <a:pt x="147419" y="132927"/>
                  <a:pt x="133773" y="146573"/>
                  <a:pt x="133773" y="163407"/>
                </a:cubicBezTo>
                <a:cubicBezTo>
                  <a:pt x="133773" y="180241"/>
                  <a:pt x="147419" y="193887"/>
                  <a:pt x="164253" y="193887"/>
                </a:cubicBezTo>
                <a:close/>
                <a:moveTo>
                  <a:pt x="30480" y="193887"/>
                </a:moveTo>
                <a:cubicBezTo>
                  <a:pt x="47314" y="193887"/>
                  <a:pt x="60960" y="180241"/>
                  <a:pt x="60960" y="163407"/>
                </a:cubicBezTo>
                <a:cubicBezTo>
                  <a:pt x="60960" y="146573"/>
                  <a:pt x="47314" y="132927"/>
                  <a:pt x="30480" y="132927"/>
                </a:cubicBezTo>
                <a:cubicBezTo>
                  <a:pt x="13646" y="132927"/>
                  <a:pt x="0" y="146573"/>
                  <a:pt x="0" y="163407"/>
                </a:cubicBezTo>
                <a:cubicBezTo>
                  <a:pt x="0" y="180241"/>
                  <a:pt x="13646" y="193887"/>
                  <a:pt x="30480" y="193887"/>
                </a:cubicBezTo>
                <a:close/>
                <a:moveTo>
                  <a:pt x="298873" y="325967"/>
                </a:moveTo>
                <a:cubicBezTo>
                  <a:pt x="315707" y="325967"/>
                  <a:pt x="329353" y="312321"/>
                  <a:pt x="329353" y="295487"/>
                </a:cubicBezTo>
                <a:cubicBezTo>
                  <a:pt x="329353" y="278653"/>
                  <a:pt x="315707" y="265007"/>
                  <a:pt x="298873" y="265007"/>
                </a:cubicBezTo>
                <a:cubicBezTo>
                  <a:pt x="282039" y="265007"/>
                  <a:pt x="268393" y="278653"/>
                  <a:pt x="268393" y="295487"/>
                </a:cubicBezTo>
                <a:cubicBezTo>
                  <a:pt x="268393" y="312321"/>
                  <a:pt x="282039" y="325967"/>
                  <a:pt x="298873" y="325967"/>
                </a:cubicBezTo>
                <a:close/>
                <a:moveTo>
                  <a:pt x="164253" y="325967"/>
                </a:moveTo>
                <a:cubicBezTo>
                  <a:pt x="181087" y="325967"/>
                  <a:pt x="194733" y="312321"/>
                  <a:pt x="194733" y="295487"/>
                </a:cubicBezTo>
                <a:cubicBezTo>
                  <a:pt x="194733" y="278653"/>
                  <a:pt x="181087" y="265007"/>
                  <a:pt x="164253" y="265007"/>
                </a:cubicBezTo>
                <a:cubicBezTo>
                  <a:pt x="147419" y="265007"/>
                  <a:pt x="133773" y="278653"/>
                  <a:pt x="133773" y="295487"/>
                </a:cubicBezTo>
                <a:cubicBezTo>
                  <a:pt x="133773" y="312321"/>
                  <a:pt x="147419" y="325967"/>
                  <a:pt x="164253" y="325967"/>
                </a:cubicBezTo>
                <a:close/>
                <a:moveTo>
                  <a:pt x="30480" y="325967"/>
                </a:moveTo>
                <a:cubicBezTo>
                  <a:pt x="47314" y="325967"/>
                  <a:pt x="60960" y="312321"/>
                  <a:pt x="60960" y="295487"/>
                </a:cubicBezTo>
                <a:cubicBezTo>
                  <a:pt x="60960" y="278653"/>
                  <a:pt x="47314" y="265007"/>
                  <a:pt x="30480" y="265007"/>
                </a:cubicBezTo>
                <a:cubicBezTo>
                  <a:pt x="13646" y="265007"/>
                  <a:pt x="0" y="278653"/>
                  <a:pt x="0" y="295487"/>
                </a:cubicBezTo>
                <a:cubicBezTo>
                  <a:pt x="0" y="312321"/>
                  <a:pt x="13646" y="325967"/>
                  <a:pt x="30480" y="32596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11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t="696" r="13503" b="12489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0 w 9144000"/>
              <a:gd name="connsiteY3" fmla="*/ 5143500 h 5143500"/>
            </a:gdLst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133675" y="0"/>
            <a:ext cx="9574206" cy="6858000"/>
          </a:xfrm>
          <a:prstGeom prst="rect">
            <a:avLst/>
          </a:prstGeom>
          <a:gradFill>
            <a:gsLst>
              <a:gs pos="0">
                <a:schemeClr val="tx1">
                  <a:lumMod val="85000"/>
                  <a:lumOff val="15000"/>
                  <a:alpha val="0"/>
                </a:schemeClr>
              </a:gs>
              <a:gs pos="29000">
                <a:srgbClr val="000000">
                  <a:alpha val="100000"/>
                </a:srgbClr>
              </a:gs>
              <a:gs pos="53000">
                <a:srgbClr val="000000">
                  <a:alpha val="100000"/>
                </a:srgb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 w="12700" cap="flat">
            <a:solidFill>
              <a:schemeClr val="accent1">
                <a:shade val="50000"/>
                <a:alpha val="10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标题 1"/>
          <p:cNvSpPr txBox="1"/>
          <p:nvPr/>
        </p:nvSpPr>
        <p:spPr>
          <a:xfrm flipV="1">
            <a:off x="12114106" y="172721"/>
            <a:ext cx="329353" cy="325967"/>
          </a:xfrm>
          <a:custGeom>
            <a:avLst/>
            <a:gdLst>
              <a:gd name="connsiteX0" fmla="*/ 224155 w 247015"/>
              <a:gd name="connsiteY0" fmla="*/ 45720 h 244475"/>
              <a:gd name="connsiteX1" fmla="*/ 247015 w 247015"/>
              <a:gd name="connsiteY1" fmla="*/ 22860 h 244475"/>
              <a:gd name="connsiteX2" fmla="*/ 224155 w 247015"/>
              <a:gd name="connsiteY2" fmla="*/ 0 h 244475"/>
              <a:gd name="connsiteX3" fmla="*/ 201295 w 247015"/>
              <a:gd name="connsiteY3" fmla="*/ 22860 h 244475"/>
              <a:gd name="connsiteX4" fmla="*/ 224155 w 247015"/>
              <a:gd name="connsiteY4" fmla="*/ 45720 h 244475"/>
              <a:gd name="connsiteX5" fmla="*/ 123190 w 247015"/>
              <a:gd name="connsiteY5" fmla="*/ 45720 h 244475"/>
              <a:gd name="connsiteX6" fmla="*/ 146050 w 247015"/>
              <a:gd name="connsiteY6" fmla="*/ 22860 h 244475"/>
              <a:gd name="connsiteX7" fmla="*/ 123190 w 247015"/>
              <a:gd name="connsiteY7" fmla="*/ 0 h 244475"/>
              <a:gd name="connsiteX8" fmla="*/ 100330 w 247015"/>
              <a:gd name="connsiteY8" fmla="*/ 22860 h 244475"/>
              <a:gd name="connsiteX9" fmla="*/ 123190 w 247015"/>
              <a:gd name="connsiteY9" fmla="*/ 45720 h 244475"/>
              <a:gd name="connsiteX10" fmla="*/ 22860 w 247015"/>
              <a:gd name="connsiteY10" fmla="*/ 45720 h 244475"/>
              <a:gd name="connsiteX11" fmla="*/ 45720 w 247015"/>
              <a:gd name="connsiteY11" fmla="*/ 22860 h 244475"/>
              <a:gd name="connsiteX12" fmla="*/ 22860 w 247015"/>
              <a:gd name="connsiteY12" fmla="*/ 0 h 244475"/>
              <a:gd name="connsiteX13" fmla="*/ 0 w 247015"/>
              <a:gd name="connsiteY13" fmla="*/ 22860 h 244475"/>
              <a:gd name="connsiteX14" fmla="*/ 22860 w 247015"/>
              <a:gd name="connsiteY14" fmla="*/ 45720 h 244475"/>
              <a:gd name="connsiteX15" fmla="*/ 224155 w 247015"/>
              <a:gd name="connsiteY15" fmla="*/ 145415 h 244475"/>
              <a:gd name="connsiteX16" fmla="*/ 247015 w 247015"/>
              <a:gd name="connsiteY16" fmla="*/ 122555 h 244475"/>
              <a:gd name="connsiteX17" fmla="*/ 224155 w 247015"/>
              <a:gd name="connsiteY17" fmla="*/ 99695 h 244475"/>
              <a:gd name="connsiteX18" fmla="*/ 201295 w 247015"/>
              <a:gd name="connsiteY18" fmla="*/ 122555 h 244475"/>
              <a:gd name="connsiteX19" fmla="*/ 224155 w 247015"/>
              <a:gd name="connsiteY19" fmla="*/ 145415 h 244475"/>
              <a:gd name="connsiteX20" fmla="*/ 123190 w 247015"/>
              <a:gd name="connsiteY20" fmla="*/ 145415 h 244475"/>
              <a:gd name="connsiteX21" fmla="*/ 146050 w 247015"/>
              <a:gd name="connsiteY21" fmla="*/ 122555 h 244475"/>
              <a:gd name="connsiteX22" fmla="*/ 123190 w 247015"/>
              <a:gd name="connsiteY22" fmla="*/ 99695 h 244475"/>
              <a:gd name="connsiteX23" fmla="*/ 100330 w 247015"/>
              <a:gd name="connsiteY23" fmla="*/ 122555 h 244475"/>
              <a:gd name="connsiteX24" fmla="*/ 123190 w 247015"/>
              <a:gd name="connsiteY24" fmla="*/ 145415 h 244475"/>
              <a:gd name="connsiteX25" fmla="*/ 22860 w 247015"/>
              <a:gd name="connsiteY25" fmla="*/ 145415 h 244475"/>
              <a:gd name="connsiteX26" fmla="*/ 45720 w 247015"/>
              <a:gd name="connsiteY26" fmla="*/ 122555 h 244475"/>
              <a:gd name="connsiteX27" fmla="*/ 22860 w 247015"/>
              <a:gd name="connsiteY27" fmla="*/ 99695 h 244475"/>
              <a:gd name="connsiteX28" fmla="*/ 0 w 247015"/>
              <a:gd name="connsiteY28" fmla="*/ 122555 h 244475"/>
              <a:gd name="connsiteX29" fmla="*/ 22860 w 247015"/>
              <a:gd name="connsiteY29" fmla="*/ 145415 h 244475"/>
              <a:gd name="connsiteX30" fmla="*/ 224155 w 247015"/>
              <a:gd name="connsiteY30" fmla="*/ 244475 h 244475"/>
              <a:gd name="connsiteX31" fmla="*/ 247015 w 247015"/>
              <a:gd name="connsiteY31" fmla="*/ 221615 h 244475"/>
              <a:gd name="connsiteX32" fmla="*/ 224155 w 247015"/>
              <a:gd name="connsiteY32" fmla="*/ 198755 h 244475"/>
              <a:gd name="connsiteX33" fmla="*/ 201295 w 247015"/>
              <a:gd name="connsiteY33" fmla="*/ 221615 h 244475"/>
              <a:gd name="connsiteX34" fmla="*/ 224155 w 247015"/>
              <a:gd name="connsiteY34" fmla="*/ 244475 h 244475"/>
              <a:gd name="connsiteX35" fmla="*/ 123190 w 247015"/>
              <a:gd name="connsiteY35" fmla="*/ 244475 h 244475"/>
              <a:gd name="connsiteX36" fmla="*/ 146050 w 247015"/>
              <a:gd name="connsiteY36" fmla="*/ 221615 h 244475"/>
              <a:gd name="connsiteX37" fmla="*/ 123190 w 247015"/>
              <a:gd name="connsiteY37" fmla="*/ 198755 h 244475"/>
              <a:gd name="connsiteX38" fmla="*/ 100330 w 247015"/>
              <a:gd name="connsiteY38" fmla="*/ 221615 h 244475"/>
              <a:gd name="connsiteX39" fmla="*/ 123190 w 247015"/>
              <a:gd name="connsiteY39" fmla="*/ 244475 h 244475"/>
              <a:gd name="connsiteX40" fmla="*/ 22860 w 247015"/>
              <a:gd name="connsiteY40" fmla="*/ 244475 h 244475"/>
              <a:gd name="connsiteX41" fmla="*/ 45720 w 247015"/>
              <a:gd name="connsiteY41" fmla="*/ 221615 h 244475"/>
              <a:gd name="connsiteX42" fmla="*/ 22860 w 247015"/>
              <a:gd name="connsiteY42" fmla="*/ 198755 h 244475"/>
              <a:gd name="connsiteX43" fmla="*/ 0 w 247015"/>
              <a:gd name="connsiteY43" fmla="*/ 221615 h 244475"/>
              <a:gd name="connsiteX44" fmla="*/ 22860 w 247015"/>
              <a:gd name="connsiteY44" fmla="*/ 244475 h 244475"/>
            </a:gdLst>
            <a:ahLst/>
            <a:cxnLst/>
            <a:rect l="l" t="t" r="r" b="b"/>
            <a:pathLst>
              <a:path w="247015" h="244475">
                <a:moveTo>
                  <a:pt x="224155" y="45720"/>
                </a:moveTo>
                <a:cubicBezTo>
                  <a:pt x="236780" y="45720"/>
                  <a:pt x="247015" y="35485"/>
                  <a:pt x="247015" y="22860"/>
                </a:cubicBezTo>
                <a:cubicBezTo>
                  <a:pt x="247015" y="10235"/>
                  <a:pt x="236780" y="0"/>
                  <a:pt x="224155" y="0"/>
                </a:cubicBezTo>
                <a:cubicBezTo>
                  <a:pt x="211530" y="0"/>
                  <a:pt x="201295" y="10235"/>
                  <a:pt x="201295" y="22860"/>
                </a:cubicBezTo>
                <a:cubicBezTo>
                  <a:pt x="201295" y="35485"/>
                  <a:pt x="211530" y="45720"/>
                  <a:pt x="224155" y="45720"/>
                </a:cubicBezTo>
                <a:close/>
                <a:moveTo>
                  <a:pt x="123190" y="45720"/>
                </a:moveTo>
                <a:cubicBezTo>
                  <a:pt x="135815" y="45720"/>
                  <a:pt x="146050" y="35485"/>
                  <a:pt x="146050" y="22860"/>
                </a:cubicBezTo>
                <a:cubicBezTo>
                  <a:pt x="146050" y="10235"/>
                  <a:pt x="135815" y="0"/>
                  <a:pt x="123190" y="0"/>
                </a:cubicBezTo>
                <a:cubicBezTo>
                  <a:pt x="110565" y="0"/>
                  <a:pt x="100330" y="10235"/>
                  <a:pt x="100330" y="22860"/>
                </a:cubicBezTo>
                <a:cubicBezTo>
                  <a:pt x="100330" y="35485"/>
                  <a:pt x="110565" y="45720"/>
                  <a:pt x="123190" y="45720"/>
                </a:cubicBezTo>
                <a:close/>
                <a:moveTo>
                  <a:pt x="22860" y="45720"/>
                </a:moveTo>
                <a:cubicBezTo>
                  <a:pt x="35485" y="45720"/>
                  <a:pt x="45720" y="35485"/>
                  <a:pt x="45720" y="22860"/>
                </a:cubicBezTo>
                <a:cubicBezTo>
                  <a:pt x="45720" y="10235"/>
                  <a:pt x="35485" y="0"/>
                  <a:pt x="22860" y="0"/>
                </a:cubicBezTo>
                <a:cubicBezTo>
                  <a:pt x="10235" y="0"/>
                  <a:pt x="0" y="10235"/>
                  <a:pt x="0" y="22860"/>
                </a:cubicBezTo>
                <a:cubicBezTo>
                  <a:pt x="0" y="35485"/>
                  <a:pt x="10235" y="45720"/>
                  <a:pt x="22860" y="45720"/>
                </a:cubicBezTo>
                <a:close/>
                <a:moveTo>
                  <a:pt x="224155" y="145415"/>
                </a:moveTo>
                <a:cubicBezTo>
                  <a:pt x="236780" y="145415"/>
                  <a:pt x="247015" y="135180"/>
                  <a:pt x="247015" y="122555"/>
                </a:cubicBezTo>
                <a:cubicBezTo>
                  <a:pt x="247015" y="109930"/>
                  <a:pt x="236780" y="99695"/>
                  <a:pt x="224155" y="99695"/>
                </a:cubicBezTo>
                <a:cubicBezTo>
                  <a:pt x="211530" y="99695"/>
                  <a:pt x="201295" y="109930"/>
                  <a:pt x="201295" y="122555"/>
                </a:cubicBezTo>
                <a:cubicBezTo>
                  <a:pt x="201295" y="135180"/>
                  <a:pt x="211530" y="145415"/>
                  <a:pt x="224155" y="145415"/>
                </a:cubicBezTo>
                <a:close/>
                <a:moveTo>
                  <a:pt x="123190" y="145415"/>
                </a:moveTo>
                <a:cubicBezTo>
                  <a:pt x="135815" y="145415"/>
                  <a:pt x="146050" y="135180"/>
                  <a:pt x="146050" y="122555"/>
                </a:cubicBezTo>
                <a:cubicBezTo>
                  <a:pt x="146050" y="109930"/>
                  <a:pt x="135815" y="99695"/>
                  <a:pt x="123190" y="99695"/>
                </a:cubicBezTo>
                <a:cubicBezTo>
                  <a:pt x="110565" y="99695"/>
                  <a:pt x="100330" y="109930"/>
                  <a:pt x="100330" y="122555"/>
                </a:cubicBezTo>
                <a:cubicBezTo>
                  <a:pt x="100330" y="135180"/>
                  <a:pt x="110565" y="145415"/>
                  <a:pt x="123190" y="145415"/>
                </a:cubicBezTo>
                <a:close/>
                <a:moveTo>
                  <a:pt x="22860" y="145415"/>
                </a:moveTo>
                <a:cubicBezTo>
                  <a:pt x="35485" y="145415"/>
                  <a:pt x="45720" y="135180"/>
                  <a:pt x="45720" y="122555"/>
                </a:cubicBezTo>
                <a:cubicBezTo>
                  <a:pt x="45720" y="109930"/>
                  <a:pt x="35485" y="99695"/>
                  <a:pt x="22860" y="99695"/>
                </a:cubicBezTo>
                <a:cubicBezTo>
                  <a:pt x="10235" y="99695"/>
                  <a:pt x="0" y="109930"/>
                  <a:pt x="0" y="122555"/>
                </a:cubicBezTo>
                <a:cubicBezTo>
                  <a:pt x="0" y="135180"/>
                  <a:pt x="10235" y="145415"/>
                  <a:pt x="22860" y="145415"/>
                </a:cubicBezTo>
                <a:close/>
                <a:moveTo>
                  <a:pt x="224155" y="244475"/>
                </a:moveTo>
                <a:cubicBezTo>
                  <a:pt x="236780" y="244475"/>
                  <a:pt x="247015" y="234240"/>
                  <a:pt x="247015" y="221615"/>
                </a:cubicBezTo>
                <a:cubicBezTo>
                  <a:pt x="247015" y="208990"/>
                  <a:pt x="236780" y="198755"/>
                  <a:pt x="224155" y="198755"/>
                </a:cubicBezTo>
                <a:cubicBezTo>
                  <a:pt x="211530" y="198755"/>
                  <a:pt x="201295" y="208990"/>
                  <a:pt x="201295" y="221615"/>
                </a:cubicBezTo>
                <a:cubicBezTo>
                  <a:pt x="201295" y="234240"/>
                  <a:pt x="211530" y="244475"/>
                  <a:pt x="224155" y="244475"/>
                </a:cubicBezTo>
                <a:close/>
                <a:moveTo>
                  <a:pt x="123190" y="244475"/>
                </a:moveTo>
                <a:cubicBezTo>
                  <a:pt x="135815" y="244475"/>
                  <a:pt x="146050" y="234240"/>
                  <a:pt x="146050" y="221615"/>
                </a:cubicBezTo>
                <a:cubicBezTo>
                  <a:pt x="146050" y="208990"/>
                  <a:pt x="135815" y="198755"/>
                  <a:pt x="123190" y="198755"/>
                </a:cubicBezTo>
                <a:cubicBezTo>
                  <a:pt x="110565" y="198755"/>
                  <a:pt x="100330" y="208990"/>
                  <a:pt x="100330" y="221615"/>
                </a:cubicBezTo>
                <a:cubicBezTo>
                  <a:pt x="100330" y="234240"/>
                  <a:pt x="110565" y="244475"/>
                  <a:pt x="123190" y="244475"/>
                </a:cubicBezTo>
                <a:close/>
                <a:moveTo>
                  <a:pt x="22860" y="244475"/>
                </a:moveTo>
                <a:cubicBezTo>
                  <a:pt x="35485" y="244475"/>
                  <a:pt x="45720" y="234240"/>
                  <a:pt x="45720" y="221615"/>
                </a:cubicBezTo>
                <a:cubicBezTo>
                  <a:pt x="45720" y="208990"/>
                  <a:pt x="35485" y="198755"/>
                  <a:pt x="22860" y="198755"/>
                </a:cubicBezTo>
                <a:cubicBezTo>
                  <a:pt x="10235" y="198755"/>
                  <a:pt x="0" y="208990"/>
                  <a:pt x="0" y="221615"/>
                </a:cubicBezTo>
                <a:cubicBezTo>
                  <a:pt x="0" y="234240"/>
                  <a:pt x="10235" y="244475"/>
                  <a:pt x="22860" y="244475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标题 1"/>
          <p:cNvCxnSpPr/>
          <p:nvPr/>
        </p:nvCxnSpPr>
        <p:spPr>
          <a:xfrm>
            <a:off x="304800" y="575733"/>
            <a:ext cx="0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cxnSp>
        <p:nvCxnSpPr>
          <p:cNvPr id="6" name="标题 1"/>
          <p:cNvCxnSpPr/>
          <p:nvPr/>
        </p:nvCxnSpPr>
        <p:spPr>
          <a:xfrm flipH="1">
            <a:off x="304800" y="620184"/>
            <a:ext cx="12242376" cy="0"/>
          </a:xfrm>
          <a:prstGeom prst="line">
            <a:avLst/>
          </a:prstGeom>
          <a:noFill/>
          <a:ln w="6350" cap="sq">
            <a:solidFill>
              <a:schemeClr val="bg1"/>
            </a:solidFill>
            <a:prstDash val="solid"/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610881" y="4357000"/>
            <a:ext cx="4829799" cy="2378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696850" y="1964461"/>
            <a:ext cx="8230808" cy="16151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7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738099" y="5027316"/>
            <a:ext cx="142335" cy="0"/>
          </a:xfrm>
          <a:prstGeom prst="line">
            <a:avLst/>
          </a:prstGeom>
          <a:noFill/>
          <a:ln w="38100" cap="sq">
            <a:solidFill>
              <a:schemeClr val="bg1"/>
            </a:solidFill>
            <a:prstDash val="solid"/>
            <a:miter/>
          </a:ln>
        </p:spPr>
      </p:cxnSp>
      <p:sp>
        <p:nvSpPr>
          <p:cNvPr id="11" name="标题 1"/>
          <p:cNvSpPr txBox="1"/>
          <p:nvPr/>
        </p:nvSpPr>
        <p:spPr>
          <a:xfrm>
            <a:off x="880434" y="4956030"/>
            <a:ext cx="154793" cy="154793"/>
          </a:xfrm>
          <a:prstGeom prst="ellipse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98311" y="5311505"/>
            <a:ext cx="3607647" cy="3978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67">
                <a:ln w="12700">
                  <a:noFill/>
                </a:ln>
                <a:solidFill>
                  <a:srgbClr val="F2F2F2">
                    <a:alpha val="23000"/>
                  </a:srgbClr>
                </a:solidFill>
                <a:latin typeface="poppins-bold"/>
                <a:ea typeface="poppins-bold"/>
                <a:cs typeface="poppins-bold"/>
              </a:rPr>
              <a:t>PowerPoint Design</a:t>
            </a:r>
            <a:endParaRPr kumimoji="1" lang="zh-CN" altLang="en-US"/>
          </a:p>
        </p:txBody>
      </p:sp>
      <p:cxnSp>
        <p:nvCxnSpPr>
          <p:cNvPr id="13" name="标题 1"/>
          <p:cNvCxnSpPr/>
          <p:nvPr/>
        </p:nvCxnSpPr>
        <p:spPr>
          <a:xfrm flipV="1">
            <a:off x="5124006" y="4506267"/>
            <a:ext cx="1216380" cy="0"/>
          </a:xfrm>
          <a:prstGeom prst="line">
            <a:avLst/>
          </a:prstGeom>
          <a:noFill/>
          <a:ln w="12700" cap="sq">
            <a:solidFill>
              <a:schemeClr val="bg1"/>
            </a:solidFill>
            <a:prstDash val="solid"/>
            <a:miter/>
          </a:ln>
        </p:spPr>
      </p:cxnSp>
      <p:sp>
        <p:nvSpPr>
          <p:cNvPr id="14" name="标题 1"/>
          <p:cNvSpPr txBox="1"/>
          <p:nvPr/>
        </p:nvSpPr>
        <p:spPr>
          <a:xfrm flipV="1">
            <a:off x="6340386" y="4417650"/>
            <a:ext cx="177233" cy="177233"/>
          </a:xfrm>
          <a:prstGeom prst="ellipse">
            <a:avLst/>
          </a:prstGeom>
          <a:noFill/>
          <a:ln w="12700" cap="sq">
            <a:solidFill>
              <a:schemeClr val="bg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5400000">
            <a:off x="11550199" y="5824618"/>
            <a:ext cx="476416" cy="980751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/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69000">
                <a:schemeClr val="bg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C314E"/>
      </a:accent1>
      <a:accent2>
        <a:srgbClr val="EF0086"/>
      </a:accent2>
      <a:accent3>
        <a:srgbClr val="EA00AF"/>
      </a:accent3>
      <a:accent4>
        <a:srgbClr val="DB00D0"/>
      </a:accent4>
      <a:accent5>
        <a:srgbClr val="B900E7"/>
      </a:accent5>
      <a:accent6>
        <a:srgbClr val="7A32F0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2695</Words>
  <Application>Microsoft Office PowerPoint</Application>
  <PresentationFormat>Widescreen</PresentationFormat>
  <Paragraphs>874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poppins-bold</vt:lpstr>
      <vt:lpstr>Arial</vt:lpstr>
      <vt:lpstr>Poppins</vt:lpstr>
      <vt:lpstr>Cambria Math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Saikiran Chepa</cp:lastModifiedBy>
  <cp:revision>37</cp:revision>
  <dcterms:modified xsi:type="dcterms:W3CDTF">2025-10-01T23:47:02Z</dcterms:modified>
</cp:coreProperties>
</file>