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323" r:id="rId5"/>
    <p:sldId id="259" r:id="rId6"/>
    <p:sldId id="324" r:id="rId7"/>
    <p:sldId id="260" r:id="rId8"/>
    <p:sldId id="261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8" r:id="rId26"/>
    <p:sldId id="319" r:id="rId27"/>
    <p:sldId id="287" r:id="rId28"/>
    <p:sldId id="320" r:id="rId29"/>
    <p:sldId id="321" r:id="rId30"/>
    <p:sldId id="322" r:id="rId31"/>
    <p:sldId id="316" r:id="rId32"/>
    <p:sldId id="288" r:id="rId33"/>
    <p:sldId id="317" r:id="rId34"/>
    <p:sldId id="266" r:id="rId35"/>
    <p:sldId id="267" r:id="rId36"/>
    <p:sldId id="263" r:id="rId37"/>
    <p:sldId id="264" r:id="rId38"/>
    <p:sldId id="265" r:id="rId39"/>
    <p:sldId id="268" r:id="rId40"/>
    <p:sldId id="269" r:id="rId41"/>
    <p:sldId id="270" r:id="rId42"/>
    <p:sldId id="271" r:id="rId43"/>
    <p:sldId id="272" r:id="rId44"/>
    <p:sldId id="289" r:id="rId45"/>
    <p:sldId id="273" r:id="rId46"/>
    <p:sldId id="274" r:id="rId47"/>
    <p:sldId id="275" r:id="rId48"/>
    <p:sldId id="276" r:id="rId49"/>
    <p:sldId id="277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279" r:id="rId61"/>
    <p:sldId id="262" r:id="rId62"/>
    <p:sldId id="280" r:id="rId63"/>
    <p:sldId id="281" r:id="rId64"/>
    <p:sldId id="325" r:id="rId65"/>
    <p:sldId id="326" r:id="rId66"/>
    <p:sldId id="282" r:id="rId67"/>
    <p:sldId id="283" r:id="rId68"/>
    <p:sldId id="284" r:id="rId69"/>
    <p:sldId id="285" r:id="rId70"/>
    <p:sldId id="286" r:id="rId71"/>
  </p:sldIdLst>
  <p:sldSz cx="12192000" cy="6858000"/>
  <p:notesSz cx="6858000" cy="9144000"/>
  <p:embeddedFontLst>
    <p:embeddedFont>
      <p:font typeface="Cambria Math" panose="02040503050406030204" pitchFamily="18" charset="0"/>
      <p:regular r:id="rId72"/>
    </p:embeddedFont>
    <p:embeddedFont>
      <p:font typeface="Poppins" panose="00000500000000000000" pitchFamily="2" charset="0"/>
      <p:regular r:id="rId73"/>
      <p:bold r:id="rId74"/>
      <p:italic r:id="rId75"/>
      <p:boldItalic r:id="rId76"/>
    </p:embeddedFont>
    <p:embeddedFont>
      <p:font typeface="poppins-bold" panose="020B0604020202020204" charset="0"/>
      <p:regular r:id="rId7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88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3.fntdata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font" Target="fonts/font6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.fntdata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2.fntdata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5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Code: Fixed-Point FIR Filter Design and Output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 panose="00000500000000000000" pitchFamily="2" charset="0"/>
                <a:ea typeface="Poppins"/>
                <a:cs typeface="Poppins" panose="00000500000000000000" pitchFamily="2" charset="0"/>
              </a:rPr>
              <a:t>Floating-Point Representation (Refresher)</a:t>
            </a:r>
            <a:endParaRPr kumimoji="1" lang="zh-CN" altLang="en-US" sz="12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 sz="1200" dirty="0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 dirty="0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/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4000" b="0" i="0" smtClean="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en-GB" sz="4000" b="0" i="0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grow m:val="on"/>
                                      <m:ctrlP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=0</m:t>
                                      </m:r>
                                    </m:sub>
                                    <m:sup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US" sz="4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40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𝑂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4000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nary>
                                </m:num>
                                <m:den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0⋅5</m:t>
                          </m:r>
                        </m:sup>
                      </m:sSup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9598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606AB9-1B34-33DB-FA11-830A28E453C1}"/>
              </a:ext>
            </a:extLst>
          </p:cNvPr>
          <p:cNvSpPr txBox="1"/>
          <p:nvPr/>
        </p:nvSpPr>
        <p:spPr>
          <a:xfrm>
            <a:off x="0" y="1413063"/>
            <a:ext cx="11997195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x[n] = A</a:t>
            </a:r>
            <a:r>
              <a:rPr lang="en-GB" sz="3200" baseline="-25000" dirty="0"/>
              <a:t>1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*n) + A</a:t>
            </a:r>
            <a:r>
              <a:rPr lang="en-GB" sz="3200" baseline="-25000" dirty="0"/>
              <a:t>2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*n)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1</a:t>
            </a:r>
            <a:r>
              <a:rPr lang="en-GB" sz="3200" dirty="0"/>
              <a:t>*|H(e</a:t>
            </a:r>
            <a:r>
              <a:rPr lang="en-GB" sz="3200" baseline="30000" dirty="0"/>
              <a:t>jw1</a:t>
            </a:r>
            <a:r>
              <a:rPr lang="en-GB" sz="3200" dirty="0"/>
              <a:t>)|*Sin(w</a:t>
            </a:r>
            <a:r>
              <a:rPr lang="en-GB" sz="3200" baseline="-25000" dirty="0"/>
              <a:t>1</a:t>
            </a:r>
            <a:r>
              <a:rPr lang="en-GB" sz="3200" dirty="0"/>
              <a:t>*n – w</a:t>
            </a:r>
            <a:r>
              <a:rPr lang="en-GB" sz="3200" baseline="-25000" dirty="0"/>
              <a:t>1</a:t>
            </a:r>
            <a:r>
              <a:rPr lang="en-GB" sz="3200" dirty="0"/>
              <a:t>*n0) + A</a:t>
            </a:r>
            <a:r>
              <a:rPr lang="en-GB" sz="3200" baseline="-25000" dirty="0"/>
              <a:t>2</a:t>
            </a:r>
            <a:r>
              <a:rPr lang="en-GB" sz="3200" dirty="0"/>
              <a:t> *|H(e</a:t>
            </a:r>
            <a:r>
              <a:rPr lang="en-GB" sz="3200" baseline="30000" dirty="0"/>
              <a:t>jw2</a:t>
            </a:r>
            <a:r>
              <a:rPr lang="en-GB" sz="3200" dirty="0"/>
              <a:t>)|* Sin(w</a:t>
            </a:r>
            <a:r>
              <a:rPr lang="en-GB" sz="3200" baseline="-25000" dirty="0"/>
              <a:t>2</a:t>
            </a:r>
            <a:r>
              <a:rPr lang="en-GB" sz="3200" dirty="0"/>
              <a:t>*n-w</a:t>
            </a:r>
            <a:r>
              <a:rPr lang="en-GB" sz="3200" baseline="-25000" dirty="0"/>
              <a:t>2</a:t>
            </a:r>
            <a:r>
              <a:rPr lang="en-GB" sz="3200" dirty="0"/>
              <a:t>*n0)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3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*(n – n0)) + A</a:t>
            </a:r>
            <a:r>
              <a:rPr lang="en-GB" sz="3200" baseline="-25000" dirty="0"/>
              <a:t>4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*(n-n0))</a:t>
            </a:r>
            <a:br>
              <a:rPr lang="en-GB" sz="3200" dirty="0"/>
            </a:b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24684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标题 1"/>
              <p:cNvSpPr txBox="1"/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0" tIns="0" rIns="0" bIns="0" rtlCol="0" anchor="ctr"/>
              <a:lstStyle/>
              <a:p>
                <a:pPr algn="l"/>
                <a:r>
                  <a:rPr kumimoji="1" lang="en-US" altLang="zh-CN" sz="2800" dirty="0">
                    <a:ln w="12700">
                      <a:noFill/>
                    </a:ln>
                    <a:solidFill>
                      <a:srgbClr val="262626">
                        <a:alpha val="100000"/>
                      </a:srgbClr>
                    </a:solidFill>
                    <a:latin typeface="poppins-bold"/>
                    <a:ea typeface="poppins-bold"/>
                    <a:cs typeface="poppins-bold"/>
                  </a:rPr>
                  <a:t>General Equation: </a:t>
                </a:r>
                <a14:m>
                  <m:oMath xmlns:m="http://schemas.openxmlformats.org/officeDocument/2006/math">
                    <m:r>
                      <a:rPr kumimoji="1" lang="en-US" altLang="zh-CN" sz="2800" i="1" dirty="0" smtClean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grow m:val="on"/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m:rPr>
                            <m:sty m:val="p"/>
                          </m:rPr>
                          <a:rPr kumimoji="1" lang="en-GB" altLang="zh-CN" sz="2800" b="0" i="0" dirty="0" smtClean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800" i="1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28" name="标题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blipFill>
                <a:blip r:embed="rId2"/>
                <a:stretch>
                  <a:fillRect l="-2057" t="-14474" b="-4736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233936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Impulse response: h[n], length = M + 1.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sequence: x[n], length = N</a:t>
                </a:r>
                <a:r>
                  <a:rPr kumimoji="0" lang="en-US" altLang="en-US" sz="26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x</a:t>
                </a: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Choose FFT size N ≥ L + M where: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L = block length of input,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Each input block has length L,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Output per block has length L + M.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lang="en-US" altLang="en-US" sz="2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1: x[0] ... x[L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2: x[L] ... x[2L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3: x[2L] ...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kumimoji="0" lang="sv-SE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each block to length </a:t>
                </a:r>
                <a14:m>
                  <m:oMath xmlns:m="http://schemas.openxmlformats.org/officeDocument/2006/math">
                    <m:r>
                      <a:rPr lang="en-GB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6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to length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Perform FFT of both, multiply in frequency domain, 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   IFFT → gives circular convolution.</a:t>
                </a:r>
                <a:endParaRPr kumimoji="0" lang="en-US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blipFill>
                <a:blip r:embed="rId2"/>
                <a:stretch>
                  <a:fillRect l="-800" t="-38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49487EA-D233-A6D7-58CE-B012E67533BB}"/>
              </a:ext>
            </a:extLst>
          </p:cNvPr>
          <p:cNvSpPr txBox="1"/>
          <p:nvPr/>
        </p:nvSpPr>
        <p:spPr>
          <a:xfrm>
            <a:off x="3424518" y="0"/>
            <a:ext cx="4425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Overlap and Add Method</a:t>
            </a: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552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/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Handle overlap (why it’s called Overlap-Add):</a:t>
                </a: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Each block convolution produces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𝐿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𝑀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When placing results together,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 last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samples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of one block overlap with the first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of the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next block’s result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we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add them together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Concatenate + Add overlaps: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Place outputs one after another, and wherever they overlap, </a:t>
                </a:r>
              </a:p>
              <a:p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add the 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final result = linear convolution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∗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blipFill>
                <a:blip r:embed="rId2"/>
                <a:stretch>
                  <a:fillRect l="-1319" t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91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6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/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600" dirty="0"/>
                  <a:t>Y[n]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pt-BR" sz="26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pt-BR" sz="2600" i="0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pt-BR" sz="2600" i="1" dirty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func>
                          <m:func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mod</m:t>
                            </m:r>
                          </m:fName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2600" dirty="0"/>
                  <a:t>  n=0,1,…,(N-1)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blipFill>
                <a:blip r:embed="rId2"/>
                <a:stretch>
                  <a:fillRect l="-1314" t="-4494" b="-24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5CBF7CF-482B-A8AF-4C27-5FA8370AF0B6}"/>
              </a:ext>
            </a:extLst>
          </p:cNvPr>
          <p:cNvSpPr txBox="1"/>
          <p:nvPr/>
        </p:nvSpPr>
        <p:spPr>
          <a:xfrm>
            <a:off x="1299882" y="2250141"/>
            <a:ext cx="10825399" cy="2523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Key Points:</a:t>
            </a:r>
          </a:p>
          <a:p>
            <a:endParaRPr lang="en-GB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Signals are assumed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periodic with period 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Output length is always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Extra terms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wrap around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 and add at the beginning of the output.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684DC6-4B78-505E-9FB5-6901A66F406F}"/>
              </a:ext>
            </a:extLst>
          </p:cNvPr>
          <p:cNvSpPr txBox="1"/>
          <p:nvPr/>
        </p:nvSpPr>
        <p:spPr>
          <a:xfrm>
            <a:off x="600636" y="148904"/>
            <a:ext cx="11524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Circular Convolution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0932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CE239F0-CF86-1687-5F77-92CFA0CEB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998" y="610136"/>
            <a:ext cx="10999696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Input block: x = [1,2,3,4] , length N = 4.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Filter: h = [1,1,1] , length M = 3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​ = [1,3,6,9,7,4]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Y[0] = x[0]*h[(0-0) mod N] + x[1]*h[[(0-1) mod N]+ x[2]*h[(0-2) mod N] + x[3]*h[[(0-3)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1*1+2*0+3*1+4*1 = 8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Y[1] = x[0]*h[(1-0) mod N] + x[1]*h[[(1-1) mod N]+ x[2]*h[(1-2) mod N] + x[3]*h[[(1-3)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1*1+2*1+3*0+4*1 = 7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Y[2] = x[0]*h[(2-0) mod N] + x[1]*h[[(2-1) mod N]+ x[2]*h[(2-2) mod N] + x[3]*h[[(2-3)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1*1+2*1+3*1+4*0 = 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Y[3] = x[0]*h[(3-0) mod N] + x[1]*h[[(3-1) mod N]+ x[2]*h[(3-2) mod N] + x[3]*h[[(3-3)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1*0+2*1+3*1+4*1 = 9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2854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F779-5288-8EE2-3842-208BEB77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block: x = [1,2,3,4] , length N = 4.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Filter: h = [1,1,1] , length M = 3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 = [1,3,6,9,7,4]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=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+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 + N], (k=0,1,2,3)</a:t>
                </a: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explicitly:</a:t>
                </a: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the circular convolution output is: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sz="20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circular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ar-AE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blipFill>
                <a:blip r:embed="rId2"/>
                <a:stretch>
                  <a:fillRect l="-79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24690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09534E62-D7E1-7690-2230-EA7EDF7AF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696" y="856357"/>
            <a:ext cx="9293291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Let input sequence = x[n], n = 0,1,…,Nx−1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Filter impulse response = h[n], length M+1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Choose FFT size N such that N ≥ (M+1)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Each processed block will output N−M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1: x[0] ... x[N-1]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2: x[N-M] ... x[2N-M-1]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3: x[2N-2(M)]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0F8702-BA04-C0DF-637B-77CA952EF87E}"/>
              </a:ext>
            </a:extLst>
          </p:cNvPr>
          <p:cNvSpPr txBox="1"/>
          <p:nvPr/>
        </p:nvSpPr>
        <p:spPr>
          <a:xfrm>
            <a:off x="2768723" y="331694"/>
            <a:ext cx="58272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Overlap and Save Method</a:t>
            </a: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3244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6216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/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each segment (length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zero-padded to 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Multiply in frequency domain.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Perform IFFT to get time-domain result.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Each block produces </a:t>
                </a:r>
                <a14:m>
                  <m:oMath xmlns:m="http://schemas.openxmlformats.org/officeDocument/2006/math">
                    <m:r>
                      <a:rPr lang="en-GB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output samples, but the </a:t>
                </a:r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invalid</a:t>
                </a: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(they contain circular convolution wrap around).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Discard those.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remaining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the valid part of the linear convolution.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Concatenate the valid samples from each block to reconstruct the full output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blipFill>
                <a:blip r:embed="rId2"/>
                <a:stretch>
                  <a:fillRect l="-1318" t="-1171" r="-1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10866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19514244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15957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 dirty="0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81713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as (1+m+n)- 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Q1.2.13 and Q1.3.12??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014424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640611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52925D-C8AC-B156-283F-3FFD7154FF44}"/>
              </a:ext>
            </a:extLst>
          </p:cNvPr>
          <p:cNvSpPr txBox="1"/>
          <p:nvPr/>
        </p:nvSpPr>
        <p:spPr>
          <a:xfrm>
            <a:off x="0" y="674400"/>
            <a:ext cx="11954701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>
                <a:solidFill>
                  <a:srgbClr val="00B050"/>
                </a:solidFill>
              </a:rPr>
              <a:t>1. Coeffs : 16-bit, Input: 16-bit, Output: 16-bit : RMSE = -50.549183 dB</a:t>
            </a:r>
          </a:p>
          <a:p>
            <a:r>
              <a:rPr lang="en-GB" sz="2200" dirty="0"/>
              <a:t> </a:t>
            </a:r>
          </a:p>
          <a:p>
            <a:r>
              <a:rPr lang="en-GB" sz="2200" dirty="0">
                <a:solidFill>
                  <a:schemeClr val="accent6">
                    <a:lumMod val="75000"/>
                  </a:schemeClr>
                </a:solidFill>
              </a:rPr>
              <a:t>2. Coeffs : 32-bit, Input: 16-bit, Output: 16-bit : RMSE = -52.707434 dB</a:t>
            </a:r>
          </a:p>
          <a:p>
            <a:endParaRPr lang="en-GB" sz="2200" dirty="0"/>
          </a:p>
          <a:p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3. Coeffs : 16-bit, Input: 32-bit, Output: 32-bit : RMSE = -54.919543 dB</a:t>
            </a:r>
          </a:p>
          <a:p>
            <a:endParaRPr lang="en-GB" sz="2200" dirty="0"/>
          </a:p>
          <a:p>
            <a:r>
              <a:rPr lang="en-GB" sz="2200" dirty="0"/>
              <a:t>4. Coeffs : 32-bit, Input: 32-bit, Output: 32-bit : RMSE = -126.177740 dB</a:t>
            </a:r>
          </a:p>
          <a:p>
            <a:endParaRPr lang="en-GB" sz="2200" dirty="0"/>
          </a:p>
          <a:p>
            <a:r>
              <a:rPr lang="en-GB" sz="2200" dirty="0"/>
              <a:t>5. Coeffs : 16-bit, Input: 16-bit, Output: 16-bit : Intermediate size 32-bit : RMSE = -50.549183 dB</a:t>
            </a:r>
          </a:p>
          <a:p>
            <a:endParaRPr lang="en-GB" sz="2200" dirty="0"/>
          </a:p>
          <a:p>
            <a:r>
              <a:rPr lang="en-GB" sz="2200" dirty="0">
                <a:solidFill>
                  <a:srgbClr val="00B050"/>
                </a:solidFill>
              </a:rPr>
              <a:t>6. Coeffs : 16-bit, Input: 16-bit, Output: 16-bit : Exploiting Guard Bits : RMSE = -52.676044 dB</a:t>
            </a:r>
            <a:r>
              <a:rPr lang="en-GB" sz="2200" dirty="0"/>
              <a:t>  </a:t>
            </a:r>
          </a:p>
          <a:p>
            <a:endParaRPr lang="en-GB" sz="2200" dirty="0"/>
          </a:p>
          <a:p>
            <a:r>
              <a:rPr lang="en-GB" sz="2200" dirty="0">
                <a:solidFill>
                  <a:schemeClr val="accent6">
                    <a:lumMod val="75000"/>
                  </a:schemeClr>
                </a:solidFill>
              </a:rPr>
              <a:t>7. Coeffs : 32-bit, Input: 16-bit, Output: 16-bit : Exploiting Guard Bits : RMSE = -52.707434 dB</a:t>
            </a:r>
          </a:p>
          <a:p>
            <a:endParaRPr lang="en-GB" sz="2200" dirty="0"/>
          </a:p>
          <a:p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8. Coeffs : 16-bit, Input: 32-bit, Output: 32-bit : Exploiting Guard Bits : RMSE = -76.243730 dB</a:t>
            </a:r>
            <a:endParaRPr lang="en-US" sz="22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443826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86DC56-8C88-1265-F993-E55EF9225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9958"/>
            <a:ext cx="12192000" cy="6058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15267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916</TotalTime>
  <Words>2948</Words>
  <Application>Microsoft Office PowerPoint</Application>
  <PresentationFormat>Widescreen</PresentationFormat>
  <Paragraphs>889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5" baseType="lpstr">
      <vt:lpstr>Poppins</vt:lpstr>
      <vt:lpstr>poppins-bold</vt:lpstr>
      <vt:lpstr>Arial</vt:lpstr>
      <vt:lpstr>Cambria Math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60</cp:revision>
  <dcterms:modified xsi:type="dcterms:W3CDTF">2025-10-17T04:12:04Z</dcterms:modified>
</cp:coreProperties>
</file>