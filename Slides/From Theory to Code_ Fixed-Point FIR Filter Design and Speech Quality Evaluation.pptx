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307" r:id="rId15"/>
    <p:sldId id="308" r:id="rId16"/>
    <p:sldId id="309" r:id="rId17"/>
    <p:sldId id="310" r:id="rId18"/>
    <p:sldId id="311" r:id="rId19"/>
    <p:sldId id="312" r:id="rId20"/>
    <p:sldId id="313" r:id="rId21"/>
    <p:sldId id="314" r:id="rId22"/>
    <p:sldId id="315" r:id="rId23"/>
    <p:sldId id="287" r:id="rId24"/>
    <p:sldId id="318" r:id="rId25"/>
    <p:sldId id="319" r:id="rId26"/>
    <p:sldId id="288" r:id="rId27"/>
    <p:sldId id="316" r:id="rId28"/>
    <p:sldId id="317" r:id="rId29"/>
    <p:sldId id="262" r:id="rId30"/>
    <p:sldId id="263" r:id="rId31"/>
    <p:sldId id="264" r:id="rId32"/>
    <p:sldId id="265" r:id="rId33"/>
    <p:sldId id="266" r:id="rId34"/>
    <p:sldId id="267" r:id="rId35"/>
    <p:sldId id="268" r:id="rId36"/>
    <p:sldId id="269" r:id="rId37"/>
    <p:sldId id="270" r:id="rId38"/>
    <p:sldId id="271" r:id="rId39"/>
    <p:sldId id="272" r:id="rId40"/>
    <p:sldId id="289" r:id="rId41"/>
    <p:sldId id="273" r:id="rId42"/>
    <p:sldId id="274" r:id="rId43"/>
    <p:sldId id="275" r:id="rId44"/>
    <p:sldId id="276" r:id="rId45"/>
    <p:sldId id="277" r:id="rId46"/>
    <p:sldId id="278" r:id="rId47"/>
    <p:sldId id="290" r:id="rId48"/>
    <p:sldId id="291" r:id="rId49"/>
    <p:sldId id="292" r:id="rId50"/>
    <p:sldId id="293" r:id="rId51"/>
    <p:sldId id="294" r:id="rId52"/>
    <p:sldId id="295" r:id="rId53"/>
    <p:sldId id="296" r:id="rId54"/>
    <p:sldId id="297" r:id="rId55"/>
    <p:sldId id="298" r:id="rId56"/>
    <p:sldId id="299" r:id="rId57"/>
    <p:sldId id="279" r:id="rId58"/>
    <p:sldId id="280" r:id="rId59"/>
    <p:sldId id="281" r:id="rId60"/>
    <p:sldId id="282" r:id="rId61"/>
    <p:sldId id="283" r:id="rId62"/>
    <p:sldId id="284" r:id="rId63"/>
    <p:sldId id="285" r:id="rId64"/>
    <p:sldId id="286" r:id="rId65"/>
  </p:sldIdLst>
  <p:sldSz cx="12192000" cy="6858000"/>
  <p:notesSz cx="6858000" cy="9144000"/>
  <p:embeddedFontLst>
    <p:embeddedFont>
      <p:font typeface="Cambria Math" panose="02040503050406030204" pitchFamily="18" charset="0"/>
      <p:regular r:id="rId66"/>
    </p:embeddedFont>
    <p:embeddedFont>
      <p:font typeface="Poppins" panose="00000500000000000000" pitchFamily="2" charset="0"/>
      <p:regular r:id="rId67"/>
      <p:bold r:id="rId68"/>
      <p:italic r:id="rId69"/>
      <p:boldItalic r:id="rId70"/>
    </p:embeddedFont>
    <p:embeddedFont>
      <p:font typeface="poppins-bold" panose="020B0604020202020204" charset="0"/>
      <p:regular r:id="rId7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1.fntdata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font" Target="fonts/font4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5.fntdata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font" Target="fonts/font6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cs typeface="Poppins"/>
              </a:rPr>
              <a:t>Saikiran Chepa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From Theory to Code Fixed-Point FIR Filter Design and Speech Quality Evaluation</a:t>
            </a:r>
            <a:endParaRPr kumimoji="1" lang="zh-CN" altLang="en-US" dirty="0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546353" y="901479"/>
            <a:ext cx="3005521" cy="582735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4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 flipH="1">
            <a:off x="3546353" y="1532699"/>
            <a:ext cx="4558651" cy="0"/>
          </a:xfrm>
          <a:prstGeom prst="line">
            <a:avLst/>
          </a:prstGeom>
          <a:noFill/>
          <a:ln w="12700" cap="sq">
            <a:solidFill>
              <a:schemeClr val="tx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8139096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Motivation for Fixed Point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8139096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Representation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778352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554304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903822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Finite Impulse Response (FIR) Filter Design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903822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Floating-Point Representation (Refresher)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554304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778352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4.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-1" y="0"/>
            <a:ext cx="2657476" cy="6858000"/>
          </a:xfrm>
          <a:prstGeom prst="rect">
            <a:avLst/>
          </a:pr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95880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3739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31597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139096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Arithmetic Examples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903822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Float-to-Fixed Conversion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554304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5.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778352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6.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8139096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Verification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3903822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Example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554304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7.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778352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8.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8139096" y="54192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Hands On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3903822" y="5419289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Summary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554304" y="5378670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9.</a:t>
            </a:r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7641203" y="5378670"/>
            <a:ext cx="468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10.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Finite Impulse Response (FIR) Filter Design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5341254" y="2088244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341254" y="3786773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alphaModFix/>
          </a:blip>
          <a:srcRect l="1743" t="12139" r="79867" b="67974"/>
          <a:stretch>
            <a:fillRect/>
          </a:stretch>
        </p:blipFill>
        <p:spPr>
          <a:xfrm>
            <a:off x="769256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alphaModFix/>
          </a:blip>
          <a:srcRect l="21053" t="12139" r="60557" b="67974"/>
          <a:stretch>
            <a:fillRect/>
          </a:stretch>
        </p:blipFill>
        <p:spPr>
          <a:xfrm>
            <a:off x="3055255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alphaModFix/>
          </a:blip>
          <a:srcRect l="21053" t="33383" r="60557" b="46730"/>
          <a:stretch>
            <a:fillRect/>
          </a:stretch>
        </p:blipFill>
        <p:spPr>
          <a:xfrm>
            <a:off x="3055255" y="3764641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8" name="标题 1"/>
          <p:cNvSpPr txBox="1"/>
          <p:nvPr/>
        </p:nvSpPr>
        <p:spPr>
          <a:xfrm>
            <a:off x="0" y="2088243"/>
            <a:ext cx="660400" cy="3245757"/>
          </a:xfrm>
          <a:prstGeom prst="rect">
            <a:avLst/>
          </a:prstGeom>
          <a:solidFill>
            <a:schemeClr val="accent1"/>
          </a:solidFill>
          <a:ln w="12700" cap="rnd">
            <a:noFill/>
            <a:round/>
            <a:headEnd/>
            <a:tailEnd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5562286" y="2313217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300126" y="2299708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Always stable (no feedback terms)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300126" y="3962761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Output depends only on current and past inputs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677345" y="2428276"/>
            <a:ext cx="302196" cy="30219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562286" y="4000465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77345" y="4129634"/>
            <a:ext cx="302196" cy="273976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1199" y="4129446"/>
            <a:ext cx="2349500" cy="121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9600">
                <a:ln w="12700">
                  <a:noFill/>
                </a:ln>
                <a:solidFill>
                  <a:srgbClr val="FBD6DC">
                    <a:alpha val="50000"/>
                  </a:srgbClr>
                </a:solidFill>
                <a:latin typeface="poppins-bold"/>
                <a:ea typeface="poppins-bold"/>
                <a:cs typeface="poppins-bold"/>
              </a:rPr>
              <a:t>01.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Linear-phase design (symmetrical coefficients)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355117" y="2021109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06146" y="2021110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06146" y="4244638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355117" y="4244637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0612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0612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089851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313817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ℎ 𝑘 = filter coefficients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313817" y="4468332"/>
            <a:ext cx="3570888" cy="147526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𝑦 𝑛 = output signal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69846" y="4468332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number of taps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6669846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𝑥 𝑛 = input signal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89851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048283" y="2642194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197111" y="2786194"/>
            <a:ext cx="242345" cy="252000"/>
          </a:xfrm>
          <a:custGeom>
            <a:avLst/>
            <a:gdLst>
              <a:gd name="connsiteX0" fmla="*/ 198153 w 692417"/>
              <a:gd name="connsiteY0" fmla="*/ 663680 h 720001"/>
              <a:gd name="connsiteX1" fmla="*/ 239787 w 692417"/>
              <a:gd name="connsiteY1" fmla="*/ 663680 h 720001"/>
              <a:gd name="connsiteX2" fmla="*/ 295235 w 692417"/>
              <a:gd name="connsiteY2" fmla="*/ 663680 h 720001"/>
              <a:gd name="connsiteX3" fmla="*/ 397182 w 692417"/>
              <a:gd name="connsiteY3" fmla="*/ 663680 h 720001"/>
              <a:gd name="connsiteX4" fmla="*/ 452630 w 692417"/>
              <a:gd name="connsiteY4" fmla="*/ 663680 h 720001"/>
              <a:gd name="connsiteX5" fmla="*/ 494264 w 692417"/>
              <a:gd name="connsiteY5" fmla="*/ 663680 h 720001"/>
              <a:gd name="connsiteX6" fmla="*/ 522425 w 692417"/>
              <a:gd name="connsiteY6" fmla="*/ 691841 h 720001"/>
              <a:gd name="connsiteX7" fmla="*/ 494264 w 692417"/>
              <a:gd name="connsiteY7" fmla="*/ 720001 h 720001"/>
              <a:gd name="connsiteX8" fmla="*/ 452630 w 692417"/>
              <a:gd name="connsiteY8" fmla="*/ 720001 h 720001"/>
              <a:gd name="connsiteX9" fmla="*/ 397182 w 692417"/>
              <a:gd name="connsiteY9" fmla="*/ 720001 h 720001"/>
              <a:gd name="connsiteX10" fmla="*/ 295235 w 692417"/>
              <a:gd name="connsiteY10" fmla="*/ 720001 h 720001"/>
              <a:gd name="connsiteX11" fmla="*/ 239787 w 692417"/>
              <a:gd name="connsiteY11" fmla="*/ 720001 h 720001"/>
              <a:gd name="connsiteX12" fmla="*/ 198153 w 692417"/>
              <a:gd name="connsiteY12" fmla="*/ 720001 h 720001"/>
              <a:gd name="connsiteX13" fmla="*/ 169992 w 692417"/>
              <a:gd name="connsiteY13" fmla="*/ 691841 h 720001"/>
              <a:gd name="connsiteX14" fmla="*/ 198153 w 692417"/>
              <a:gd name="connsiteY14" fmla="*/ 663680 h 720001"/>
              <a:gd name="connsiteX15" fmla="*/ 154400 w 692417"/>
              <a:gd name="connsiteY15" fmla="*/ 572143 h 720001"/>
              <a:gd name="connsiteX16" fmla="*/ 154241 w 692417"/>
              <a:gd name="connsiteY16" fmla="*/ 572597 h 720001"/>
              <a:gd name="connsiteX17" fmla="*/ 160423 w 692417"/>
              <a:gd name="connsiteY17" fmla="*/ 572597 h 720001"/>
              <a:gd name="connsiteX18" fmla="*/ 346215 w 692417"/>
              <a:gd name="connsiteY18" fmla="*/ 0 h 720001"/>
              <a:gd name="connsiteX19" fmla="*/ 456041 w 692417"/>
              <a:gd name="connsiteY19" fmla="*/ 22341 h 720001"/>
              <a:gd name="connsiteX20" fmla="*/ 545873 w 692417"/>
              <a:gd name="connsiteY20" fmla="*/ 82980 h 720001"/>
              <a:gd name="connsiteX21" fmla="*/ 606513 w 692417"/>
              <a:gd name="connsiteY21" fmla="*/ 172812 h 720001"/>
              <a:gd name="connsiteX22" fmla="*/ 628853 w 692417"/>
              <a:gd name="connsiteY22" fmla="*/ 282638 h 720001"/>
              <a:gd name="connsiteX23" fmla="*/ 628853 w 692417"/>
              <a:gd name="connsiteY23" fmla="*/ 493091 h 720001"/>
              <a:gd name="connsiteX24" fmla="*/ 687990 w 692417"/>
              <a:gd name="connsiteY24" fmla="*/ 585551 h 720001"/>
              <a:gd name="connsiteX25" fmla="*/ 688929 w 692417"/>
              <a:gd name="connsiteY25" fmla="*/ 614275 h 720001"/>
              <a:gd name="connsiteX26" fmla="*/ 664336 w 692417"/>
              <a:gd name="connsiteY26" fmla="*/ 628918 h 720001"/>
              <a:gd name="connsiteX27" fmla="*/ 28189 w 692417"/>
              <a:gd name="connsiteY27" fmla="*/ 628918 h 720001"/>
              <a:gd name="connsiteX28" fmla="*/ 3596 w 692417"/>
              <a:gd name="connsiteY28" fmla="*/ 614462 h 720001"/>
              <a:gd name="connsiteX29" fmla="*/ 4159 w 692417"/>
              <a:gd name="connsiteY29" fmla="*/ 585927 h 720001"/>
              <a:gd name="connsiteX30" fmla="*/ 63578 w 692417"/>
              <a:gd name="connsiteY30" fmla="*/ 489336 h 720001"/>
              <a:gd name="connsiteX31" fmla="*/ 63578 w 692417"/>
              <a:gd name="connsiteY31" fmla="*/ 282638 h 720001"/>
              <a:gd name="connsiteX32" fmla="*/ 85919 w 692417"/>
              <a:gd name="connsiteY32" fmla="*/ 172812 h 720001"/>
              <a:gd name="connsiteX33" fmla="*/ 146558 w 692417"/>
              <a:gd name="connsiteY33" fmla="*/ 82980 h 720001"/>
              <a:gd name="connsiteX34" fmla="*/ 236389 w 692417"/>
              <a:gd name="connsiteY34" fmla="*/ 22341 h 720001"/>
              <a:gd name="connsiteX35" fmla="*/ 346215 w 692417"/>
              <a:gd name="connsiteY35" fmla="*/ 0 h 720001"/>
            </a:gdLst>
            <a:ahLst/>
            <a:cxnLst/>
            <a:rect l="l" t="t" r="r" b="b"/>
            <a:pathLst>
              <a:path w="692417" h="720001">
                <a:moveTo>
                  <a:pt x="198153" y="663680"/>
                </a:moveTo>
                <a:lnTo>
                  <a:pt x="239787" y="663680"/>
                </a:lnTo>
                <a:lnTo>
                  <a:pt x="295235" y="663680"/>
                </a:lnTo>
                <a:lnTo>
                  <a:pt x="397182" y="663680"/>
                </a:lnTo>
                <a:lnTo>
                  <a:pt x="452630" y="663680"/>
                </a:lnTo>
                <a:lnTo>
                  <a:pt x="494264" y="663680"/>
                </a:lnTo>
                <a:cubicBezTo>
                  <a:pt x="509847" y="663680"/>
                  <a:pt x="522425" y="676259"/>
                  <a:pt x="522425" y="691841"/>
                </a:cubicBezTo>
                <a:cubicBezTo>
                  <a:pt x="522425" y="707423"/>
                  <a:pt x="509753" y="720001"/>
                  <a:pt x="494264" y="720001"/>
                </a:cubicBezTo>
                <a:lnTo>
                  <a:pt x="452630" y="720001"/>
                </a:lnTo>
                <a:lnTo>
                  <a:pt x="397182" y="720001"/>
                </a:lnTo>
                <a:lnTo>
                  <a:pt x="295235" y="720001"/>
                </a:lnTo>
                <a:lnTo>
                  <a:pt x="239787" y="720001"/>
                </a:lnTo>
                <a:lnTo>
                  <a:pt x="198153" y="720001"/>
                </a:lnTo>
                <a:cubicBezTo>
                  <a:pt x="182571" y="720001"/>
                  <a:pt x="169992" y="707423"/>
                  <a:pt x="169992" y="691841"/>
                </a:cubicBezTo>
                <a:cubicBezTo>
                  <a:pt x="169992" y="676259"/>
                  <a:pt x="182571" y="663680"/>
                  <a:pt x="198153" y="663680"/>
                </a:cubicBezTo>
                <a:close/>
                <a:moveTo>
                  <a:pt x="154400" y="572143"/>
                </a:moveTo>
                <a:lnTo>
                  <a:pt x="154241" y="572597"/>
                </a:lnTo>
                <a:lnTo>
                  <a:pt x="160423" y="572597"/>
                </a:lnTo>
                <a:close/>
                <a:moveTo>
                  <a:pt x="346215" y="0"/>
                </a:moveTo>
                <a:cubicBezTo>
                  <a:pt x="384232" y="0"/>
                  <a:pt x="421122" y="7510"/>
                  <a:pt x="456041" y="22341"/>
                </a:cubicBezTo>
                <a:cubicBezTo>
                  <a:pt x="489646" y="36609"/>
                  <a:pt x="519872" y="57072"/>
                  <a:pt x="545873" y="82980"/>
                </a:cubicBezTo>
                <a:cubicBezTo>
                  <a:pt x="571875" y="108981"/>
                  <a:pt x="592245" y="139207"/>
                  <a:pt x="606513" y="172812"/>
                </a:cubicBezTo>
                <a:cubicBezTo>
                  <a:pt x="621344" y="207637"/>
                  <a:pt x="628853" y="244621"/>
                  <a:pt x="628853" y="282638"/>
                </a:cubicBezTo>
                <a:lnTo>
                  <a:pt x="628853" y="493091"/>
                </a:lnTo>
                <a:lnTo>
                  <a:pt x="687990" y="585551"/>
                </a:lnTo>
                <a:cubicBezTo>
                  <a:pt x="693528" y="594187"/>
                  <a:pt x="693904" y="605263"/>
                  <a:pt x="688929" y="614275"/>
                </a:cubicBezTo>
                <a:cubicBezTo>
                  <a:pt x="684048" y="623286"/>
                  <a:pt x="674567" y="628918"/>
                  <a:pt x="664336" y="628918"/>
                </a:cubicBezTo>
                <a:lnTo>
                  <a:pt x="28189" y="628918"/>
                </a:lnTo>
                <a:cubicBezTo>
                  <a:pt x="17958" y="628918"/>
                  <a:pt x="8571" y="623380"/>
                  <a:pt x="3596" y="614462"/>
                </a:cubicBezTo>
                <a:cubicBezTo>
                  <a:pt x="-1380" y="605545"/>
                  <a:pt x="-1192" y="594656"/>
                  <a:pt x="4159" y="585927"/>
                </a:cubicBezTo>
                <a:lnTo>
                  <a:pt x="63578" y="489336"/>
                </a:lnTo>
                <a:lnTo>
                  <a:pt x="63578" y="282638"/>
                </a:lnTo>
                <a:cubicBezTo>
                  <a:pt x="63578" y="244621"/>
                  <a:pt x="71087" y="207731"/>
                  <a:pt x="85919" y="172812"/>
                </a:cubicBezTo>
                <a:cubicBezTo>
                  <a:pt x="100186" y="139207"/>
                  <a:pt x="120650" y="108981"/>
                  <a:pt x="146558" y="82980"/>
                </a:cubicBezTo>
                <a:cubicBezTo>
                  <a:pt x="172465" y="56978"/>
                  <a:pt x="202785" y="36609"/>
                  <a:pt x="236389" y="22341"/>
                </a:cubicBezTo>
                <a:cubicBezTo>
                  <a:pt x="271214" y="7510"/>
                  <a:pt x="308199" y="0"/>
                  <a:pt x="346215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5048283" y="4865722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5192283" y="5019164"/>
            <a:ext cx="252000" cy="233117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10362079" y="2632315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0506080" y="2792004"/>
            <a:ext cx="252000" cy="220622"/>
          </a:xfrm>
          <a:custGeom>
            <a:avLst/>
            <a:gdLst>
              <a:gd name="connsiteX0" fmla="*/ 411293 w 822401"/>
              <a:gd name="connsiteY0" fmla="*/ 234366 h 720000"/>
              <a:gd name="connsiteX1" fmla="*/ 536928 w 822401"/>
              <a:gd name="connsiteY1" fmla="*/ 360000 h 720000"/>
              <a:gd name="connsiteX2" fmla="*/ 411293 w 822401"/>
              <a:gd name="connsiteY2" fmla="*/ 485635 h 720000"/>
              <a:gd name="connsiteX3" fmla="*/ 285659 w 822401"/>
              <a:gd name="connsiteY3" fmla="*/ 360000 h 720000"/>
              <a:gd name="connsiteX4" fmla="*/ 411293 w 822401"/>
              <a:gd name="connsiteY4" fmla="*/ 234366 h 720000"/>
              <a:gd name="connsiteX5" fmla="*/ 411293 w 822401"/>
              <a:gd name="connsiteY5" fmla="*/ 178938 h 720000"/>
              <a:gd name="connsiteX6" fmla="*/ 230231 w 822401"/>
              <a:gd name="connsiteY6" fmla="*/ 360000 h 720000"/>
              <a:gd name="connsiteX7" fmla="*/ 411293 w 822401"/>
              <a:gd name="connsiteY7" fmla="*/ 541063 h 720000"/>
              <a:gd name="connsiteX8" fmla="*/ 592355 w 822401"/>
              <a:gd name="connsiteY8" fmla="*/ 360000 h 720000"/>
              <a:gd name="connsiteX9" fmla="*/ 411293 w 822401"/>
              <a:gd name="connsiteY9" fmla="*/ 178938 h 720000"/>
              <a:gd name="connsiteX10" fmla="*/ 219884 w 822401"/>
              <a:gd name="connsiteY10" fmla="*/ 0 h 720000"/>
              <a:gd name="connsiteX11" fmla="*/ 602517 w 822401"/>
              <a:gd name="connsiteY11" fmla="*/ 0 h 720000"/>
              <a:gd name="connsiteX12" fmla="*/ 627275 w 822401"/>
              <a:gd name="connsiteY12" fmla="*/ 14319 h 720000"/>
              <a:gd name="connsiteX13" fmla="*/ 818591 w 822401"/>
              <a:gd name="connsiteY13" fmla="*/ 345682 h 720000"/>
              <a:gd name="connsiteX14" fmla="*/ 818591 w 822401"/>
              <a:gd name="connsiteY14" fmla="*/ 374319 h 720000"/>
              <a:gd name="connsiteX15" fmla="*/ 627367 w 822401"/>
              <a:gd name="connsiteY15" fmla="*/ 705682 h 720000"/>
              <a:gd name="connsiteX16" fmla="*/ 602609 w 822401"/>
              <a:gd name="connsiteY16" fmla="*/ 720000 h 720000"/>
              <a:gd name="connsiteX17" fmla="*/ 219977 w 822401"/>
              <a:gd name="connsiteY17" fmla="*/ 720000 h 720000"/>
              <a:gd name="connsiteX18" fmla="*/ 195219 w 822401"/>
              <a:gd name="connsiteY18" fmla="*/ 705682 h 720000"/>
              <a:gd name="connsiteX19" fmla="*/ 3811 w 822401"/>
              <a:gd name="connsiteY19" fmla="*/ 374319 h 720000"/>
              <a:gd name="connsiteX20" fmla="*/ 3811 w 822401"/>
              <a:gd name="connsiteY20" fmla="*/ 345682 h 720000"/>
              <a:gd name="connsiteX21" fmla="*/ 195127 w 822401"/>
              <a:gd name="connsiteY21" fmla="*/ 14319 h 720000"/>
              <a:gd name="connsiteX22" fmla="*/ 219884 w 822401"/>
              <a:gd name="connsiteY22" fmla="*/ 0 h 720000"/>
            </a:gdLst>
            <a:ahLst/>
            <a:cxnLst/>
            <a:rect l="l" t="t" r="r" b="b"/>
            <a:pathLst>
              <a:path w="822401" h="720000">
                <a:moveTo>
                  <a:pt x="411293" y="234366"/>
                </a:moveTo>
                <a:cubicBezTo>
                  <a:pt x="480577" y="234366"/>
                  <a:pt x="536928" y="290716"/>
                  <a:pt x="536928" y="360000"/>
                </a:cubicBezTo>
                <a:cubicBezTo>
                  <a:pt x="536928" y="429284"/>
                  <a:pt x="480577" y="485635"/>
                  <a:pt x="411293" y="485635"/>
                </a:cubicBezTo>
                <a:cubicBezTo>
                  <a:pt x="342009" y="485635"/>
                  <a:pt x="285659" y="429284"/>
                  <a:pt x="285659" y="360000"/>
                </a:cubicBezTo>
                <a:cubicBezTo>
                  <a:pt x="285659" y="290716"/>
                  <a:pt x="342009" y="234366"/>
                  <a:pt x="411293" y="234366"/>
                </a:cubicBezTo>
                <a:close/>
                <a:moveTo>
                  <a:pt x="411293" y="178938"/>
                </a:moveTo>
                <a:cubicBezTo>
                  <a:pt x="311432" y="178938"/>
                  <a:pt x="230231" y="260139"/>
                  <a:pt x="230231" y="360000"/>
                </a:cubicBezTo>
                <a:cubicBezTo>
                  <a:pt x="230231" y="459862"/>
                  <a:pt x="311432" y="541063"/>
                  <a:pt x="411293" y="541063"/>
                </a:cubicBezTo>
                <a:cubicBezTo>
                  <a:pt x="511154" y="541063"/>
                  <a:pt x="592355" y="459862"/>
                  <a:pt x="592355" y="360000"/>
                </a:cubicBezTo>
                <a:cubicBezTo>
                  <a:pt x="592355" y="260139"/>
                  <a:pt x="511154" y="178938"/>
                  <a:pt x="411293" y="178938"/>
                </a:cubicBezTo>
                <a:close/>
                <a:moveTo>
                  <a:pt x="219884" y="0"/>
                </a:moveTo>
                <a:lnTo>
                  <a:pt x="602517" y="0"/>
                </a:lnTo>
                <a:cubicBezTo>
                  <a:pt x="612679" y="0"/>
                  <a:pt x="622194" y="5451"/>
                  <a:pt x="627275" y="14319"/>
                </a:cubicBezTo>
                <a:lnTo>
                  <a:pt x="818591" y="345682"/>
                </a:lnTo>
                <a:cubicBezTo>
                  <a:pt x="823672" y="354550"/>
                  <a:pt x="823672" y="365451"/>
                  <a:pt x="818591" y="374319"/>
                </a:cubicBezTo>
                <a:lnTo>
                  <a:pt x="627367" y="705682"/>
                </a:lnTo>
                <a:cubicBezTo>
                  <a:pt x="622286" y="714550"/>
                  <a:pt x="612771" y="720000"/>
                  <a:pt x="602609" y="720000"/>
                </a:cubicBezTo>
                <a:lnTo>
                  <a:pt x="219977" y="720000"/>
                </a:lnTo>
                <a:cubicBezTo>
                  <a:pt x="209815" y="720000"/>
                  <a:pt x="200300" y="714550"/>
                  <a:pt x="195219" y="705682"/>
                </a:cubicBezTo>
                <a:lnTo>
                  <a:pt x="3811" y="374319"/>
                </a:lnTo>
                <a:cubicBezTo>
                  <a:pt x="-1270" y="365543"/>
                  <a:pt x="-1270" y="354550"/>
                  <a:pt x="3811" y="345682"/>
                </a:cubicBezTo>
                <a:lnTo>
                  <a:pt x="195127" y="14319"/>
                </a:lnTo>
                <a:cubicBezTo>
                  <a:pt x="200208" y="5451"/>
                  <a:pt x="209723" y="0"/>
                  <a:pt x="219884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10362079" y="4856176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10521750" y="5000176"/>
            <a:ext cx="220658" cy="252000"/>
          </a:xfrm>
          <a:custGeom>
            <a:avLst/>
            <a:gdLst>
              <a:gd name="connsiteX0" fmla="*/ 361901 w 630455"/>
              <a:gd name="connsiteY0" fmla="*/ 82589 h 720001"/>
              <a:gd name="connsiteX1" fmla="*/ 361901 w 630455"/>
              <a:gd name="connsiteY1" fmla="*/ 203034 h 720001"/>
              <a:gd name="connsiteX2" fmla="*/ 427179 w 630455"/>
              <a:gd name="connsiteY2" fmla="*/ 268312 h 720001"/>
              <a:gd name="connsiteX3" fmla="*/ 547624 w 630455"/>
              <a:gd name="connsiteY3" fmla="*/ 268312 h 720001"/>
              <a:gd name="connsiteX4" fmla="*/ 113812 w 630455"/>
              <a:gd name="connsiteY4" fmla="*/ 0 h 720001"/>
              <a:gd name="connsiteX5" fmla="*/ 338847 w 630455"/>
              <a:gd name="connsiteY5" fmla="*/ 0 h 720001"/>
              <a:gd name="connsiteX6" fmla="*/ 340465 w 630455"/>
              <a:gd name="connsiteY6" fmla="*/ 162 h 720001"/>
              <a:gd name="connsiteX7" fmla="*/ 340789 w 630455"/>
              <a:gd name="connsiteY7" fmla="*/ 162 h 720001"/>
              <a:gd name="connsiteX8" fmla="*/ 344106 w 630455"/>
              <a:gd name="connsiteY8" fmla="*/ 809 h 720001"/>
              <a:gd name="connsiteX9" fmla="*/ 344186 w 630455"/>
              <a:gd name="connsiteY9" fmla="*/ 809 h 720001"/>
              <a:gd name="connsiteX10" fmla="*/ 347422 w 630455"/>
              <a:gd name="connsiteY10" fmla="*/ 1942 h 720001"/>
              <a:gd name="connsiteX11" fmla="*/ 347503 w 630455"/>
              <a:gd name="connsiteY11" fmla="*/ 1942 h 720001"/>
              <a:gd name="connsiteX12" fmla="*/ 349040 w 630455"/>
              <a:gd name="connsiteY12" fmla="*/ 2670 h 720001"/>
              <a:gd name="connsiteX13" fmla="*/ 349121 w 630455"/>
              <a:gd name="connsiteY13" fmla="*/ 2670 h 720001"/>
              <a:gd name="connsiteX14" fmla="*/ 350576 w 630455"/>
              <a:gd name="connsiteY14" fmla="*/ 3479 h 720001"/>
              <a:gd name="connsiteX15" fmla="*/ 350819 w 630455"/>
              <a:gd name="connsiteY15" fmla="*/ 3640 h 720001"/>
              <a:gd name="connsiteX16" fmla="*/ 352033 w 630455"/>
              <a:gd name="connsiteY16" fmla="*/ 4449 h 720001"/>
              <a:gd name="connsiteX17" fmla="*/ 352194 w 630455"/>
              <a:gd name="connsiteY17" fmla="*/ 4530 h 720001"/>
              <a:gd name="connsiteX18" fmla="*/ 353408 w 630455"/>
              <a:gd name="connsiteY18" fmla="*/ 5501 h 720001"/>
              <a:gd name="connsiteX19" fmla="*/ 353651 w 630455"/>
              <a:gd name="connsiteY19" fmla="*/ 5743 h 720001"/>
              <a:gd name="connsiteX20" fmla="*/ 354864 w 630455"/>
              <a:gd name="connsiteY20" fmla="*/ 6876 h 720001"/>
              <a:gd name="connsiteX21" fmla="*/ 623418 w 630455"/>
              <a:gd name="connsiteY21" fmla="*/ 275430 h 720001"/>
              <a:gd name="connsiteX22" fmla="*/ 624551 w 630455"/>
              <a:gd name="connsiteY22" fmla="*/ 276643 h 720001"/>
              <a:gd name="connsiteX23" fmla="*/ 624793 w 630455"/>
              <a:gd name="connsiteY23" fmla="*/ 276886 h 720001"/>
              <a:gd name="connsiteX24" fmla="*/ 625764 w 630455"/>
              <a:gd name="connsiteY24" fmla="*/ 278180 h 720001"/>
              <a:gd name="connsiteX25" fmla="*/ 625845 w 630455"/>
              <a:gd name="connsiteY25" fmla="*/ 278342 h 720001"/>
              <a:gd name="connsiteX26" fmla="*/ 626734 w 630455"/>
              <a:gd name="connsiteY26" fmla="*/ 279637 h 720001"/>
              <a:gd name="connsiteX27" fmla="*/ 626896 w 630455"/>
              <a:gd name="connsiteY27" fmla="*/ 279798 h 720001"/>
              <a:gd name="connsiteX28" fmla="*/ 627705 w 630455"/>
              <a:gd name="connsiteY28" fmla="*/ 281254 h 720001"/>
              <a:gd name="connsiteX29" fmla="*/ 628433 w 630455"/>
              <a:gd name="connsiteY29" fmla="*/ 282791 h 720001"/>
              <a:gd name="connsiteX30" fmla="*/ 629646 w 630455"/>
              <a:gd name="connsiteY30" fmla="*/ 286107 h 720001"/>
              <a:gd name="connsiteX31" fmla="*/ 630293 w 630455"/>
              <a:gd name="connsiteY31" fmla="*/ 289424 h 720001"/>
              <a:gd name="connsiteX32" fmla="*/ 630293 w 630455"/>
              <a:gd name="connsiteY32" fmla="*/ 289667 h 720001"/>
              <a:gd name="connsiteX33" fmla="*/ 630455 w 630455"/>
              <a:gd name="connsiteY33" fmla="*/ 291285 h 720001"/>
              <a:gd name="connsiteX34" fmla="*/ 630455 w 630455"/>
              <a:gd name="connsiteY34" fmla="*/ 292579 h 720001"/>
              <a:gd name="connsiteX35" fmla="*/ 630455 w 630455"/>
              <a:gd name="connsiteY35" fmla="*/ 606189 h 720001"/>
              <a:gd name="connsiteX36" fmla="*/ 516644 w 630455"/>
              <a:gd name="connsiteY36" fmla="*/ 720001 h 720001"/>
              <a:gd name="connsiteX37" fmla="*/ 113812 w 630455"/>
              <a:gd name="connsiteY37" fmla="*/ 720001 h 720001"/>
              <a:gd name="connsiteX38" fmla="*/ 0 w 630455"/>
              <a:gd name="connsiteY38" fmla="*/ 606189 h 720001"/>
              <a:gd name="connsiteX39" fmla="*/ 0 w 630455"/>
              <a:gd name="connsiteY39" fmla="*/ 113812 h 720001"/>
              <a:gd name="connsiteX40" fmla="*/ 113812 w 630455"/>
              <a:gd name="connsiteY40" fmla="*/ 0 h 720001"/>
            </a:gdLst>
            <a:ahLst/>
            <a:cxnLst/>
            <a:rect l="l" t="t" r="r" b="b"/>
            <a:pathLst>
              <a:path w="630455" h="720001">
                <a:moveTo>
                  <a:pt x="361901" y="82589"/>
                </a:moveTo>
                <a:lnTo>
                  <a:pt x="361901" y="203034"/>
                </a:lnTo>
                <a:cubicBezTo>
                  <a:pt x="361901" y="239030"/>
                  <a:pt x="391183" y="268312"/>
                  <a:pt x="427179" y="268312"/>
                </a:cubicBezTo>
                <a:lnTo>
                  <a:pt x="547624" y="268312"/>
                </a:lnTo>
                <a:close/>
                <a:moveTo>
                  <a:pt x="113812" y="0"/>
                </a:moveTo>
                <a:lnTo>
                  <a:pt x="338847" y="0"/>
                </a:lnTo>
                <a:cubicBezTo>
                  <a:pt x="339414" y="81"/>
                  <a:pt x="339899" y="81"/>
                  <a:pt x="340465" y="162"/>
                </a:cubicBezTo>
                <a:lnTo>
                  <a:pt x="340789" y="162"/>
                </a:lnTo>
                <a:cubicBezTo>
                  <a:pt x="341922" y="324"/>
                  <a:pt x="343054" y="485"/>
                  <a:pt x="344106" y="809"/>
                </a:cubicBezTo>
                <a:lnTo>
                  <a:pt x="344186" y="809"/>
                </a:lnTo>
                <a:cubicBezTo>
                  <a:pt x="345238" y="1052"/>
                  <a:pt x="346371" y="1456"/>
                  <a:pt x="347422" y="1942"/>
                </a:cubicBezTo>
                <a:lnTo>
                  <a:pt x="347503" y="1942"/>
                </a:lnTo>
                <a:cubicBezTo>
                  <a:pt x="348069" y="2184"/>
                  <a:pt x="348555" y="2427"/>
                  <a:pt x="349040" y="2670"/>
                </a:cubicBezTo>
                <a:lnTo>
                  <a:pt x="349121" y="2670"/>
                </a:lnTo>
                <a:cubicBezTo>
                  <a:pt x="349606" y="2912"/>
                  <a:pt x="350091" y="3155"/>
                  <a:pt x="350576" y="3479"/>
                </a:cubicBezTo>
                <a:cubicBezTo>
                  <a:pt x="350657" y="3560"/>
                  <a:pt x="350739" y="3560"/>
                  <a:pt x="350819" y="3640"/>
                </a:cubicBezTo>
                <a:cubicBezTo>
                  <a:pt x="351224" y="3883"/>
                  <a:pt x="351628" y="4126"/>
                  <a:pt x="352033" y="4449"/>
                </a:cubicBezTo>
                <a:cubicBezTo>
                  <a:pt x="352113" y="4449"/>
                  <a:pt x="352113" y="4530"/>
                  <a:pt x="352194" y="4530"/>
                </a:cubicBezTo>
                <a:lnTo>
                  <a:pt x="353408" y="5501"/>
                </a:lnTo>
                <a:lnTo>
                  <a:pt x="353651" y="5743"/>
                </a:lnTo>
                <a:cubicBezTo>
                  <a:pt x="354055" y="6148"/>
                  <a:pt x="354459" y="6472"/>
                  <a:pt x="354864" y="6876"/>
                </a:cubicBezTo>
                <a:lnTo>
                  <a:pt x="623418" y="275430"/>
                </a:lnTo>
                <a:cubicBezTo>
                  <a:pt x="623822" y="275835"/>
                  <a:pt x="624227" y="276239"/>
                  <a:pt x="624551" y="276643"/>
                </a:cubicBezTo>
                <a:lnTo>
                  <a:pt x="624793" y="276886"/>
                </a:lnTo>
                <a:cubicBezTo>
                  <a:pt x="625117" y="277291"/>
                  <a:pt x="625440" y="277776"/>
                  <a:pt x="625764" y="278180"/>
                </a:cubicBezTo>
                <a:cubicBezTo>
                  <a:pt x="625764" y="278261"/>
                  <a:pt x="625845" y="278342"/>
                  <a:pt x="625845" y="278342"/>
                </a:cubicBezTo>
                <a:cubicBezTo>
                  <a:pt x="626168" y="278747"/>
                  <a:pt x="626491" y="279232"/>
                  <a:pt x="626734" y="279637"/>
                </a:cubicBezTo>
                <a:cubicBezTo>
                  <a:pt x="626815" y="279637"/>
                  <a:pt x="626815" y="279717"/>
                  <a:pt x="626896" y="279798"/>
                </a:cubicBezTo>
                <a:cubicBezTo>
                  <a:pt x="627139" y="280284"/>
                  <a:pt x="627462" y="280769"/>
                  <a:pt x="627705" y="281254"/>
                </a:cubicBezTo>
                <a:cubicBezTo>
                  <a:pt x="627948" y="281739"/>
                  <a:pt x="628190" y="282225"/>
                  <a:pt x="628433" y="282791"/>
                </a:cubicBezTo>
                <a:cubicBezTo>
                  <a:pt x="628918" y="283843"/>
                  <a:pt x="629323" y="284975"/>
                  <a:pt x="629646" y="286107"/>
                </a:cubicBezTo>
                <a:cubicBezTo>
                  <a:pt x="629889" y="287159"/>
                  <a:pt x="630132" y="288291"/>
                  <a:pt x="630293" y="289424"/>
                </a:cubicBezTo>
                <a:lnTo>
                  <a:pt x="630293" y="289667"/>
                </a:lnTo>
                <a:cubicBezTo>
                  <a:pt x="630374" y="290152"/>
                  <a:pt x="630455" y="290718"/>
                  <a:pt x="630455" y="291285"/>
                </a:cubicBezTo>
                <a:lnTo>
                  <a:pt x="630455" y="292579"/>
                </a:lnTo>
                <a:lnTo>
                  <a:pt x="630455" y="606189"/>
                </a:lnTo>
                <a:cubicBezTo>
                  <a:pt x="630455" y="668959"/>
                  <a:pt x="579414" y="720001"/>
                  <a:pt x="516644" y="720001"/>
                </a:cubicBezTo>
                <a:lnTo>
                  <a:pt x="113812" y="720001"/>
                </a:lnTo>
                <a:cubicBezTo>
                  <a:pt x="51042" y="720001"/>
                  <a:pt x="0" y="668959"/>
                  <a:pt x="0" y="606189"/>
                </a:cubicBezTo>
                <a:lnTo>
                  <a:pt x="0" y="113812"/>
                </a:lnTo>
                <a:cubicBezTo>
                  <a:pt x="0" y="51042"/>
                  <a:pt x="51042" y="0"/>
                  <a:pt x="113812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73121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1092360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73121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1092360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General Equation: 𝑦 𝑛 = ∑ ℎ 𝑘 ∗ 𝑥 𝑛 − 𝑘</a:t>
            </a:r>
            <a:endParaRPr kumimoji="1" lang="zh-CN" altLang="en-US" dirty="0"/>
          </a:p>
        </p:txBody>
      </p:sp>
      <p:sp>
        <p:nvSpPr>
          <p:cNvPr id="2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417572" y="0"/>
            <a:ext cx="2592181" cy="545996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184032" y="3430599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split into blocks
Each block convolved using FFT
Results added with overlap
Efficient for long filters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184032" y="5262231"/>
            <a:ext cx="4320000" cy="82098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48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divided into overlapping blocks
FFT- based convolution, discarding invalid samples
Memory- efficient alternative to OLA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14988" y="2476500"/>
            <a:ext cx="4191000" cy="2590800"/>
          </a:xfrm>
          <a:prstGeom prst="rect">
            <a:avLst/>
          </a:prstGeom>
          <a:blipFill>
            <a:blip r:embed="rId2"/>
            <a:srcRect/>
            <a:stretch>
              <a:fillRect/>
            </a:stretch>
          </a:blip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205068" y="2858213"/>
            <a:ext cx="521226" cy="482169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205068" y="4615279"/>
            <a:ext cx="521226" cy="52122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84032" y="1738858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Multiply- accumulate (MAC) for each output sample
ComplexityO(N·M) (N = input length, M = filter length)
Simple but expensive for large filters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205068" y="1181181"/>
            <a:ext cx="435153" cy="458846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779650" y="11522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Direct Convolution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79650" y="28540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Overlap-Add (OLA)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779650" y="46447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Overlap-Save (OLS)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do Convolution??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9F70D4F-A4E2-8EDB-A9CA-1ADBE6D496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578750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6752-7633-09DA-6BDC-AF9B10517B4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CFD03D9-32AF-CB0A-C7C8-339CCBB1C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769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BDD8089-54E1-3D93-3785-16AE3A6CE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2FB7EA2-E590-A304-5904-963B4F60A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434862"/>
              </p:ext>
            </p:extLst>
          </p:nvPr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829A86F-D7CB-0148-4538-CAC0DE41BF2E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4603EC5-0BF4-C79A-02C1-FD844624D5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720822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DB7B279-7B2E-8B6C-0C78-A02EE088B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07504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98DE661-B9B7-1442-B3FB-ED7BE118E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369960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64EDFC7-85E7-DECC-FCFB-D69B3F783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46547"/>
              </p:ext>
            </p:extLst>
          </p:nvPr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F4CDA14-157F-9F5A-2DDA-EE0C2B5AEA5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93A1D7-629E-4241-CFC0-C99A92CF354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4446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AA583-78E5-6F2A-23B5-05F6BF889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A55FD4B-A508-D63F-672D-BE36240D1C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AEA6ED-F465-EFFE-6285-0AFE63D5618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AE86048-2565-E3BF-BEB1-8DBD95A0B7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86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F5C0476-2CB0-0FC7-B448-54E8922A5D5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5F59F64-4ED1-055D-A12B-E5C21E20F8F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9306AFC-C646-F005-2302-03A7F2FAC55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1DA3E65-1BC9-FC36-8C26-ADD726B3A44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E3647EA-5FC4-59EA-6E38-8871BB6DC9D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536E548-230B-F767-2CC7-1FAF30044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88111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D195AAF-415B-8733-7A22-1BF79295E2E2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7CEBE71-7B1E-8970-86B6-EA7A9D928ED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F08D475-FB2D-17FE-B2F5-21B6EF61D76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EA4774-4CFB-3BBA-6D84-2C9C95F59B5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D341A0-B937-B79D-EACE-4B4E131963F8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Y[0] = 1*1 + 2*0 = 1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A26E254-3501-A259-DDDA-6C3AF2615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520076"/>
              </p:ext>
            </p:extLst>
          </p:nvPr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49120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03D6A-BA9F-718E-AD55-786B4867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F478A3-1644-68CD-B1F4-A4EA50C8EAE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3F6B827-853D-5CA4-DA34-5375A71FA1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CE9166-FE28-F15A-8643-292FD03EBD5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9F32800-B33A-F34C-F1B5-947DE09F3F8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B65144C-7C11-7E5B-1879-B7AE442F13A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2ADDC2-730B-5C5D-A059-C54F25034825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3329DDD-1880-74F8-7E19-F4D4F2EE38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AFBA454-C71A-FC7C-C78E-99920E67B20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A06BCCC-E0CC-380C-5DCB-9E12642D9DB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FC6D592A-5A29-7C55-BA67-3AEB4BF7E571}"/>
              </a:ext>
            </a:extLst>
          </p:cNvPr>
          <p:cNvSpPr/>
          <p:nvPr/>
        </p:nvSpPr>
        <p:spPr>
          <a:xfrm>
            <a:off x="5393095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CC4D530-E4D8-18FE-7FC3-99C3B197C35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A9413674-439A-DA1F-E162-A9AC32D30C03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5BAD50-88CB-57B0-3C86-1BBE43D15A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B52A38-0503-70DA-648C-C05E0564C8B5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Y[1] = 1*2 + 2*1 = 4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D8F7B4-C74A-2176-3833-6CEF5D374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314678"/>
              </p:ext>
            </p:extLst>
          </p:nvPr>
        </p:nvGraphicFramePr>
        <p:xfrm>
          <a:off x="3636866" y="4160187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7852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0D85-68F3-1E77-9BB0-DA843818C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ED2FC71-1A73-02BB-2D18-B69FD31E5F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B24CA12-3073-0126-F67E-0B3C711351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10CDE29-5897-FDFC-7643-0D7A01ECCB7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B117496-3A1A-9539-AF31-97EA0474928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55C5D9-B1F3-C8C4-04C4-DD9AFC064D2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6914A1E-9509-F6BB-257D-9E80A977A97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C5681BF-4644-287C-E8B5-3B8AD15F478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2DD586-0146-2BB4-DE00-D25AF5E0585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B02B779-FF70-6CF0-D0F9-D4BAB924137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4120DF7E-D234-C7B6-2BEB-6CDDA8059D82}"/>
              </a:ext>
            </a:extLst>
          </p:cNvPr>
          <p:cNvSpPr/>
          <p:nvPr/>
        </p:nvSpPr>
        <p:spPr>
          <a:xfrm>
            <a:off x="7025952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A4FC0112-D456-BC6C-2531-95F456354DD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715CDB0-2A93-1ED8-4AFE-DDE9056FBBE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7841DD-3F8E-8906-FA47-C9338DB47FF5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C35F3-4392-2BF3-B507-BF32BB0456F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Y[2] = 1*3 + 2*2 = 7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D247479-31E1-B90E-A2FC-6FF8FD49D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976796"/>
              </p:ext>
            </p:extLst>
          </p:nvPr>
        </p:nvGraphicFramePr>
        <p:xfrm>
          <a:off x="5279054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45405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977C-9834-D014-08C9-151DFF045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F779A65-DF8E-5B1C-2FAC-7566A8B2F6C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7C1898E-725E-CC18-265B-CADA37F87BE5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77D237-829E-A3DF-667B-A72AA61B026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FC03F1-631F-D604-6596-6C140E581FE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13B22D1-43CF-7EFF-5201-713DE11D71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FB5B96D-A20E-B672-A326-95F5932CDC1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9929613-C434-FC31-5947-713B7A3C146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87275DC-EF2E-3908-5747-6BB10D8A85D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F25150E-0119-F60C-9ED2-78A45A379A8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724CC4C1-0624-5044-6CF0-294A59595C12}"/>
              </a:ext>
            </a:extLst>
          </p:cNvPr>
          <p:cNvSpPr/>
          <p:nvPr/>
        </p:nvSpPr>
        <p:spPr>
          <a:xfrm>
            <a:off x="8658809" y="3799840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359CE9C-B0E1-0AEE-49EA-02F11B13A01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3C71CA-09B2-0147-84F0-31794EC742D2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3A5A37-7055-8CEB-0162-5AD8EE5C812B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701561-E80E-3426-F857-0BD5DCA906EC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Y[3] = 1*4 + 2*3 = 10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9D98664-F6F9-D97A-C5EB-23CFA95F6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182318"/>
              </p:ext>
            </p:extLst>
          </p:nvPr>
        </p:nvGraphicFramePr>
        <p:xfrm>
          <a:off x="6938865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8044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C4AF0-C88B-A641-85EE-8007F54EB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ACDACE4-E12C-BA18-7594-FFA362373CE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20032C-27C9-2020-F54E-F0BB439D305A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5DB32C-A9B1-B775-2C80-D28381CCB39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F920A90-5D56-E7AC-50E1-44F19B7073A2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B2A414-DCC2-2294-EED8-FA7ADB7D9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25795E8-212E-8D2C-09B1-71185F1C7019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DA5C6D0-67E0-752D-3B4B-ACB23E3578E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EAA371-8D54-A0E3-E5B7-017B6FCF97D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375F27C-C4E6-064B-4028-14A7390C7E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8778262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38642F4-3E3E-9C07-8D27-7564C76D654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B054355-99E7-2B7A-4E25-3718D17D487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D93334-894C-10AA-3B02-6D12ECCE18CA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7329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CBDE8-3F71-778E-D6DD-4602E2B46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FA40B9B-33A1-D34D-48A1-AED0512691C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C7CE05E-8DD3-7EAE-D429-53848F366AC0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2C6D45-6A9A-865A-3BA2-D25E031763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67D0DD-44E0-F992-A423-65FEC89991F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A65DEE9-AEE7-8F7D-58C4-FE26D43AA4B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C01240D-C9A4-9860-0AD3-7659772143F0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782074A-1EA0-7327-E6CD-C4E59567299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19A5942-0358-812C-AF9F-58CCB21AD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4823233-DE9A-8D9F-B9BF-F675FE045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968789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1538C72-1CF1-29AB-4DD6-C2285A7D1B7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C1DD8F8-C3E1-8B2C-1ACF-E775A2E0205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DA7F04-35D6-2CCA-F264-E01163078F1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5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2560F-FE04-FB9A-6A54-1679D477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4267FC-7445-DC64-5A97-B4059E80FBE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FF3DBE7-EF5F-92D3-0C87-F2AA34677E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8FA87D-3D97-7E0E-004C-27E375E24A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BD2C143-EBA6-6634-4532-CE3D4157E47C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C5636D-D0B4-F342-3CC0-6DB4FE9AF1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F98904A-8054-6AAE-101E-E530B993401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6CA3010-A783-ABCF-F877-C1962E64D4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9481603-9B2B-357F-8885-8B544CCBC78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7110B853-E14E-701E-D144-5AD88EBD4B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712873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1EBBA47-E793-75F9-705C-277C76780AC2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DFD3F13-163C-DFB9-331F-7BE77B0D340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EEDD4-CA1D-20F4-DF09-ED364CFDCCFE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21158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02C04-AED0-6F4A-ECC9-43CB7C7A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A6E832-4F6E-2DB0-41AB-A58B4D96A4F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3545F09-6414-6F2C-1F23-657A8F314F02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516F22-8666-64E7-6CC9-97CEAE3FEB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07EB9F1-0FCF-FCFD-E430-78450EC2B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DE0E9CC-3A39-F0D9-3917-C61ADE12BF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E4377C5-25CA-4F6F-A53A-3BDB183701E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6C83805-4C2C-819E-CFE2-1F405744C65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1A76B54-436E-2063-76FE-0F56DF2CBDC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2513CB-FC2C-59EC-0E21-75FA4776D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79266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8049CE5B-0952-4FDB-AA14-E59C4C78BCC5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9293B5B-F50B-6A0D-9409-B5E45E3E0A3F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4409CD8-AF33-E902-61CC-B9553F94BE8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D71A32-9AFC-6B4A-0C31-AEE7AFA0692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AAFA8D-4C20-13B6-EBA7-D8AD63ABD60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Y[4] = 1*5 + 2*4 = 13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17BF25-0A23-2D3D-94AE-725AB373C46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1515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7B1B7-42A1-AB60-7478-27452EE93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9D9FBD-404F-5838-0DE8-DC7745F859E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F45E6BE-EBCC-155D-591E-F698689E57A7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3E9B167-0525-D9E7-357C-2DB47479087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8F62D87-4F11-6364-FE67-5475552A67ED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D2570C-8903-2009-27C2-888AE21A75E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FEC6060-8D01-982A-B826-213F7BD6D414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84A4154-E128-7093-D4B0-6BA667E61A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62C3255-E5E4-2B24-407E-548E142784E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B6C6A43-AAF6-3397-55F0-95972CF5A95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D956BB43-0DAA-1470-713C-17471B50E11B}"/>
              </a:ext>
            </a:extLst>
          </p:cNvPr>
          <p:cNvSpPr/>
          <p:nvPr/>
        </p:nvSpPr>
        <p:spPr>
          <a:xfrm>
            <a:off x="5411755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EABF5B7-814A-7294-BDA7-A0BC3C9CD35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D696C28-DDD8-B32F-34FC-A8DC72E097FC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9DC6EB-F5C0-A52B-36C8-C0567F6C2B3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5974A7-B1B4-3835-7CDD-F342C5E9D7A6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Y[5] = 1*6 + 2*5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3D082AE-148B-637A-10CC-DEA3D0963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371424"/>
              </p:ext>
            </p:extLst>
          </p:nvPr>
        </p:nvGraphicFramePr>
        <p:xfrm>
          <a:off x="3646196" y="4187150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14195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14096-83F4-67A7-D8AE-ED27DEB91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8FFC712-8ABD-E609-578F-30B35DFF16F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C872C8-0746-2B7B-752A-8967773CF0DD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AEDCFA-4E54-E131-3EDF-95D50978D86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93787B-9808-F3A5-F67B-6C793E7D144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46876E-B830-7986-EE16-DC966C49691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72A0A98-668F-A0CE-783A-4D47530DD772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B146DE3-BA25-5AC7-7FC0-E298D1BDDD3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00C615A-781C-541B-BEDA-CAB7D75B59D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D0EAE80-125A-7EBB-1FE2-2FDD8287E8E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18BB6522-2B15-8786-41C4-E139BA6E67FA}"/>
              </a:ext>
            </a:extLst>
          </p:cNvPr>
          <p:cNvSpPr/>
          <p:nvPr/>
        </p:nvSpPr>
        <p:spPr>
          <a:xfrm>
            <a:off x="7063273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E5F2566-66E7-B7DD-6137-D9C4C8D9202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A07F1B7-54D7-CD5A-B5E9-83388D2E8EB9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FB542F-DD09-C74A-6B9D-B5F4CFA5D35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EACC7E-8242-A6E4-9CC3-0B508C94089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Y[6] = 1*7 + 2*6 = 19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63BF392-DEEA-2A53-4238-247F22963D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065512"/>
              </p:ext>
            </p:extLst>
          </p:nvPr>
        </p:nvGraphicFramePr>
        <p:xfrm>
          <a:off x="5279053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222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E65E7-1A0F-E945-DADC-140836896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13DFF42-2DF6-A8CF-B85C-B455BB0675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243B223-3EE9-EB8C-683A-AEC3F86F613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DB354B-739E-50B1-8BBE-FEA31F0733F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C2132FA-BAC9-6C76-A5F4-A7FEDB55A24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AEE876-21E8-9F29-9C49-8D0A6D7A8DC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DD4D0F9-E63E-B8DB-0E4A-82E078D2E97C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964549C-AB8F-9126-D67D-4A8C4C6CAC2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76D7634-B5DE-0CB1-C427-77CFBDBB144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9E69257-473A-D77D-8E01-DCE7D7A5E9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E67FB269-ABBC-524C-97DA-3D2597F788F5}"/>
              </a:ext>
            </a:extLst>
          </p:cNvPr>
          <p:cNvSpPr/>
          <p:nvPr/>
        </p:nvSpPr>
        <p:spPr>
          <a:xfrm>
            <a:off x="8640147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7641463-AA35-11A7-E53B-BE6C60A46F2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405DB6F-0158-C95D-4760-C12AD4A171C5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1C1CBF-2D4A-EBD3-92D5-1CCABE5EF5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C503C-F59F-7A25-1EED-5F6A74E8277D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Y[7] = 1*8 + 2*7 = 22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1C53CEC-1675-45C2-5A33-9B7B959A9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58014"/>
              </p:ext>
            </p:extLst>
          </p:nvPr>
        </p:nvGraphicFramePr>
        <p:xfrm>
          <a:off x="6864220" y="4056945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38475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54EE-90A1-992F-17D6-A28E731C2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B13DB6F-EBE2-7143-7153-33DAFC87BA7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537C4A2-E464-C26F-413B-7EBD1BFADBAB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75D7A00-ABDA-C3E4-E659-FF44247C0CC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A6C9C30-53D5-855B-31E7-DF9BB769059E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D5AC65-4FA5-FC1A-845D-88B03268621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7B92D3-9588-C5DA-4357-33ADBFBFE26D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223C60F-FF15-1556-3B43-B7D664AAD43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12CF6D-B3C4-99E9-F9FA-B3CBA60F40D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B0B27C8-8C86-3BD9-7DE7-61E948F97C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8555337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0F23460-D842-D898-6C0C-4DBA95B8E375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E23AC7D-8780-9D6C-A8C4-9ABC96B412CF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7FB2BA-C7DB-79E6-3AAD-37634B3FCAD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8714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8E11A-5987-6365-B068-06CFF9AF5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2A8AB1E-8337-81BC-B680-87009254EA0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C46E07-5A69-634D-F667-A827D8309FCE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522DAB1-612F-E7A9-733D-D20A02B103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873CF0-D70F-1128-3975-2A1E6FB2F1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E6A4FBB-857D-596F-556F-D3B7AB39B26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00C2D29-D5F3-DE20-4185-125854ACE76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2548CE2-F7D5-AE67-3159-051E671812E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4463243-B6F0-D77B-6497-7982AEEE8C2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32AC86B2-70D0-C2DE-5078-0B4B411A8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097510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DA79654-50A8-0695-DF26-0EDB22C6A99C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6CE31E-5E72-C1F3-3A7F-DA5024F0B544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649ACB-0572-2EA3-1457-BA69ED2C532C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0625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57CA-BDCD-97FC-C38D-16FDC6703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BB8D1F-D729-5034-2E47-FB9E4996317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9B3DE18-41C4-4195-2A30-2D836E2756D4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1FC574-959D-089C-C345-FA362E36FDA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3B990EA-76FC-FE8F-F352-7261D4A593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57F9D0-0707-AE3A-2F8A-7E88284B21C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2906476-4D53-C7C5-D460-8F5FAC0861D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FC34EA3-1902-290D-CECE-F14C582C687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47322BC-A03A-84C1-224B-F9BE1A0BA4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F446381-4648-4532-27F4-E340697CB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4952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2A094B2-9D71-C824-6A21-F9D05F37826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060BFB3-E6A6-5050-2AAF-E3641B1267E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1009A4-C435-8E94-8D6F-84A46C8E4048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04710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0F478-BFD6-340F-E0B0-DA39F6E5E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DE086C-0A7F-DF22-2EFA-632AF03DEF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46C4665-7049-8FDA-22FF-24B03A6DD7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B66FD4-3036-BF32-69A0-F55E59D9FD2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B53EA3D-E67C-7D7B-4625-5223C1FB3A9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9912F4-7981-33C3-0425-EF16A9999B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E12EC7-413D-775D-130B-A9B2A594C137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4FC54B3-C2A0-968B-72C7-8C2B2B3BFD4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492756C-3AED-3861-8CDF-CD670A0DD89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8F66DA1-CAF6-1DFB-7C71-6F44F96A5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84804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338E849-0B0C-7E78-51B2-A70DE5BF7203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2E53DCE-9C13-43BB-5E50-D8586CB2E248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36FE1D45-9687-DCD6-2A03-81CB3031C2ED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E3C210-57E0-36C9-F94C-06D4A460BFE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9D6113-3649-0531-C804-433A52FF23C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Y[8] = 1*0 + 2*8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E22C42-F003-5790-5177-0375B804484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835942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6F353A-0DDE-F508-A61B-E78E44B46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635" y="980733"/>
            <a:ext cx="10793505" cy="53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65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76225" y="-53788"/>
                <a:ext cx="11430000" cy="729430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Impulse response: h[n], length = M + 1.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sequence: x[n], length = </a:t>
                </a:r>
                <a:r>
                  <a:rPr kumimoji="0" lang="en-US" altLang="en-US" sz="3000" b="0" i="0" u="none" strike="noStrike" cap="none" normalizeH="0" baseline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Nx</a:t>
                </a:r>
                <a:r>
                  <a:rPr kumimoji="0" lang="en-US" alt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Choose FFT size N ≥ L + M where: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L = block length of input,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Each input block has length L,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Output per block has length L + M.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lang="en-US" altLang="en-US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1: x[0] ... x[L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2: x[L] ... x[2L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3: x[2L] ...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kumimoji="0" lang="sv-SE" altLang="en-US" sz="3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each block to length </a:t>
                </a:r>
                <a14:m>
                  <m:oMath xmlns:m="http://schemas.openxmlformats.org/officeDocument/2006/math">
                    <m:r>
                      <a:rPr lang="en-GB" sz="3000" i="1"/>
                      <m:t>𝑁</m:t>
                    </m:r>
                  </m:oMath>
                </a14:m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</a:t>
                </a:r>
                <a14:m>
                  <m:oMath xmlns:m="http://schemas.openxmlformats.org/officeDocument/2006/math">
                    <m:r>
                      <a:rPr lang="en-US" sz="3000" i="1"/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000" i="1"/>
                        </m:ctrlPr>
                      </m:dPr>
                      <m:e>
                        <m:r>
                          <a:rPr lang="ar-AE" sz="3000" i="1"/>
                          <m:t>𝑛</m:t>
                        </m:r>
                      </m:e>
                    </m:d>
                  </m:oMath>
                </a14:m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to length </a:t>
                </a:r>
                <a14:m>
                  <m:oMath xmlns:m="http://schemas.openxmlformats.org/officeDocument/2006/math">
                    <m:r>
                      <a:rPr lang="en-US" sz="3000" i="1"/>
                      <m:t>𝑁</m:t>
                    </m:r>
                  </m:oMath>
                </a14:m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Perform FFT of both, multiply in frequency domain, 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    IFFT → gives circular convolution.</a:t>
                </a:r>
                <a:endPara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6225" y="-53788"/>
                <a:ext cx="11430000" cy="7294305"/>
              </a:xfrm>
              <a:prstGeom prst="rect">
                <a:avLst/>
              </a:prstGeom>
              <a:blipFill>
                <a:blip r:embed="rId2"/>
                <a:stretch>
                  <a:fillRect l="-1067" t="-585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33330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/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Handle overlap (why it’s called Overlap-Add):</a:t>
                </a: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Each block convolution produces </a:t>
                </a:r>
                <a14:m>
                  <m:oMath xmlns:m="http://schemas.openxmlformats.org/officeDocument/2006/math"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𝐿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+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𝑀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When placing results together,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the last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samples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of one block overlap with the first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of the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next block’s result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we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add them together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Concatenate + Add overlaps: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Place outputs one after another, and wherever they overlap, </a:t>
                </a:r>
              </a:p>
              <a:p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  add the 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final result = linear convolution </a:t>
                </a:r>
                <a14:m>
                  <m:oMath xmlns:m="http://schemas.openxmlformats.org/officeDocument/2006/math">
                    <m:r>
                      <a:rPr lang="en-US" sz="3000" i="1"/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000" i="1"/>
                        </m:ctrlPr>
                      </m:dPr>
                      <m:e>
                        <m:r>
                          <a:rPr lang="ar-AE" sz="3000" i="1"/>
                          <m:t>𝑛</m:t>
                        </m:r>
                      </m:e>
                    </m:d>
                    <m:r>
                      <a:rPr lang="ar-AE" sz="3000"/>
                      <m:t>=</m:t>
                    </m:r>
                    <m:r>
                      <a:rPr lang="ar-AE" sz="3000" i="1"/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ar-AE" sz="3000" i="1"/>
                        </m:ctrlPr>
                      </m:dPr>
                      <m:e>
                        <m:r>
                          <a:rPr lang="ar-AE" sz="3000" i="1"/>
                          <m:t>𝑛</m:t>
                        </m:r>
                      </m:e>
                    </m:d>
                    <m:r>
                      <a:rPr lang="ar-AE" sz="3000"/>
                      <m:t>∗</m:t>
                    </m:r>
                    <m:r>
                      <a:rPr lang="ar-AE" sz="3000" i="1"/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000" i="1"/>
                        </m:ctrlPr>
                      </m:dPr>
                      <m:e>
                        <m:r>
                          <a:rPr lang="ar-AE" sz="3000" i="1"/>
                          <m:t>𝑛</m:t>
                        </m:r>
                      </m:e>
                    </m:d>
                  </m:oMath>
                </a14:m>
                <a:r>
                  <a:rPr lang="ar-AE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blipFill>
                <a:blip r:embed="rId2"/>
                <a:stretch>
                  <a:fillRect l="-1319" t="-1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2259118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C1FB65-0D8D-6530-3807-B7D6AD80D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482" y="392156"/>
            <a:ext cx="10963836" cy="589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9131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09534E62-D7E1-7690-2230-EA7EDF7AF1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5696" y="856357"/>
            <a:ext cx="9293291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Let input sequence = x[n], n = 0,1,…,Nx−1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Filter impulse response = h[n], length M+1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Choose FFT size N such that N ≥ (M+1)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Each processed block will output N−M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1: x[0] ... x[N-1]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2: x[N-M] ... x[2N-M-1]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3: x[2N-2(M)]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altLang="en-US" sz="24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33244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/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each segment (length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zero-padded to 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Multiply in frequency domain.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Perform IFFT to get time-domain result.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Each block produces </a:t>
                </a:r>
                <a14:m>
                  <m:oMath xmlns:m="http://schemas.openxmlformats.org/officeDocument/2006/math">
                    <m:r>
                      <a:rPr lang="en-GB" sz="3200" i="1"/>
                      <m:t>𝑁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output samples, but the </a:t>
                </a:r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first </a:t>
                </a:r>
                <a14:m>
                  <m:oMath xmlns:m="http://schemas.openxmlformats.org/officeDocument/2006/math"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invalid</a:t>
                </a: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(they contain circular convolution wrap around).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Discard those.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remaining </a:t>
                </a:r>
                <a14:m>
                  <m:oMath xmlns:m="http://schemas.openxmlformats.org/officeDocument/2006/math"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the valid part of the linear convolution.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GB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Concatenate the valid samples from each block to reconstruct the full output </a:t>
                </a:r>
                <a14:m>
                  <m:oMath xmlns:m="http://schemas.openxmlformats.org/officeDocument/2006/math">
                    <m:r>
                      <a:rPr lang="en-US" sz="3200" i="1"/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200" i="1"/>
                        </m:ctrlPr>
                      </m:dPr>
                      <m:e>
                        <m:r>
                          <a:rPr lang="ar-AE" sz="3200" i="1"/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blipFill>
                <a:blip r:embed="rId2"/>
                <a:stretch>
                  <a:fillRect l="-1318" t="-1171" r="-13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10866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826935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094489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5549650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817204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2366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9539920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836935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Specification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836935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Define filter type (Low- pass, High- pass, Band- pass, Band- stop)</a:t>
            </a:r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2698292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Implementation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698292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Use convolution in C/Python (float or fixed- point)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559650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Select Parameters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559650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Pass band frequency
Stop band frequency
Pass band ripple
Stop band attenuation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6421007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421007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Compare float vs fixed output (RMSE, PESQ for speech signals)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282366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Compute Coefficients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8282366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Using mathematical formulas (sinc + window) or tools (MATLAB/Python remez)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688293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955847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7411007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7678562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Design Steps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Motivation for Fixed Point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5400000">
            <a:off x="-843651" y="1530756"/>
            <a:ext cx="1025180" cy="2281970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762000" dist="254000" dir="5400000" algn="t" rotWithShape="0">
              <a:srgbClr val="000000">
                <a:alpha val="20000"/>
              </a:srgbClr>
            </a:outerShdw>
          </a:effectLst>
        </p:spPr>
        <p:txBody>
          <a:bodyPr vert="horz" wrap="square" lIns="91440" tIns="45720" rIns="360000" bIns="45720" rtlCol="0" anchor="ctr"/>
          <a:lstStyle/>
          <a:p>
            <a:pPr algn="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207866" y="2237395"/>
            <a:ext cx="740834" cy="740834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207866" y="3184332"/>
            <a:ext cx="2340000" cy="211596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Lower power, smaller memory footprint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37646" y="2281386"/>
            <a:ext cx="732762" cy="690645"/>
          </a:xfrm>
          <a:custGeom>
            <a:avLst/>
            <a:gdLst>
              <a:gd name="connsiteX0" fmla="*/ 1110072 w 1498885"/>
              <a:gd name="connsiteY0" fmla="*/ 1039039 h 1412736"/>
              <a:gd name="connsiteX1" fmla="*/ 1149511 w 1498885"/>
              <a:gd name="connsiteY1" fmla="*/ 1055363 h 1412736"/>
              <a:gd name="connsiteX2" fmla="*/ 1371451 w 1498885"/>
              <a:gd name="connsiteY2" fmla="*/ 1277303 h 1412736"/>
              <a:gd name="connsiteX3" fmla="*/ 1371451 w 1498885"/>
              <a:gd name="connsiteY3" fmla="*/ 1356182 h 1412736"/>
              <a:gd name="connsiteX4" fmla="*/ 1332012 w 1498885"/>
              <a:gd name="connsiteY4" fmla="*/ 1372553 h 1412736"/>
              <a:gd name="connsiteX5" fmla="*/ 1292572 w 1498885"/>
              <a:gd name="connsiteY5" fmla="*/ 1356182 h 1412736"/>
              <a:gd name="connsiteX6" fmla="*/ 1070632 w 1498885"/>
              <a:gd name="connsiteY6" fmla="*/ 1134242 h 1412736"/>
              <a:gd name="connsiteX7" fmla="*/ 1070632 w 1498885"/>
              <a:gd name="connsiteY7" fmla="*/ 1055363 h 1412736"/>
              <a:gd name="connsiteX8" fmla="*/ 1110072 w 1498885"/>
              <a:gd name="connsiteY8" fmla="*/ 1039039 h 1412736"/>
              <a:gd name="connsiteX9" fmla="*/ 1110072 w 1498885"/>
              <a:gd name="connsiteY9" fmla="*/ 705989 h 1412736"/>
              <a:gd name="connsiteX10" fmla="*/ 1443075 w 1498885"/>
              <a:gd name="connsiteY10" fmla="*/ 705989 h 1412736"/>
              <a:gd name="connsiteX11" fmla="*/ 1498885 w 1498885"/>
              <a:gd name="connsiteY11" fmla="*/ 761800 h 1412736"/>
              <a:gd name="connsiteX12" fmla="*/ 1443075 w 1498885"/>
              <a:gd name="connsiteY12" fmla="*/ 817611 h 1412736"/>
              <a:gd name="connsiteX13" fmla="*/ 1110072 w 1498885"/>
              <a:gd name="connsiteY13" fmla="*/ 817611 h 1412736"/>
              <a:gd name="connsiteX14" fmla="*/ 1054261 w 1498885"/>
              <a:gd name="connsiteY14" fmla="*/ 761800 h 1412736"/>
              <a:gd name="connsiteX15" fmla="*/ 1110072 w 1498885"/>
              <a:gd name="connsiteY15" fmla="*/ 705989 h 1412736"/>
              <a:gd name="connsiteX16" fmla="*/ 1332012 w 1498885"/>
              <a:gd name="connsiteY16" fmla="*/ 151093 h 1412736"/>
              <a:gd name="connsiteX17" fmla="*/ 1371451 w 1498885"/>
              <a:gd name="connsiteY17" fmla="*/ 167418 h 1412736"/>
              <a:gd name="connsiteX18" fmla="*/ 1371451 w 1498885"/>
              <a:gd name="connsiteY18" fmla="*/ 246297 h 1412736"/>
              <a:gd name="connsiteX19" fmla="*/ 1149511 w 1498885"/>
              <a:gd name="connsiteY19" fmla="*/ 468236 h 1412736"/>
              <a:gd name="connsiteX20" fmla="*/ 1110072 w 1498885"/>
              <a:gd name="connsiteY20" fmla="*/ 484608 h 1412736"/>
              <a:gd name="connsiteX21" fmla="*/ 1070632 w 1498885"/>
              <a:gd name="connsiteY21" fmla="*/ 468236 h 1412736"/>
              <a:gd name="connsiteX22" fmla="*/ 1070632 w 1498885"/>
              <a:gd name="connsiteY22" fmla="*/ 389358 h 1412736"/>
              <a:gd name="connsiteX23" fmla="*/ 1292572 w 1498885"/>
              <a:gd name="connsiteY23" fmla="*/ 167418 h 1412736"/>
              <a:gd name="connsiteX24" fmla="*/ 1332012 w 1498885"/>
              <a:gd name="connsiteY24" fmla="*/ 151093 h 1412736"/>
              <a:gd name="connsiteX25" fmla="*/ 709724 w 1498885"/>
              <a:gd name="connsiteY25" fmla="*/ 111607 h 1412736"/>
              <a:gd name="connsiteX26" fmla="*/ 649635 w 1498885"/>
              <a:gd name="connsiteY26" fmla="*/ 127420 h 1412736"/>
              <a:gd name="connsiteX27" fmla="*/ 174129 w 1498885"/>
              <a:gd name="connsiteY27" fmla="*/ 394752 h 1412736"/>
              <a:gd name="connsiteX28" fmla="*/ 111621 w 1498885"/>
              <a:gd name="connsiteY28" fmla="*/ 501536 h 1412736"/>
              <a:gd name="connsiteX29" fmla="*/ 111621 w 1498885"/>
              <a:gd name="connsiteY29" fmla="*/ 910814 h 1412736"/>
              <a:gd name="connsiteX30" fmla="*/ 174129 w 1498885"/>
              <a:gd name="connsiteY30" fmla="*/ 1017598 h 1412736"/>
              <a:gd name="connsiteX31" fmla="*/ 649821 w 1498885"/>
              <a:gd name="connsiteY31" fmla="*/ 1284930 h 1412736"/>
              <a:gd name="connsiteX32" fmla="*/ 771674 w 1498885"/>
              <a:gd name="connsiteY32" fmla="*/ 1283814 h 1412736"/>
              <a:gd name="connsiteX33" fmla="*/ 832321 w 1498885"/>
              <a:gd name="connsiteY33" fmla="*/ 1178146 h 1412736"/>
              <a:gd name="connsiteX34" fmla="*/ 832321 w 1498885"/>
              <a:gd name="connsiteY34" fmla="*/ 234204 h 1412736"/>
              <a:gd name="connsiteX35" fmla="*/ 771674 w 1498885"/>
              <a:gd name="connsiteY35" fmla="*/ 128536 h 1412736"/>
              <a:gd name="connsiteX36" fmla="*/ 709724 w 1498885"/>
              <a:gd name="connsiteY36" fmla="*/ 111607 h 1412736"/>
              <a:gd name="connsiteX37" fmla="*/ 711864 w 1498885"/>
              <a:gd name="connsiteY37" fmla="*/ 9 h 1412736"/>
              <a:gd name="connsiteX38" fmla="*/ 828043 w 1498885"/>
              <a:gd name="connsiteY38" fmla="*/ 32356 h 1412736"/>
              <a:gd name="connsiteX39" fmla="*/ 943942 w 1498885"/>
              <a:gd name="connsiteY39" fmla="*/ 234390 h 1412736"/>
              <a:gd name="connsiteX40" fmla="*/ 943942 w 1498885"/>
              <a:gd name="connsiteY40" fmla="*/ 1178518 h 1412736"/>
              <a:gd name="connsiteX41" fmla="*/ 828043 w 1498885"/>
              <a:gd name="connsiteY41" fmla="*/ 1380552 h 1412736"/>
              <a:gd name="connsiteX42" fmla="*/ 709910 w 1498885"/>
              <a:gd name="connsiteY42" fmla="*/ 1412736 h 1412736"/>
              <a:gd name="connsiteX43" fmla="*/ 595126 w 1498885"/>
              <a:gd name="connsiteY43" fmla="*/ 1382413 h 1412736"/>
              <a:gd name="connsiteX44" fmla="*/ 119435 w 1498885"/>
              <a:gd name="connsiteY44" fmla="*/ 1115080 h 1412736"/>
              <a:gd name="connsiteX45" fmla="*/ 0 w 1498885"/>
              <a:gd name="connsiteY45" fmla="*/ 911000 h 1412736"/>
              <a:gd name="connsiteX46" fmla="*/ 0 w 1498885"/>
              <a:gd name="connsiteY46" fmla="*/ 501722 h 1412736"/>
              <a:gd name="connsiteX47" fmla="*/ 119435 w 1498885"/>
              <a:gd name="connsiteY47" fmla="*/ 297642 h 1412736"/>
              <a:gd name="connsiteX48" fmla="*/ 595126 w 1498885"/>
              <a:gd name="connsiteY48" fmla="*/ 30309 h 1412736"/>
              <a:gd name="connsiteX49" fmla="*/ 711864 w 1498885"/>
              <a:gd name="connsiteY49" fmla="*/ 9 h 1412736"/>
            </a:gdLst>
            <a:ahLst/>
            <a:cxnLst/>
            <a:rect l="l" t="t" r="r" b="b"/>
            <a:pathLst>
              <a:path w="1498885" h="1412736">
                <a:moveTo>
                  <a:pt x="1110072" y="1039039"/>
                </a:moveTo>
                <a:cubicBezTo>
                  <a:pt x="1124350" y="1039039"/>
                  <a:pt x="1138628" y="1044480"/>
                  <a:pt x="1149511" y="1055363"/>
                </a:cubicBezTo>
                <a:lnTo>
                  <a:pt x="1371451" y="1277303"/>
                </a:lnTo>
                <a:cubicBezTo>
                  <a:pt x="1393217" y="1299070"/>
                  <a:pt x="1393217" y="1334416"/>
                  <a:pt x="1371451" y="1356182"/>
                </a:cubicBezTo>
                <a:cubicBezTo>
                  <a:pt x="1360661" y="1366972"/>
                  <a:pt x="1346336" y="1372553"/>
                  <a:pt x="1332012" y="1372553"/>
                </a:cubicBezTo>
                <a:cubicBezTo>
                  <a:pt x="1317687" y="1372553"/>
                  <a:pt x="1303362" y="1367158"/>
                  <a:pt x="1292572" y="1356182"/>
                </a:cubicBezTo>
                <a:lnTo>
                  <a:pt x="1070632" y="1134242"/>
                </a:lnTo>
                <a:cubicBezTo>
                  <a:pt x="1048866" y="1112476"/>
                  <a:pt x="1048866" y="1077130"/>
                  <a:pt x="1070632" y="1055363"/>
                </a:cubicBezTo>
                <a:cubicBezTo>
                  <a:pt x="1081515" y="1044480"/>
                  <a:pt x="1095793" y="1039039"/>
                  <a:pt x="1110072" y="1039039"/>
                </a:cubicBezTo>
                <a:close/>
                <a:moveTo>
                  <a:pt x="1110072" y="705989"/>
                </a:moveTo>
                <a:lnTo>
                  <a:pt x="1443075" y="705989"/>
                </a:lnTo>
                <a:cubicBezTo>
                  <a:pt x="1473956" y="705989"/>
                  <a:pt x="1498885" y="730918"/>
                  <a:pt x="1498885" y="761800"/>
                </a:cubicBezTo>
                <a:cubicBezTo>
                  <a:pt x="1498885" y="792682"/>
                  <a:pt x="1473770" y="817611"/>
                  <a:pt x="1443075" y="817611"/>
                </a:cubicBezTo>
                <a:lnTo>
                  <a:pt x="1110072" y="817611"/>
                </a:lnTo>
                <a:cubicBezTo>
                  <a:pt x="1079190" y="817611"/>
                  <a:pt x="1054261" y="792682"/>
                  <a:pt x="1054261" y="761800"/>
                </a:cubicBezTo>
                <a:cubicBezTo>
                  <a:pt x="1054261" y="730918"/>
                  <a:pt x="1079190" y="705989"/>
                  <a:pt x="1110072" y="705989"/>
                </a:cubicBezTo>
                <a:close/>
                <a:moveTo>
                  <a:pt x="1332012" y="151093"/>
                </a:moveTo>
                <a:cubicBezTo>
                  <a:pt x="1346290" y="151093"/>
                  <a:pt x="1360568" y="156535"/>
                  <a:pt x="1371451" y="167418"/>
                </a:cubicBezTo>
                <a:cubicBezTo>
                  <a:pt x="1393217" y="189184"/>
                  <a:pt x="1393217" y="224530"/>
                  <a:pt x="1371451" y="246297"/>
                </a:cubicBezTo>
                <a:lnTo>
                  <a:pt x="1149511" y="468236"/>
                </a:lnTo>
                <a:cubicBezTo>
                  <a:pt x="1138721" y="479213"/>
                  <a:pt x="1124396" y="484608"/>
                  <a:pt x="1110072" y="484608"/>
                </a:cubicBezTo>
                <a:cubicBezTo>
                  <a:pt x="1095747" y="484608"/>
                  <a:pt x="1081422" y="479213"/>
                  <a:pt x="1070632" y="468236"/>
                </a:cubicBezTo>
                <a:cubicBezTo>
                  <a:pt x="1048866" y="446470"/>
                  <a:pt x="1048866" y="411124"/>
                  <a:pt x="1070632" y="389358"/>
                </a:cubicBezTo>
                <a:lnTo>
                  <a:pt x="1292572" y="167418"/>
                </a:lnTo>
                <a:cubicBezTo>
                  <a:pt x="1303455" y="156535"/>
                  <a:pt x="1317733" y="151093"/>
                  <a:pt x="1332012" y="151093"/>
                </a:cubicBezTo>
                <a:close/>
                <a:moveTo>
                  <a:pt x="709724" y="111607"/>
                </a:moveTo>
                <a:cubicBezTo>
                  <a:pt x="689074" y="111607"/>
                  <a:pt x="668610" y="116816"/>
                  <a:pt x="649635" y="127420"/>
                </a:cubicBezTo>
                <a:lnTo>
                  <a:pt x="174129" y="394752"/>
                </a:lnTo>
                <a:cubicBezTo>
                  <a:pt x="135620" y="416332"/>
                  <a:pt x="111621" y="457260"/>
                  <a:pt x="111621" y="501536"/>
                </a:cubicBezTo>
                <a:lnTo>
                  <a:pt x="111621" y="910814"/>
                </a:lnTo>
                <a:cubicBezTo>
                  <a:pt x="111621" y="955090"/>
                  <a:pt x="135620" y="996018"/>
                  <a:pt x="174129" y="1017598"/>
                </a:cubicBezTo>
                <a:lnTo>
                  <a:pt x="649821" y="1284930"/>
                </a:lnTo>
                <a:cubicBezTo>
                  <a:pt x="688144" y="1306510"/>
                  <a:pt x="733723" y="1306138"/>
                  <a:pt x="771674" y="1283814"/>
                </a:cubicBezTo>
                <a:cubicBezTo>
                  <a:pt x="809625" y="1261676"/>
                  <a:pt x="832321" y="1222050"/>
                  <a:pt x="832321" y="1178146"/>
                </a:cubicBezTo>
                <a:lnTo>
                  <a:pt x="832321" y="234204"/>
                </a:lnTo>
                <a:cubicBezTo>
                  <a:pt x="832321" y="190113"/>
                  <a:pt x="809625" y="150674"/>
                  <a:pt x="771674" y="128536"/>
                </a:cubicBezTo>
                <a:cubicBezTo>
                  <a:pt x="752326" y="117188"/>
                  <a:pt x="731118" y="111607"/>
                  <a:pt x="709724" y="111607"/>
                </a:cubicBezTo>
                <a:close/>
                <a:moveTo>
                  <a:pt x="711864" y="9"/>
                </a:moveTo>
                <a:cubicBezTo>
                  <a:pt x="751861" y="358"/>
                  <a:pt x="791766" y="11148"/>
                  <a:pt x="828043" y="32356"/>
                </a:cubicBezTo>
                <a:cubicBezTo>
                  <a:pt x="900596" y="74772"/>
                  <a:pt x="943942" y="150302"/>
                  <a:pt x="943942" y="234390"/>
                </a:cubicBezTo>
                <a:lnTo>
                  <a:pt x="943942" y="1178518"/>
                </a:lnTo>
                <a:cubicBezTo>
                  <a:pt x="943942" y="1262606"/>
                  <a:pt x="900596" y="1338136"/>
                  <a:pt x="828043" y="1380552"/>
                </a:cubicBezTo>
                <a:cubicBezTo>
                  <a:pt x="791208" y="1401946"/>
                  <a:pt x="750466" y="1412736"/>
                  <a:pt x="709910" y="1412736"/>
                </a:cubicBezTo>
                <a:cubicBezTo>
                  <a:pt x="670471" y="1412736"/>
                  <a:pt x="631217" y="1402691"/>
                  <a:pt x="595126" y="1382413"/>
                </a:cubicBezTo>
                <a:lnTo>
                  <a:pt x="119435" y="1115080"/>
                </a:lnTo>
                <a:cubicBezTo>
                  <a:pt x="45765" y="1073594"/>
                  <a:pt x="0" y="995460"/>
                  <a:pt x="0" y="911000"/>
                </a:cubicBezTo>
                <a:lnTo>
                  <a:pt x="0" y="501722"/>
                </a:lnTo>
                <a:cubicBezTo>
                  <a:pt x="0" y="417262"/>
                  <a:pt x="45765" y="338942"/>
                  <a:pt x="119435" y="297642"/>
                </a:cubicBezTo>
                <a:lnTo>
                  <a:pt x="595126" y="30309"/>
                </a:lnTo>
                <a:cubicBezTo>
                  <a:pt x="631775" y="9752"/>
                  <a:pt x="671866" y="-340"/>
                  <a:pt x="711864" y="9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37645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Hardware limitations (many DSPs lack floating- point units)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862226" y="2281490"/>
            <a:ext cx="721829" cy="654421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878868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Faster execution on embedded DSP/MCU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192006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Typical applicationsSpeech/audio codecs, filters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9192007" y="2241781"/>
            <a:ext cx="667538" cy="694130"/>
          </a:xfrm>
          <a:custGeom>
            <a:avLst/>
            <a:gdLst>
              <a:gd name="connsiteX0" fmla="*/ 337768 w 1372282"/>
              <a:gd name="connsiteY0" fmla="*/ 1315328 h 1426949"/>
              <a:gd name="connsiteX1" fmla="*/ 530173 w 1372282"/>
              <a:gd name="connsiteY1" fmla="*/ 1315328 h 1426949"/>
              <a:gd name="connsiteX2" fmla="*/ 842109 w 1372282"/>
              <a:gd name="connsiteY2" fmla="*/ 1315328 h 1426949"/>
              <a:gd name="connsiteX3" fmla="*/ 1034514 w 1372282"/>
              <a:gd name="connsiteY3" fmla="*/ 1315328 h 1426949"/>
              <a:gd name="connsiteX4" fmla="*/ 1090325 w 1372282"/>
              <a:gd name="connsiteY4" fmla="*/ 1371139 h 1426949"/>
              <a:gd name="connsiteX5" fmla="*/ 1034514 w 1372282"/>
              <a:gd name="connsiteY5" fmla="*/ 1426949 h 1426949"/>
              <a:gd name="connsiteX6" fmla="*/ 842109 w 1372282"/>
              <a:gd name="connsiteY6" fmla="*/ 1426949 h 1426949"/>
              <a:gd name="connsiteX7" fmla="*/ 530173 w 1372282"/>
              <a:gd name="connsiteY7" fmla="*/ 1426949 h 1426949"/>
              <a:gd name="connsiteX8" fmla="*/ 337768 w 1372282"/>
              <a:gd name="connsiteY8" fmla="*/ 1426949 h 1426949"/>
              <a:gd name="connsiteX9" fmla="*/ 281957 w 1372282"/>
              <a:gd name="connsiteY9" fmla="*/ 1371139 h 1426949"/>
              <a:gd name="connsiteX10" fmla="*/ 337768 w 1372282"/>
              <a:gd name="connsiteY10" fmla="*/ 1315328 h 1426949"/>
              <a:gd name="connsiteX11" fmla="*/ 686154 w 1372282"/>
              <a:gd name="connsiteY11" fmla="*/ 111621 h 1426949"/>
              <a:gd name="connsiteX12" fmla="*/ 237624 w 1372282"/>
              <a:gd name="connsiteY12" fmla="*/ 560152 h 1426949"/>
              <a:gd name="connsiteX13" fmla="*/ 237624 w 1372282"/>
              <a:gd name="connsiteY13" fmla="*/ 985614 h 1426949"/>
              <a:gd name="connsiteX14" fmla="*/ 229252 w 1372282"/>
              <a:gd name="connsiteY14" fmla="*/ 1014822 h 1426949"/>
              <a:gd name="connsiteX15" fmla="*/ 155768 w 1372282"/>
              <a:gd name="connsiteY15" fmla="*/ 1134814 h 1426949"/>
              <a:gd name="connsiteX16" fmla="*/ 1214680 w 1372282"/>
              <a:gd name="connsiteY16" fmla="*/ 1134814 h 1426949"/>
              <a:gd name="connsiteX17" fmla="*/ 1143429 w 1372282"/>
              <a:gd name="connsiteY17" fmla="*/ 1023565 h 1426949"/>
              <a:gd name="connsiteX18" fmla="*/ 1134685 w 1372282"/>
              <a:gd name="connsiteY18" fmla="*/ 993428 h 1426949"/>
              <a:gd name="connsiteX19" fmla="*/ 1134685 w 1372282"/>
              <a:gd name="connsiteY19" fmla="*/ 560152 h 1426949"/>
              <a:gd name="connsiteX20" fmla="*/ 686154 w 1372282"/>
              <a:gd name="connsiteY20" fmla="*/ 111621 h 1426949"/>
              <a:gd name="connsiteX21" fmla="*/ 686154 w 1372282"/>
              <a:gd name="connsiteY21" fmla="*/ 0 h 1426949"/>
              <a:gd name="connsiteX22" fmla="*/ 903815 w 1372282"/>
              <a:gd name="connsiteY22" fmla="*/ 44276 h 1426949"/>
              <a:gd name="connsiteX23" fmla="*/ 1081851 w 1372282"/>
              <a:gd name="connsiteY23" fmla="*/ 164455 h 1426949"/>
              <a:gd name="connsiteX24" fmla="*/ 1202030 w 1372282"/>
              <a:gd name="connsiteY24" fmla="*/ 342491 h 1426949"/>
              <a:gd name="connsiteX25" fmla="*/ 1246306 w 1372282"/>
              <a:gd name="connsiteY25" fmla="*/ 560152 h 1426949"/>
              <a:gd name="connsiteX26" fmla="*/ 1246306 w 1372282"/>
              <a:gd name="connsiteY26" fmla="*/ 977243 h 1426949"/>
              <a:gd name="connsiteX27" fmla="*/ 1363508 w 1372282"/>
              <a:gd name="connsiteY27" fmla="*/ 1160487 h 1426949"/>
              <a:gd name="connsiteX28" fmla="*/ 1365369 w 1372282"/>
              <a:gd name="connsiteY28" fmla="*/ 1217414 h 1426949"/>
              <a:gd name="connsiteX29" fmla="*/ 1316628 w 1372282"/>
              <a:gd name="connsiteY29" fmla="*/ 1246436 h 1426949"/>
              <a:gd name="connsiteX30" fmla="*/ 55867 w 1372282"/>
              <a:gd name="connsiteY30" fmla="*/ 1246436 h 1426949"/>
              <a:gd name="connsiteX31" fmla="*/ 7126 w 1372282"/>
              <a:gd name="connsiteY31" fmla="*/ 1217786 h 1426949"/>
              <a:gd name="connsiteX32" fmla="*/ 8242 w 1372282"/>
              <a:gd name="connsiteY32" fmla="*/ 1161232 h 1426949"/>
              <a:gd name="connsiteX33" fmla="*/ 126002 w 1372282"/>
              <a:gd name="connsiteY33" fmla="*/ 969801 h 1426949"/>
              <a:gd name="connsiteX34" fmla="*/ 126002 w 1372282"/>
              <a:gd name="connsiteY34" fmla="*/ 560152 h 1426949"/>
              <a:gd name="connsiteX35" fmla="*/ 170279 w 1372282"/>
              <a:gd name="connsiteY35" fmla="*/ 342491 h 1426949"/>
              <a:gd name="connsiteX36" fmla="*/ 290458 w 1372282"/>
              <a:gd name="connsiteY36" fmla="*/ 164455 h 1426949"/>
              <a:gd name="connsiteX37" fmla="*/ 468493 w 1372282"/>
              <a:gd name="connsiteY37" fmla="*/ 44276 h 1426949"/>
              <a:gd name="connsiteX38" fmla="*/ 686154 w 1372282"/>
              <a:gd name="connsiteY38" fmla="*/ 0 h 1426949"/>
            </a:gdLst>
            <a:ahLst/>
            <a:cxnLst/>
            <a:rect l="l" t="t" r="r" b="b"/>
            <a:pathLst>
              <a:path w="1372282" h="1426949">
                <a:moveTo>
                  <a:pt x="337768" y="1315328"/>
                </a:moveTo>
                <a:lnTo>
                  <a:pt x="530173" y="1315328"/>
                </a:lnTo>
                <a:lnTo>
                  <a:pt x="842109" y="1315328"/>
                </a:lnTo>
                <a:lnTo>
                  <a:pt x="1034514" y="1315328"/>
                </a:lnTo>
                <a:cubicBezTo>
                  <a:pt x="1065396" y="1315328"/>
                  <a:pt x="1090325" y="1340257"/>
                  <a:pt x="1090325" y="1371139"/>
                </a:cubicBezTo>
                <a:cubicBezTo>
                  <a:pt x="1090325" y="1402021"/>
                  <a:pt x="1065210" y="1426949"/>
                  <a:pt x="1034514" y="1426949"/>
                </a:cubicBezTo>
                <a:lnTo>
                  <a:pt x="842109" y="1426949"/>
                </a:lnTo>
                <a:lnTo>
                  <a:pt x="530173" y="1426949"/>
                </a:lnTo>
                <a:lnTo>
                  <a:pt x="337768" y="1426949"/>
                </a:lnTo>
                <a:cubicBezTo>
                  <a:pt x="306886" y="1426949"/>
                  <a:pt x="281957" y="1402021"/>
                  <a:pt x="281957" y="1371139"/>
                </a:cubicBezTo>
                <a:cubicBezTo>
                  <a:pt x="281957" y="1340257"/>
                  <a:pt x="306886" y="1315328"/>
                  <a:pt x="337768" y="1315328"/>
                </a:cubicBezTo>
                <a:close/>
                <a:moveTo>
                  <a:pt x="686154" y="111621"/>
                </a:moveTo>
                <a:cubicBezTo>
                  <a:pt x="438914" y="111621"/>
                  <a:pt x="237624" y="312725"/>
                  <a:pt x="237624" y="560152"/>
                </a:cubicBezTo>
                <a:lnTo>
                  <a:pt x="237624" y="985614"/>
                </a:lnTo>
                <a:cubicBezTo>
                  <a:pt x="237624" y="996032"/>
                  <a:pt x="234833" y="1006078"/>
                  <a:pt x="229252" y="1014822"/>
                </a:cubicBezTo>
                <a:lnTo>
                  <a:pt x="155768" y="1134814"/>
                </a:lnTo>
                <a:lnTo>
                  <a:pt x="1214680" y="1134814"/>
                </a:lnTo>
                <a:lnTo>
                  <a:pt x="1143429" y="1023565"/>
                </a:lnTo>
                <a:cubicBezTo>
                  <a:pt x="1137662" y="1014636"/>
                  <a:pt x="1134685" y="1004218"/>
                  <a:pt x="1134685" y="993428"/>
                </a:cubicBezTo>
                <a:lnTo>
                  <a:pt x="1134685" y="560152"/>
                </a:lnTo>
                <a:cubicBezTo>
                  <a:pt x="1134685" y="312911"/>
                  <a:pt x="933581" y="111621"/>
                  <a:pt x="686154" y="111621"/>
                </a:cubicBezTo>
                <a:close/>
                <a:moveTo>
                  <a:pt x="686154" y="0"/>
                </a:moveTo>
                <a:cubicBezTo>
                  <a:pt x="761499" y="0"/>
                  <a:pt x="834610" y="14883"/>
                  <a:pt x="903815" y="44276"/>
                </a:cubicBezTo>
                <a:cubicBezTo>
                  <a:pt x="970416" y="72554"/>
                  <a:pt x="1030319" y="113109"/>
                  <a:pt x="1081851" y="164455"/>
                </a:cubicBezTo>
                <a:cubicBezTo>
                  <a:pt x="1133383" y="215987"/>
                  <a:pt x="1173753" y="275890"/>
                  <a:pt x="1202030" y="342491"/>
                </a:cubicBezTo>
                <a:cubicBezTo>
                  <a:pt x="1231423" y="411510"/>
                  <a:pt x="1246306" y="484808"/>
                  <a:pt x="1246306" y="560152"/>
                </a:cubicBezTo>
                <a:lnTo>
                  <a:pt x="1246306" y="977243"/>
                </a:lnTo>
                <a:lnTo>
                  <a:pt x="1363508" y="1160487"/>
                </a:lnTo>
                <a:cubicBezTo>
                  <a:pt x="1374484" y="1177603"/>
                  <a:pt x="1375229" y="1199555"/>
                  <a:pt x="1365369" y="1217414"/>
                </a:cubicBezTo>
                <a:cubicBezTo>
                  <a:pt x="1355695" y="1235273"/>
                  <a:pt x="1336905" y="1246436"/>
                  <a:pt x="1316628" y="1246436"/>
                </a:cubicBezTo>
                <a:lnTo>
                  <a:pt x="55867" y="1246436"/>
                </a:lnTo>
                <a:cubicBezTo>
                  <a:pt x="35589" y="1246436"/>
                  <a:pt x="16986" y="1235460"/>
                  <a:pt x="7126" y="1217786"/>
                </a:cubicBezTo>
                <a:cubicBezTo>
                  <a:pt x="-2734" y="1200113"/>
                  <a:pt x="-2362" y="1178533"/>
                  <a:pt x="8242" y="1161232"/>
                </a:cubicBezTo>
                <a:lnTo>
                  <a:pt x="126002" y="969801"/>
                </a:lnTo>
                <a:lnTo>
                  <a:pt x="126002" y="560152"/>
                </a:lnTo>
                <a:cubicBezTo>
                  <a:pt x="126002" y="484808"/>
                  <a:pt x="140885" y="411696"/>
                  <a:pt x="170279" y="342491"/>
                </a:cubicBezTo>
                <a:cubicBezTo>
                  <a:pt x="198556" y="275890"/>
                  <a:pt x="239112" y="215987"/>
                  <a:pt x="290458" y="164455"/>
                </a:cubicBezTo>
                <a:cubicBezTo>
                  <a:pt x="341803" y="112923"/>
                  <a:pt x="401893" y="72554"/>
                  <a:pt x="468493" y="44276"/>
                </a:cubicBezTo>
                <a:cubicBezTo>
                  <a:pt x="537512" y="14883"/>
                  <a:pt x="610810" y="0"/>
                  <a:pt x="686154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Why fixed-point?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57562" y="2288701"/>
            <a:ext cx="415890" cy="384728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Quantizer Types: Mid-Rise and Mid-Tread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040D38-E41A-4BE8-9CC8-D7449D900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80" y="1243548"/>
            <a:ext cx="10671175" cy="5357833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Floating-Point Representation (Refresher)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7774" y="1540102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7774" y="3112534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7774" y="4684966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20840" y="1540102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0840" y="3112534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489833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 (1)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342900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Advantages wide dynamic range, easy for algorithm development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1489833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Exponent (8)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342900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Limitation not always efficient for embedded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1489833" y="4684968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Mantissa (23)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21930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21930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21930" y="4818352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574996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6574996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IEEE 754 format (32-bit float)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04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Representation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4980699" y="4458777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28510" y="2908916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092055" y="1365623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5400000">
            <a:off x="763657" y="1262366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5400000">
            <a:off x="2203263" y="2808943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 rot="5400000">
            <a:off x="3651887" y="4355520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66405" y="1790858"/>
            <a:ext cx="517529" cy="517529"/>
          </a:xfrm>
          <a:custGeom>
            <a:avLst/>
            <a:gdLst>
              <a:gd name="connsiteX0" fmla="*/ 438553 w 720000"/>
              <a:gd name="connsiteY0" fmla="*/ 189601 h 720000"/>
              <a:gd name="connsiteX1" fmla="*/ 503636 w 720000"/>
              <a:gd name="connsiteY1" fmla="*/ 216365 h 720000"/>
              <a:gd name="connsiteX2" fmla="*/ 503636 w 720000"/>
              <a:gd name="connsiteY2" fmla="*/ 346445 h 720000"/>
              <a:gd name="connsiteX3" fmla="*/ 362260 w 720000"/>
              <a:gd name="connsiteY3" fmla="*/ 487907 h 720000"/>
              <a:gd name="connsiteX4" fmla="*/ 191861 w 720000"/>
              <a:gd name="connsiteY4" fmla="*/ 528226 h 720000"/>
              <a:gd name="connsiteX5" fmla="*/ 232180 w 720000"/>
              <a:gd name="connsiteY5" fmla="*/ 357827 h 720000"/>
              <a:gd name="connsiteX6" fmla="*/ 373556 w 720000"/>
              <a:gd name="connsiteY6" fmla="*/ 216452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339581 w 720000"/>
              <a:gd name="connsiteY9" fmla="*/ 182476 h 720000"/>
              <a:gd name="connsiteX10" fmla="*/ 198205 w 720000"/>
              <a:gd name="connsiteY10" fmla="*/ 323852 h 720000"/>
              <a:gd name="connsiteX11" fmla="*/ 141637 w 720000"/>
              <a:gd name="connsiteY11" fmla="*/ 578364 h 720000"/>
              <a:gd name="connsiteX12" fmla="*/ 396149 w 720000"/>
              <a:gd name="connsiteY12" fmla="*/ 521796 h 720000"/>
              <a:gd name="connsiteX13" fmla="*/ 537524 w 720000"/>
              <a:gd name="connsiteY13" fmla="*/ 380420 h 720000"/>
              <a:gd name="connsiteX14" fmla="*/ 537524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0 h 720000"/>
              <a:gd name="connsiteX17" fmla="*/ 600000 w 720000"/>
              <a:gd name="connsiteY17" fmla="*/ 0 h 720000"/>
              <a:gd name="connsiteX18" fmla="*/ 720000 w 720000"/>
              <a:gd name="connsiteY18" fmla="*/ 120000 h 720000"/>
              <a:gd name="connsiteX19" fmla="*/ 720000 w 720000"/>
              <a:gd name="connsiteY19" fmla="*/ 600000 h 720000"/>
              <a:gd name="connsiteX20" fmla="*/ 600000 w 720000"/>
              <a:gd name="connsiteY20" fmla="*/ 720000 h 720000"/>
              <a:gd name="connsiteX21" fmla="*/ 120000 w 720000"/>
              <a:gd name="connsiteY21" fmla="*/ 720000 h 720000"/>
              <a:gd name="connsiteX22" fmla="*/ 0 w 720000"/>
              <a:gd name="connsiteY22" fmla="*/ 600000 h 720000"/>
              <a:gd name="connsiteX23" fmla="*/ 0 w 720000"/>
              <a:gd name="connsiteY23" fmla="*/ 120000 h 720000"/>
              <a:gd name="connsiteX24" fmla="*/ 120000 w 720000"/>
              <a:gd name="connsiteY24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63230" y="189601"/>
                  <a:pt x="486344" y="199073"/>
                  <a:pt x="503636" y="216365"/>
                </a:cubicBezTo>
                <a:cubicBezTo>
                  <a:pt x="539523" y="252252"/>
                  <a:pt x="539523" y="310557"/>
                  <a:pt x="503636" y="346445"/>
                </a:cubicBezTo>
                <a:lnTo>
                  <a:pt x="362260" y="487907"/>
                </a:lnTo>
                <a:cubicBezTo>
                  <a:pt x="342622" y="507545"/>
                  <a:pt x="266503" y="522665"/>
                  <a:pt x="191861" y="528226"/>
                </a:cubicBezTo>
                <a:cubicBezTo>
                  <a:pt x="197336" y="453584"/>
                  <a:pt x="212456" y="377465"/>
                  <a:pt x="232180" y="357827"/>
                </a:cubicBezTo>
                <a:lnTo>
                  <a:pt x="373556" y="216452"/>
                </a:lnTo>
                <a:cubicBezTo>
                  <a:pt x="390761" y="199073"/>
                  <a:pt x="413875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02666" y="141636"/>
                  <a:pt x="366778" y="155278"/>
                  <a:pt x="339581" y="182476"/>
                </a:cubicBezTo>
                <a:lnTo>
                  <a:pt x="198205" y="323852"/>
                </a:lnTo>
                <a:cubicBezTo>
                  <a:pt x="143723" y="378335"/>
                  <a:pt x="141637" y="578364"/>
                  <a:pt x="141637" y="578364"/>
                </a:cubicBezTo>
                <a:cubicBezTo>
                  <a:pt x="141637" y="578364"/>
                  <a:pt x="341753" y="576278"/>
                  <a:pt x="396149" y="521796"/>
                </a:cubicBezTo>
                <a:lnTo>
                  <a:pt x="537524" y="380420"/>
                </a:lnTo>
                <a:cubicBezTo>
                  <a:pt x="592007" y="325938"/>
                  <a:pt x="592007" y="236872"/>
                  <a:pt x="537524" y="182476"/>
                </a:cubicBezTo>
                <a:cubicBezTo>
                  <a:pt x="510327" y="155191"/>
                  <a:pt x="474440" y="141636"/>
                  <a:pt x="438553" y="141636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586581" y="3326200"/>
            <a:ext cx="540000" cy="540000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80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405022 w 720001"/>
              <a:gd name="connsiteY7" fmla="*/ 0 h 720001"/>
              <a:gd name="connsiteX8" fmla="*/ 720001 w 720001"/>
              <a:gd name="connsiteY8" fmla="*/ 314979 h 720001"/>
              <a:gd name="connsiteX9" fmla="*/ 405022 w 720001"/>
              <a:gd name="connsiteY9" fmla="*/ 314979 h 720001"/>
              <a:gd name="connsiteX10" fmla="*/ 360000 w 720001"/>
              <a:gd name="connsiteY10" fmla="*/ 0 h 720001"/>
              <a:gd name="connsiteX11" fmla="*/ 360000 w 720001"/>
              <a:gd name="connsiteY11" fmla="*/ 360000 h 720001"/>
              <a:gd name="connsiteX12" fmla="*/ 720000 w 720001"/>
              <a:gd name="connsiteY12" fmla="*/ 360000 h 720001"/>
              <a:gd name="connsiteX13" fmla="*/ 360000 w 720001"/>
              <a:gd name="connsiteY13" fmla="*/ 720001 h 720001"/>
              <a:gd name="connsiteX14" fmla="*/ 0 w 720001"/>
              <a:gd name="connsiteY14" fmla="*/ 360000 h 720001"/>
              <a:gd name="connsiteX15" fmla="*/ 360000 w 720001"/>
              <a:gd name="connsiteY15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80"/>
                </a:cubicBezTo>
                <a:cubicBezTo>
                  <a:pt x="566806" y="104878"/>
                  <a:pt x="538699" y="85967"/>
                  <a:pt x="507383" y="72694"/>
                </a:cubicBezTo>
                <a:cubicBezTo>
                  <a:pt x="491075" y="65755"/>
                  <a:pt x="474246" y="60637"/>
                  <a:pt x="457070" y="57166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0" y="360000"/>
                </a:lnTo>
                <a:cubicBezTo>
                  <a:pt x="720000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4072569" y="4878731"/>
            <a:ext cx="465269" cy="504000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68370" y="1509548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3888511" y="3052841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Range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356602" y="4602702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n =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General format: Q1.m.n</a:t>
            </a:r>
            <a:endParaRPr kumimoji="1" lang="zh-CN" altLang="en-US" dirty="0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3950970" y="-1107290"/>
            <a:ext cx="9350376" cy="9350372"/>
          </a:xfrm>
          <a:prstGeom prst="arc">
            <a:avLst>
              <a:gd name="adj1" fmla="val 18716968"/>
              <a:gd name="adj2" fmla="val 284618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-2287905" y="1829582"/>
            <a:ext cx="6486182" cy="3490914"/>
          </a:xfrm>
          <a:custGeom>
            <a:avLst/>
            <a:gdLst>
              <a:gd name="connsiteX0" fmla="*/ 0 w 6486182"/>
              <a:gd name="connsiteY0" fmla="*/ 0 h 3490914"/>
              <a:gd name="connsiteX1" fmla="*/ 4740726 w 6486182"/>
              <a:gd name="connsiteY1" fmla="*/ 0 h 3490914"/>
              <a:gd name="connsiteX2" fmla="*/ 6486182 w 6486182"/>
              <a:gd name="connsiteY2" fmla="*/ 1745457 h 3490914"/>
              <a:gd name="connsiteX3" fmla="*/ 6486181 w 6486182"/>
              <a:gd name="connsiteY3" fmla="*/ 1745457 h 3490914"/>
              <a:gd name="connsiteX4" fmla="*/ 4740724 w 6486182"/>
              <a:gd name="connsiteY4" fmla="*/ 3490914 h 3490914"/>
              <a:gd name="connsiteX5" fmla="*/ 0 w 6486182"/>
              <a:gd name="connsiteY5" fmla="*/ 3490913 h 3490914"/>
            </a:gdLst>
            <a:ahLst/>
            <a:cxnLst/>
            <a:rect l="l" t="t" r="r" b="b"/>
            <a:pathLst>
              <a:path w="6486182" h="3490914">
                <a:moveTo>
                  <a:pt x="0" y="0"/>
                </a:moveTo>
                <a:lnTo>
                  <a:pt x="4740726" y="0"/>
                </a:lnTo>
                <a:cubicBezTo>
                  <a:pt x="5704714" y="0"/>
                  <a:pt x="6486182" y="781468"/>
                  <a:pt x="6486182" y="1745457"/>
                </a:cubicBezTo>
                <a:lnTo>
                  <a:pt x="6486181" y="1745457"/>
                </a:lnTo>
                <a:cubicBezTo>
                  <a:pt x="6486181" y="2709446"/>
                  <a:pt x="5704713" y="3490914"/>
                  <a:pt x="4740724" y="3490914"/>
                </a:cubicBezTo>
                <a:lnTo>
                  <a:pt x="0" y="3490913"/>
                </a:ln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888943" y="1860108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0000"/>
                </a:schemeClr>
              </a:gs>
              <a:gs pos="100000">
                <a:schemeClr val="accent1">
                  <a:lumMod val="98000"/>
                  <a:lumOff val="2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1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38083" y="1916272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5126817" y="2141805"/>
            <a:ext cx="269061" cy="269101"/>
          </a:xfrm>
          <a:custGeom>
            <a:avLst/>
            <a:gdLst>
              <a:gd name="connsiteX0" fmla="*/ 579031 w 719895"/>
              <a:gd name="connsiteY0" fmla="*/ 554022 h 720000"/>
              <a:gd name="connsiteX1" fmla="*/ 596778 w 719895"/>
              <a:gd name="connsiteY1" fmla="*/ 561368 h 720000"/>
              <a:gd name="connsiteX2" fmla="*/ 712550 w 719895"/>
              <a:gd name="connsiteY2" fmla="*/ 677140 h 720000"/>
              <a:gd name="connsiteX3" fmla="*/ 712550 w 719895"/>
              <a:gd name="connsiteY3" fmla="*/ 712634 h 720000"/>
              <a:gd name="connsiteX4" fmla="*/ 694887 w 719895"/>
              <a:gd name="connsiteY4" fmla="*/ 720000 h 720000"/>
              <a:gd name="connsiteX5" fmla="*/ 677140 w 719895"/>
              <a:gd name="connsiteY5" fmla="*/ 712634 h 720000"/>
              <a:gd name="connsiteX6" fmla="*/ 561284 w 719895"/>
              <a:gd name="connsiteY6" fmla="*/ 596861 h 720000"/>
              <a:gd name="connsiteX7" fmla="*/ 561284 w 719895"/>
              <a:gd name="connsiteY7" fmla="*/ 561368 h 720000"/>
              <a:gd name="connsiteX8" fmla="*/ 579031 w 719895"/>
              <a:gd name="connsiteY8" fmla="*/ 554022 h 720000"/>
              <a:gd name="connsiteX9" fmla="*/ 301109 w 719895"/>
              <a:gd name="connsiteY9" fmla="*/ 0 h 720000"/>
              <a:gd name="connsiteX10" fmla="*/ 602219 w 719895"/>
              <a:gd name="connsiteY10" fmla="*/ 301109 h 720000"/>
              <a:gd name="connsiteX11" fmla="*/ 301109 w 719895"/>
              <a:gd name="connsiteY11" fmla="*/ 602219 h 720000"/>
              <a:gd name="connsiteX12" fmla="*/ 0 w 719895"/>
              <a:gd name="connsiteY12" fmla="*/ 301109 h 720000"/>
              <a:gd name="connsiteX13" fmla="*/ 301109 w 719895"/>
              <a:gd name="connsiteY13" fmla="*/ 0 h 720000"/>
            </a:gdLst>
            <a:ahLst/>
            <a:cxnLst/>
            <a:rect l="l" t="t" r="r" b="b"/>
            <a:pathLst>
              <a:path w="719895" h="720000">
                <a:moveTo>
                  <a:pt x="579031" y="554022"/>
                </a:moveTo>
                <a:cubicBezTo>
                  <a:pt x="585456" y="554022"/>
                  <a:pt x="591880" y="556471"/>
                  <a:pt x="596778" y="561368"/>
                </a:cubicBezTo>
                <a:lnTo>
                  <a:pt x="712550" y="677140"/>
                </a:lnTo>
                <a:cubicBezTo>
                  <a:pt x="722344" y="686935"/>
                  <a:pt x="722344" y="702840"/>
                  <a:pt x="712550" y="712634"/>
                </a:cubicBezTo>
                <a:cubicBezTo>
                  <a:pt x="707778" y="717573"/>
                  <a:pt x="701333" y="720000"/>
                  <a:pt x="694887" y="720000"/>
                </a:cubicBezTo>
                <a:cubicBezTo>
                  <a:pt x="688441" y="720000"/>
                  <a:pt x="681995" y="717573"/>
                  <a:pt x="677140" y="712634"/>
                </a:cubicBezTo>
                <a:lnTo>
                  <a:pt x="561284" y="596861"/>
                </a:lnTo>
                <a:cubicBezTo>
                  <a:pt x="551490" y="587067"/>
                  <a:pt x="551490" y="571162"/>
                  <a:pt x="561284" y="561368"/>
                </a:cubicBezTo>
                <a:cubicBezTo>
                  <a:pt x="566181" y="556471"/>
                  <a:pt x="572606" y="554022"/>
                  <a:pt x="579031" y="554022"/>
                </a:cubicBezTo>
                <a:close/>
                <a:moveTo>
                  <a:pt x="301109" y="0"/>
                </a:moveTo>
                <a:cubicBezTo>
                  <a:pt x="467443" y="0"/>
                  <a:pt x="602219" y="134859"/>
                  <a:pt x="602219" y="301109"/>
                </a:cubicBezTo>
                <a:cubicBezTo>
                  <a:pt x="602219" y="467443"/>
                  <a:pt x="467443" y="602219"/>
                  <a:pt x="301109" y="602219"/>
                </a:cubicBezTo>
                <a:cubicBezTo>
                  <a:pt x="134775" y="602219"/>
                  <a:pt x="0" y="467443"/>
                  <a:pt x="0" y="301109"/>
                </a:cubicBezTo>
                <a:cubicBezTo>
                  <a:pt x="0" y="134775"/>
                  <a:pt x="134775" y="0"/>
                  <a:pt x="3011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781713" y="1859178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Q1.0.15 : Range –2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to (2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– 2⁻¹⁵) = - 1.0 to 1 - 2⁻¹⁵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4888943" y="4175502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>
                  <a:alpha val="2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2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938083" y="4231668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accent2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5126796" y="4467281"/>
            <a:ext cx="269101" cy="248936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772382" y="4175502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Stored as (1+m+n)- bit signed integer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-3301877" y="-458196"/>
            <a:ext cx="8052190" cy="8052186"/>
          </a:xfrm>
          <a:prstGeom prst="arc">
            <a:avLst>
              <a:gd name="adj1" fmla="val 19465670"/>
              <a:gd name="adj2" fmla="val 221115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408824" y="2584913"/>
            <a:ext cx="1870330" cy="1845296"/>
          </a:xfrm>
          <a:custGeom>
            <a:avLst/>
            <a:gdLst>
              <a:gd name="connsiteX0" fmla="*/ 1371696 w 1870330"/>
              <a:gd name="connsiteY0" fmla="*/ 1296270 h 1845296"/>
              <a:gd name="connsiteX1" fmla="*/ 1371696 w 1870330"/>
              <a:gd name="connsiteY1" fmla="*/ 1371136 h 1845296"/>
              <a:gd name="connsiteX2" fmla="*/ 1671448 w 1870330"/>
              <a:gd name="connsiteY2" fmla="*/ 1371136 h 1845296"/>
              <a:gd name="connsiteX3" fmla="*/ 1671448 w 1870330"/>
              <a:gd name="connsiteY3" fmla="*/ 1296270 h 1845296"/>
              <a:gd name="connsiteX4" fmla="*/ 1371696 w 1870330"/>
              <a:gd name="connsiteY4" fmla="*/ 996899 h 1845296"/>
              <a:gd name="connsiteX5" fmla="*/ 1371696 w 1870330"/>
              <a:gd name="connsiteY5" fmla="*/ 1071765 h 1845296"/>
              <a:gd name="connsiteX6" fmla="*/ 1671448 w 1870330"/>
              <a:gd name="connsiteY6" fmla="*/ 1071765 h 1845296"/>
              <a:gd name="connsiteX7" fmla="*/ 1671448 w 1870330"/>
              <a:gd name="connsiteY7" fmla="*/ 996899 h 1845296"/>
              <a:gd name="connsiteX8" fmla="*/ 1371696 w 1870330"/>
              <a:gd name="connsiteY8" fmla="*/ 747820 h 1845296"/>
              <a:gd name="connsiteX9" fmla="*/ 1371696 w 1870330"/>
              <a:gd name="connsiteY9" fmla="*/ 822401 h 1845296"/>
              <a:gd name="connsiteX10" fmla="*/ 1671448 w 1870330"/>
              <a:gd name="connsiteY10" fmla="*/ 822401 h 1845296"/>
              <a:gd name="connsiteX11" fmla="*/ 1671448 w 1870330"/>
              <a:gd name="connsiteY11" fmla="*/ 747820 h 1845296"/>
              <a:gd name="connsiteX12" fmla="*/ 1371696 w 1870330"/>
              <a:gd name="connsiteY12" fmla="*/ 473405 h 1845296"/>
              <a:gd name="connsiteX13" fmla="*/ 1371696 w 1870330"/>
              <a:gd name="connsiteY13" fmla="*/ 547986 h 1845296"/>
              <a:gd name="connsiteX14" fmla="*/ 1671448 w 1870330"/>
              <a:gd name="connsiteY14" fmla="*/ 547986 h 1845296"/>
              <a:gd name="connsiteX15" fmla="*/ 1671448 w 1870330"/>
              <a:gd name="connsiteY15" fmla="*/ 473405 h 1845296"/>
              <a:gd name="connsiteX16" fmla="*/ 1221963 w 1870330"/>
              <a:gd name="connsiteY16" fmla="*/ 224040 h 1845296"/>
              <a:gd name="connsiteX17" fmla="*/ 1794130 w 1870330"/>
              <a:gd name="connsiteY17" fmla="*/ 224040 h 1845296"/>
              <a:gd name="connsiteX18" fmla="*/ 1870330 w 1870330"/>
              <a:gd name="connsiteY18" fmla="*/ 298811 h 1845296"/>
              <a:gd name="connsiteX19" fmla="*/ 1870330 w 1870330"/>
              <a:gd name="connsiteY19" fmla="*/ 1570971 h 1845296"/>
              <a:gd name="connsiteX20" fmla="*/ 1794130 w 1870330"/>
              <a:gd name="connsiteY20" fmla="*/ 1645742 h 1845296"/>
              <a:gd name="connsiteX21" fmla="*/ 1221963 w 1870330"/>
              <a:gd name="connsiteY21" fmla="*/ 1645742 h 1845296"/>
              <a:gd name="connsiteX22" fmla="*/ 1221963 w 1870330"/>
              <a:gd name="connsiteY22" fmla="*/ 1383804 h 1845296"/>
              <a:gd name="connsiteX23" fmla="*/ 1298163 w 1870330"/>
              <a:gd name="connsiteY23" fmla="*/ 1383804 h 1845296"/>
              <a:gd name="connsiteX24" fmla="*/ 1298163 w 1870330"/>
              <a:gd name="connsiteY24" fmla="*/ 1309033 h 1845296"/>
              <a:gd name="connsiteX25" fmla="*/ 1221963 w 1870330"/>
              <a:gd name="connsiteY25" fmla="*/ 1309033 h 1845296"/>
              <a:gd name="connsiteX26" fmla="*/ 1221963 w 1870330"/>
              <a:gd name="connsiteY26" fmla="*/ 1084434 h 1845296"/>
              <a:gd name="connsiteX27" fmla="*/ 1298163 w 1870330"/>
              <a:gd name="connsiteY27" fmla="*/ 1084434 h 1845296"/>
              <a:gd name="connsiteX28" fmla="*/ 1298163 w 1870330"/>
              <a:gd name="connsiteY28" fmla="*/ 1009662 h 1845296"/>
              <a:gd name="connsiteX29" fmla="*/ 1221963 w 1870330"/>
              <a:gd name="connsiteY29" fmla="*/ 1009662 h 1845296"/>
              <a:gd name="connsiteX30" fmla="*/ 1221963 w 1870330"/>
              <a:gd name="connsiteY30" fmla="*/ 822496 h 1845296"/>
              <a:gd name="connsiteX31" fmla="*/ 1298163 w 1870330"/>
              <a:gd name="connsiteY31" fmla="*/ 822496 h 1845296"/>
              <a:gd name="connsiteX32" fmla="*/ 1298163 w 1870330"/>
              <a:gd name="connsiteY32" fmla="*/ 747725 h 1845296"/>
              <a:gd name="connsiteX33" fmla="*/ 1221963 w 1870330"/>
              <a:gd name="connsiteY33" fmla="*/ 747725 h 1845296"/>
              <a:gd name="connsiteX34" fmla="*/ 1221963 w 1870330"/>
              <a:gd name="connsiteY34" fmla="*/ 560654 h 1845296"/>
              <a:gd name="connsiteX35" fmla="*/ 1298163 w 1870330"/>
              <a:gd name="connsiteY35" fmla="*/ 560654 h 1845296"/>
              <a:gd name="connsiteX36" fmla="*/ 1298163 w 1870330"/>
              <a:gd name="connsiteY36" fmla="*/ 485883 h 1845296"/>
              <a:gd name="connsiteX37" fmla="*/ 1221963 w 1870330"/>
              <a:gd name="connsiteY37" fmla="*/ 485883 h 1845296"/>
              <a:gd name="connsiteX38" fmla="*/ 1054227 w 1870330"/>
              <a:gd name="connsiteY38" fmla="*/ 393 h 1845296"/>
              <a:gd name="connsiteX39" fmla="*/ 1054132 w 1870330"/>
              <a:gd name="connsiteY39" fmla="*/ 869 h 1845296"/>
              <a:gd name="connsiteX40" fmla="*/ 1083754 w 1870330"/>
              <a:gd name="connsiteY40" fmla="*/ 7727 h 1845296"/>
              <a:gd name="connsiteX41" fmla="*/ 1097470 w 1870330"/>
              <a:gd name="connsiteY41" fmla="*/ 36302 h 1845296"/>
              <a:gd name="connsiteX42" fmla="*/ 1097470 w 1870330"/>
              <a:gd name="connsiteY42" fmla="*/ 1808714 h 1845296"/>
              <a:gd name="connsiteX43" fmla="*/ 1083754 w 1870330"/>
              <a:gd name="connsiteY43" fmla="*/ 1837289 h 1845296"/>
              <a:gd name="connsiteX44" fmla="*/ 1060895 w 1870330"/>
              <a:gd name="connsiteY44" fmla="*/ 1845290 h 1845296"/>
              <a:gd name="connsiteX45" fmla="*/ 1053941 w 1870330"/>
              <a:gd name="connsiteY45" fmla="*/ 1844148 h 1845296"/>
              <a:gd name="connsiteX46" fmla="*/ 29623 w 1870330"/>
              <a:gd name="connsiteY46" fmla="*/ 1647932 h 1845296"/>
              <a:gd name="connsiteX47" fmla="*/ 0 w 1870330"/>
              <a:gd name="connsiteY47" fmla="*/ 1611071 h 1845296"/>
              <a:gd name="connsiteX48" fmla="*/ 0 w 1870330"/>
              <a:gd name="connsiteY48" fmla="*/ 233375 h 1845296"/>
              <a:gd name="connsiteX49" fmla="*/ 29813 w 1870330"/>
              <a:gd name="connsiteY49" fmla="*/ 196513 h 1845296"/>
            </a:gdLst>
            <a:ahLst/>
            <a:cxnLst/>
            <a:rect l="l" t="t" r="r" b="b"/>
            <a:pathLst>
              <a:path w="1870330" h="1845296">
                <a:moveTo>
                  <a:pt x="1371696" y="1296270"/>
                </a:moveTo>
                <a:lnTo>
                  <a:pt x="1371696" y="1371136"/>
                </a:lnTo>
                <a:lnTo>
                  <a:pt x="1671448" y="1371136"/>
                </a:lnTo>
                <a:lnTo>
                  <a:pt x="1671448" y="1296270"/>
                </a:lnTo>
                <a:close/>
                <a:moveTo>
                  <a:pt x="1371696" y="996899"/>
                </a:moveTo>
                <a:lnTo>
                  <a:pt x="1371696" y="1071765"/>
                </a:lnTo>
                <a:lnTo>
                  <a:pt x="1671448" y="1071765"/>
                </a:lnTo>
                <a:lnTo>
                  <a:pt x="1671448" y="996899"/>
                </a:lnTo>
                <a:close/>
                <a:moveTo>
                  <a:pt x="1371696" y="747820"/>
                </a:moveTo>
                <a:lnTo>
                  <a:pt x="1371696" y="822401"/>
                </a:lnTo>
                <a:lnTo>
                  <a:pt x="1671448" y="822401"/>
                </a:lnTo>
                <a:lnTo>
                  <a:pt x="1671448" y="747820"/>
                </a:lnTo>
                <a:close/>
                <a:moveTo>
                  <a:pt x="1371696" y="473405"/>
                </a:moveTo>
                <a:lnTo>
                  <a:pt x="1371696" y="547986"/>
                </a:lnTo>
                <a:lnTo>
                  <a:pt x="1671448" y="547986"/>
                </a:lnTo>
                <a:lnTo>
                  <a:pt x="1671448" y="473405"/>
                </a:lnTo>
                <a:close/>
                <a:moveTo>
                  <a:pt x="1221963" y="224040"/>
                </a:moveTo>
                <a:lnTo>
                  <a:pt x="1794130" y="224040"/>
                </a:lnTo>
                <a:cubicBezTo>
                  <a:pt x="1835792" y="223723"/>
                  <a:pt x="1869863" y="257155"/>
                  <a:pt x="1870330" y="298811"/>
                </a:cubicBezTo>
                <a:lnTo>
                  <a:pt x="1870330" y="1570971"/>
                </a:lnTo>
                <a:cubicBezTo>
                  <a:pt x="1869863" y="1612623"/>
                  <a:pt x="1835792" y="1646056"/>
                  <a:pt x="1794130" y="1645742"/>
                </a:cubicBezTo>
                <a:lnTo>
                  <a:pt x="1221963" y="1645742"/>
                </a:lnTo>
                <a:lnTo>
                  <a:pt x="1221963" y="1383804"/>
                </a:lnTo>
                <a:lnTo>
                  <a:pt x="1298163" y="1383804"/>
                </a:lnTo>
                <a:lnTo>
                  <a:pt x="1298163" y="1309033"/>
                </a:lnTo>
                <a:lnTo>
                  <a:pt x="1221963" y="1309033"/>
                </a:lnTo>
                <a:lnTo>
                  <a:pt x="1221963" y="1084434"/>
                </a:lnTo>
                <a:lnTo>
                  <a:pt x="1298163" y="1084434"/>
                </a:lnTo>
                <a:lnTo>
                  <a:pt x="1298163" y="1009662"/>
                </a:lnTo>
                <a:lnTo>
                  <a:pt x="1221963" y="1009662"/>
                </a:lnTo>
                <a:lnTo>
                  <a:pt x="1221963" y="822496"/>
                </a:lnTo>
                <a:lnTo>
                  <a:pt x="1298163" y="822496"/>
                </a:lnTo>
                <a:lnTo>
                  <a:pt x="1298163" y="747725"/>
                </a:lnTo>
                <a:lnTo>
                  <a:pt x="1221963" y="747725"/>
                </a:lnTo>
                <a:lnTo>
                  <a:pt x="1221963" y="560654"/>
                </a:lnTo>
                <a:lnTo>
                  <a:pt x="1298163" y="560654"/>
                </a:lnTo>
                <a:lnTo>
                  <a:pt x="1298163" y="485883"/>
                </a:lnTo>
                <a:lnTo>
                  <a:pt x="1221963" y="485883"/>
                </a:lnTo>
                <a:close/>
                <a:moveTo>
                  <a:pt x="1054227" y="393"/>
                </a:moveTo>
                <a:lnTo>
                  <a:pt x="1054132" y="869"/>
                </a:lnTo>
                <a:cubicBezTo>
                  <a:pt x="1064533" y="-1498"/>
                  <a:pt x="1075449" y="1029"/>
                  <a:pt x="1083754" y="7727"/>
                </a:cubicBezTo>
                <a:cubicBezTo>
                  <a:pt x="1092260" y="14808"/>
                  <a:pt x="1097261" y="25237"/>
                  <a:pt x="1097470" y="36302"/>
                </a:cubicBezTo>
                <a:lnTo>
                  <a:pt x="1097470" y="1808714"/>
                </a:lnTo>
                <a:cubicBezTo>
                  <a:pt x="1097271" y="1819783"/>
                  <a:pt x="1092260" y="1830212"/>
                  <a:pt x="1083754" y="1837289"/>
                </a:cubicBezTo>
                <a:cubicBezTo>
                  <a:pt x="1077344" y="1842614"/>
                  <a:pt x="1069229" y="1845452"/>
                  <a:pt x="1060895" y="1845290"/>
                </a:cubicBezTo>
                <a:cubicBezTo>
                  <a:pt x="1058551" y="1845100"/>
                  <a:pt x="1056227" y="1844719"/>
                  <a:pt x="1053941" y="1844148"/>
                </a:cubicBezTo>
                <a:lnTo>
                  <a:pt x="29623" y="1647932"/>
                </a:lnTo>
                <a:cubicBezTo>
                  <a:pt x="12259" y="1644227"/>
                  <a:pt x="-124" y="1628825"/>
                  <a:pt x="0" y="1611071"/>
                </a:cubicBezTo>
                <a:lnTo>
                  <a:pt x="0" y="233375"/>
                </a:lnTo>
                <a:cubicBezTo>
                  <a:pt x="-105" y="215558"/>
                  <a:pt x="12373" y="200139"/>
                  <a:pt x="29813" y="196513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Q1.0.15 (16-bit signed fixed-point)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05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Float-to-Fixed Conversion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–0.5792, Q1.0.15 → round(–0.5792 × 2¹⁵) = –18979</a:t>
            </a:r>
            <a:endParaRPr kumimoji="1" lang="zh-CN" altLang="en-US" dirty="0"/>
          </a:p>
        </p:txBody>
      </p:sp>
      <p:sp>
        <p:nvSpPr>
          <p:cNvPr id="8" name="标题 1"/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0.4768, Q1.0.15 → round(0.4768 × 2¹⁵) = 15624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AEB875-5491-6DA7-561E-F7165156C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55C340-DFB0-0371-4FDD-F6AD16988F51}"/>
              </a:ext>
            </a:extLst>
          </p:cNvPr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1816E1-97CD-7021-BE01-B7F50791A2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002A98A0-C134-9B42-2A2B-BD4EA6E41693}"/>
              </a:ext>
            </a:extLst>
          </p:cNvPr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F941E26A-10E9-B5D7-584B-B8DBA9EC130E}"/>
              </a:ext>
            </a:extLst>
          </p:cNvPr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69A7B5E2-0DD5-840A-4D75-D1C6F5081D2B}"/>
              </a:ext>
            </a:extLst>
          </p:cNvPr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C7E245C6-5C69-B21C-ED67-A21BA1777B32}"/>
              </a:ext>
            </a:extLst>
          </p:cNvPr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–5.5872, Q1.3.12 → round(–5.5872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12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-22885</a:t>
            </a:r>
            <a:endParaRPr kumimoji="1" lang="zh-CN" altLang="en-US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D2010614-8A39-D92A-DABF-D7412517D637}"/>
              </a:ext>
            </a:extLst>
          </p:cNvPr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587211B6-DEC5-A995-1F22-4E8F176F1B4B}"/>
              </a:ext>
            </a:extLst>
          </p:cNvPr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CAB7733B-CB3D-CCDE-B8CF-3FD2629498B7}"/>
              </a:ext>
            </a:extLst>
          </p:cNvPr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>
            <a:extLst>
              <a:ext uri="{FF2B5EF4-FFF2-40B4-BE49-F238E27FC236}">
                <a16:creationId xmlns:a16="http://schemas.microsoft.com/office/drawing/2014/main" id="{B02E7076-FAC7-E273-5A66-797489E27642}"/>
              </a:ext>
            </a:extLst>
          </p:cNvPr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2.4897, Q1.2.13 → round(2.4897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13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20396</a:t>
            </a:r>
            <a:endParaRPr kumimoji="1" lang="zh-CN" altLang="en-US" dirty="0"/>
          </a:p>
        </p:txBody>
      </p:sp>
      <p:sp>
        <p:nvSpPr>
          <p:cNvPr id="12" name="标题 1">
            <a:extLst>
              <a:ext uri="{FF2B5EF4-FFF2-40B4-BE49-F238E27FC236}">
                <a16:creationId xmlns:a16="http://schemas.microsoft.com/office/drawing/2014/main" id="{D31467AE-C0D8-22E1-A8EA-BEAE88A3A356}"/>
              </a:ext>
            </a:extLst>
          </p:cNvPr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>
            <a:extLst>
              <a:ext uri="{FF2B5EF4-FFF2-40B4-BE49-F238E27FC236}">
                <a16:creationId xmlns:a16="http://schemas.microsoft.com/office/drawing/2014/main" id="{8F291C07-5BA1-78B2-309F-B60D8C6F1554}"/>
              </a:ext>
            </a:extLst>
          </p:cNvPr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85230179-41CA-B0FA-FA42-A7C2B6C7F49B}"/>
              </a:ext>
            </a:extLst>
          </p:cNvPr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>
            <a:extLst>
              <a:ext uri="{FF2B5EF4-FFF2-40B4-BE49-F238E27FC236}">
                <a16:creationId xmlns:a16="http://schemas.microsoft.com/office/drawing/2014/main" id="{F8F60692-F1B7-2EFC-5CFB-5AC59E8360D2}"/>
              </a:ext>
            </a:extLst>
          </p:cNvPr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011613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54827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4827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924743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24743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8794662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794662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3617485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cxnSp>
        <p:nvCxnSpPr>
          <p:cNvPr id="10" name="标题 1"/>
          <p:cNvCxnSpPr/>
          <p:nvPr/>
        </p:nvCxnSpPr>
        <p:spPr>
          <a:xfrm>
            <a:off x="7487403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sp>
        <p:nvSpPr>
          <p:cNvPr id="11" name="标题 1"/>
          <p:cNvSpPr txBox="1"/>
          <p:nvPr/>
        </p:nvSpPr>
        <p:spPr>
          <a:xfrm>
            <a:off x="1653853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32469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995091" y="2272006"/>
            <a:ext cx="461982" cy="462050"/>
          </a:xfrm>
          <a:custGeom>
            <a:avLst/>
            <a:gdLst>
              <a:gd name="connsiteX0" fmla="*/ 669168 w 1599855"/>
              <a:gd name="connsiteY0" fmla="*/ 111621 h 1600088"/>
              <a:gd name="connsiteX1" fmla="*/ 886086 w 1599855"/>
              <a:gd name="connsiteY1" fmla="*/ 155339 h 1600088"/>
              <a:gd name="connsiteX2" fmla="*/ 1063377 w 1599855"/>
              <a:gd name="connsiteY2" fmla="*/ 274960 h 1600088"/>
              <a:gd name="connsiteX3" fmla="*/ 1182998 w 1599855"/>
              <a:gd name="connsiteY3" fmla="*/ 452251 h 1600088"/>
              <a:gd name="connsiteX4" fmla="*/ 1226716 w 1599855"/>
              <a:gd name="connsiteY4" fmla="*/ 669168 h 1600088"/>
              <a:gd name="connsiteX5" fmla="*/ 1182998 w 1599855"/>
              <a:gd name="connsiteY5" fmla="*/ 886085 h 1600088"/>
              <a:gd name="connsiteX6" fmla="*/ 1063377 w 1599855"/>
              <a:gd name="connsiteY6" fmla="*/ 1063377 h 1600088"/>
              <a:gd name="connsiteX7" fmla="*/ 886086 w 1599855"/>
              <a:gd name="connsiteY7" fmla="*/ 1182998 h 1600088"/>
              <a:gd name="connsiteX8" fmla="*/ 669168 w 1599855"/>
              <a:gd name="connsiteY8" fmla="*/ 1226716 h 1600088"/>
              <a:gd name="connsiteX9" fmla="*/ 452251 w 1599855"/>
              <a:gd name="connsiteY9" fmla="*/ 1182998 h 1600088"/>
              <a:gd name="connsiteX10" fmla="*/ 274960 w 1599855"/>
              <a:gd name="connsiteY10" fmla="*/ 1063377 h 1600088"/>
              <a:gd name="connsiteX11" fmla="*/ 155339 w 1599855"/>
              <a:gd name="connsiteY11" fmla="*/ 886085 h 1600088"/>
              <a:gd name="connsiteX12" fmla="*/ 111621 w 1599855"/>
              <a:gd name="connsiteY12" fmla="*/ 669168 h 1600088"/>
              <a:gd name="connsiteX13" fmla="*/ 155339 w 1599855"/>
              <a:gd name="connsiteY13" fmla="*/ 452251 h 1600088"/>
              <a:gd name="connsiteX14" fmla="*/ 274960 w 1599855"/>
              <a:gd name="connsiteY14" fmla="*/ 274960 h 1600088"/>
              <a:gd name="connsiteX15" fmla="*/ 452251 w 1599855"/>
              <a:gd name="connsiteY15" fmla="*/ 155339 h 1600088"/>
              <a:gd name="connsiteX16" fmla="*/ 669168 w 1599855"/>
              <a:gd name="connsiteY16" fmla="*/ 111621 h 1600088"/>
              <a:gd name="connsiteX17" fmla="*/ 669168 w 1599855"/>
              <a:gd name="connsiteY17" fmla="*/ 0 h 1600088"/>
              <a:gd name="connsiteX18" fmla="*/ 0 w 1599855"/>
              <a:gd name="connsiteY18" fmla="*/ 669168 h 1600088"/>
              <a:gd name="connsiteX19" fmla="*/ 669168 w 1599855"/>
              <a:gd name="connsiteY19" fmla="*/ 1338337 h 1600088"/>
              <a:gd name="connsiteX20" fmla="*/ 1338337 w 1599855"/>
              <a:gd name="connsiteY20" fmla="*/ 669168 h 1600088"/>
              <a:gd name="connsiteX21" fmla="*/ 669168 w 1599855"/>
              <a:gd name="connsiteY21" fmla="*/ 0 h 1600088"/>
              <a:gd name="connsiteX22" fmla="*/ 1544278 w 1599855"/>
              <a:gd name="connsiteY22" fmla="*/ 1600088 h 1600088"/>
              <a:gd name="connsiteX23" fmla="*/ 1504838 w 1599855"/>
              <a:gd name="connsiteY23" fmla="*/ 1583717 h 1600088"/>
              <a:gd name="connsiteX24" fmla="*/ 1247366 w 1599855"/>
              <a:gd name="connsiteY24" fmla="*/ 1326431 h 1600088"/>
              <a:gd name="connsiteX25" fmla="*/ 1247366 w 1599855"/>
              <a:gd name="connsiteY25" fmla="*/ 1247552 h 1600088"/>
              <a:gd name="connsiteX26" fmla="*/ 1326245 w 1599855"/>
              <a:gd name="connsiteY26" fmla="*/ 1247552 h 1600088"/>
              <a:gd name="connsiteX27" fmla="*/ 1583531 w 1599855"/>
              <a:gd name="connsiteY27" fmla="*/ 1504838 h 1600088"/>
              <a:gd name="connsiteX28" fmla="*/ 1583531 w 1599855"/>
              <a:gd name="connsiteY28" fmla="*/ 1583717 h 1600088"/>
              <a:gd name="connsiteX29" fmla="*/ 1544278 w 1599855"/>
              <a:gd name="connsiteY29" fmla="*/ 1600088 h 1600088"/>
            </a:gdLst>
            <a:ahLst/>
            <a:cxnLst/>
            <a:rect l="l" t="t" r="r" b="b"/>
            <a:pathLst>
              <a:path w="1599855" h="1600088">
                <a:moveTo>
                  <a:pt x="669168" y="111621"/>
                </a:moveTo>
                <a:cubicBezTo>
                  <a:pt x="744513" y="111621"/>
                  <a:pt x="817438" y="126318"/>
                  <a:pt x="886086" y="155339"/>
                </a:cubicBezTo>
                <a:cubicBezTo>
                  <a:pt x="952500" y="183431"/>
                  <a:pt x="1012031" y="223614"/>
                  <a:pt x="1063377" y="274960"/>
                </a:cubicBezTo>
                <a:cubicBezTo>
                  <a:pt x="1114537" y="326120"/>
                  <a:pt x="1154906" y="385837"/>
                  <a:pt x="1182998" y="452251"/>
                </a:cubicBezTo>
                <a:cubicBezTo>
                  <a:pt x="1212019" y="520898"/>
                  <a:pt x="1226716" y="594010"/>
                  <a:pt x="1226716" y="669168"/>
                </a:cubicBezTo>
                <a:cubicBezTo>
                  <a:pt x="1226716" y="744327"/>
                  <a:pt x="1212019" y="817438"/>
                  <a:pt x="1182998" y="886085"/>
                </a:cubicBezTo>
                <a:cubicBezTo>
                  <a:pt x="1154906" y="952500"/>
                  <a:pt x="1114723" y="1012031"/>
                  <a:pt x="1063377" y="1063377"/>
                </a:cubicBezTo>
                <a:cubicBezTo>
                  <a:pt x="1012217" y="1114537"/>
                  <a:pt x="952500" y="1154906"/>
                  <a:pt x="886086" y="1182998"/>
                </a:cubicBezTo>
                <a:cubicBezTo>
                  <a:pt x="817438" y="1212019"/>
                  <a:pt x="744327" y="1226716"/>
                  <a:pt x="669168" y="1226716"/>
                </a:cubicBezTo>
                <a:cubicBezTo>
                  <a:pt x="594010" y="1226716"/>
                  <a:pt x="520898" y="1212019"/>
                  <a:pt x="452251" y="1182998"/>
                </a:cubicBezTo>
                <a:cubicBezTo>
                  <a:pt x="385837" y="1154906"/>
                  <a:pt x="326306" y="1114723"/>
                  <a:pt x="274960" y="1063377"/>
                </a:cubicBezTo>
                <a:cubicBezTo>
                  <a:pt x="223800" y="1012217"/>
                  <a:pt x="183431" y="952500"/>
                  <a:pt x="155339" y="886085"/>
                </a:cubicBezTo>
                <a:cubicBezTo>
                  <a:pt x="126318" y="817438"/>
                  <a:pt x="111621" y="744327"/>
                  <a:pt x="111621" y="669168"/>
                </a:cubicBezTo>
                <a:cubicBezTo>
                  <a:pt x="111621" y="594010"/>
                  <a:pt x="126318" y="520898"/>
                  <a:pt x="155339" y="452251"/>
                </a:cubicBezTo>
                <a:cubicBezTo>
                  <a:pt x="183431" y="385837"/>
                  <a:pt x="223614" y="326306"/>
                  <a:pt x="274960" y="274960"/>
                </a:cubicBezTo>
                <a:cubicBezTo>
                  <a:pt x="326306" y="223614"/>
                  <a:pt x="385837" y="183431"/>
                  <a:pt x="452251" y="155339"/>
                </a:cubicBezTo>
                <a:cubicBezTo>
                  <a:pt x="520898" y="126318"/>
                  <a:pt x="593824" y="111621"/>
                  <a:pt x="669168" y="111621"/>
                </a:cubicBezTo>
                <a:moveTo>
                  <a:pt x="669168" y="0"/>
                </a:moveTo>
                <a:cubicBezTo>
                  <a:pt x="299517" y="0"/>
                  <a:pt x="0" y="299517"/>
                  <a:pt x="0" y="669168"/>
                </a:cubicBezTo>
                <a:cubicBezTo>
                  <a:pt x="0" y="1038820"/>
                  <a:pt x="299517" y="1338337"/>
                  <a:pt x="669168" y="1338337"/>
                </a:cubicBezTo>
                <a:cubicBezTo>
                  <a:pt x="1038820" y="1338337"/>
                  <a:pt x="1338337" y="1038820"/>
                  <a:pt x="1338337" y="669168"/>
                </a:cubicBezTo>
                <a:cubicBezTo>
                  <a:pt x="1338337" y="299703"/>
                  <a:pt x="1038820" y="0"/>
                  <a:pt x="669168" y="0"/>
                </a:cubicBezTo>
                <a:close/>
                <a:moveTo>
                  <a:pt x="1544278" y="1600088"/>
                </a:moveTo>
                <a:cubicBezTo>
                  <a:pt x="1529953" y="1600088"/>
                  <a:pt x="1515628" y="1594693"/>
                  <a:pt x="1504838" y="1583717"/>
                </a:cubicBezTo>
                <a:lnTo>
                  <a:pt x="1247366" y="1326431"/>
                </a:lnTo>
                <a:cubicBezTo>
                  <a:pt x="1225600" y="1304665"/>
                  <a:pt x="1225600" y="1269318"/>
                  <a:pt x="1247366" y="1247552"/>
                </a:cubicBezTo>
                <a:cubicBezTo>
                  <a:pt x="1269132" y="1225786"/>
                  <a:pt x="1304479" y="1225786"/>
                  <a:pt x="1326245" y="1247552"/>
                </a:cubicBezTo>
                <a:lnTo>
                  <a:pt x="1583531" y="1504838"/>
                </a:lnTo>
                <a:cubicBezTo>
                  <a:pt x="1605297" y="1526605"/>
                  <a:pt x="1605297" y="1561951"/>
                  <a:pt x="1583531" y="1583717"/>
                </a:cubicBezTo>
                <a:cubicBezTo>
                  <a:pt x="1572927" y="1594693"/>
                  <a:pt x="1558603" y="1600088"/>
                  <a:pt x="1544278" y="1600088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523771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02387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893708" y="2272006"/>
            <a:ext cx="404585" cy="462050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9393689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472305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9734893" y="2293580"/>
            <a:ext cx="462050" cy="418902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168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fractional bits → higher precision, smaller range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50419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integer bits → larger range, lower precision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8915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Balance depends on algorithm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Precision vs. Range Trade-off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06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Arithmetic Examples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590569" y="2342147"/>
            <a:ext cx="1780674" cy="1788695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H="1">
            <a:off x="3443434" y="2342147"/>
            <a:ext cx="7098630" cy="1788695"/>
          </a:xfrm>
          <a:prstGeom prst="round2Diag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654615" y="2558715"/>
            <a:ext cx="6676268" cy="1355558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Straightforward, same Q format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10002043" y="2054065"/>
            <a:ext cx="667674" cy="670681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0165497" y="2231789"/>
            <a:ext cx="340767" cy="315233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776338" y="2646947"/>
            <a:ext cx="1409136" cy="1096599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6000">
                <a:ln w="15875">
                  <a:solidFill>
                    <a:srgbClr val="3860F4">
                      <a:alpha val="100000"/>
                    </a:srgbClr>
                  </a:solidFill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52496" y="2184530"/>
            <a:ext cx="203957" cy="204876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Addition/Subtraction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769650" y="2264200"/>
            <a:ext cx="8640000" cy="2736000"/>
          </a:xfrm>
          <a:custGeom>
            <a:avLst/>
            <a:gdLst>
              <a:gd name="connsiteX0" fmla="*/ 264751 w 8640000"/>
              <a:gd name="connsiteY0" fmla="*/ 0 h 2736000"/>
              <a:gd name="connsiteX1" fmla="*/ 8375249 w 8640000"/>
              <a:gd name="connsiteY1" fmla="*/ 0 h 2736000"/>
              <a:gd name="connsiteX2" fmla="*/ 8640000 w 8640000"/>
              <a:gd name="connsiteY2" fmla="*/ 264751 h 2736000"/>
              <a:gd name="connsiteX3" fmla="*/ 8640000 w 8640000"/>
              <a:gd name="connsiteY3" fmla="*/ 2160000 h 2736000"/>
              <a:gd name="connsiteX4" fmla="*/ 8336189 w 8640000"/>
              <a:gd name="connsiteY4" fmla="*/ 2448000 h 2736000"/>
              <a:gd name="connsiteX5" fmla="*/ 4623811 w 8640000"/>
              <a:gd name="connsiteY5" fmla="*/ 2448000 h 2736000"/>
              <a:gd name="connsiteX6" fmla="*/ 4320000 w 8640000"/>
              <a:gd name="connsiteY6" fmla="*/ 2736000 h 2736000"/>
              <a:gd name="connsiteX7" fmla="*/ 4016189 w 8640000"/>
              <a:gd name="connsiteY7" fmla="*/ 2448000 h 2736000"/>
              <a:gd name="connsiteX8" fmla="*/ 303812 w 8640000"/>
              <a:gd name="connsiteY8" fmla="*/ 2448000 h 2736000"/>
              <a:gd name="connsiteX9" fmla="*/ 0 w 8640000"/>
              <a:gd name="connsiteY9" fmla="*/ 2160000 h 2736000"/>
              <a:gd name="connsiteX10" fmla="*/ 0 w 8640000"/>
              <a:gd name="connsiteY10" fmla="*/ 2160000 h 2736000"/>
              <a:gd name="connsiteX11" fmla="*/ 0 w 8640000"/>
              <a:gd name="connsiteY11" fmla="*/ 264751 h 2736000"/>
              <a:gd name="connsiteX12" fmla="*/ 264751 w 8640000"/>
              <a:gd name="connsiteY12" fmla="*/ 0 h 2736000"/>
            </a:gdLst>
            <a:ahLst/>
            <a:cxnLst/>
            <a:rect l="l" t="t" r="r" b="b"/>
            <a:pathLst>
              <a:path w="8640000" h="2736000">
                <a:moveTo>
                  <a:pt x="264751" y="0"/>
                </a:moveTo>
                <a:lnTo>
                  <a:pt x="8375249" y="0"/>
                </a:lnTo>
                <a:cubicBezTo>
                  <a:pt x="8521467" y="0"/>
                  <a:pt x="8640000" y="118533"/>
                  <a:pt x="8640000" y="264751"/>
                </a:cubicBezTo>
                <a:lnTo>
                  <a:pt x="8640000" y="2160000"/>
                </a:lnTo>
                <a:cubicBezTo>
                  <a:pt x="8640000" y="2319058"/>
                  <a:pt x="8503979" y="2448000"/>
                  <a:pt x="8336189" y="2448000"/>
                </a:cubicBezTo>
                <a:lnTo>
                  <a:pt x="4623811" y="2448000"/>
                </a:lnTo>
                <a:cubicBezTo>
                  <a:pt x="4456021" y="2448000"/>
                  <a:pt x="4320000" y="2576942"/>
                  <a:pt x="4320000" y="2736000"/>
                </a:cubicBezTo>
                <a:cubicBezTo>
                  <a:pt x="4320000" y="2576942"/>
                  <a:pt x="4183979" y="2448000"/>
                  <a:pt x="4016189" y="2448000"/>
                </a:cubicBezTo>
                <a:lnTo>
                  <a:pt x="303812" y="2448000"/>
                </a:lnTo>
                <a:cubicBezTo>
                  <a:pt x="136021" y="2448000"/>
                  <a:pt x="0" y="2319058"/>
                  <a:pt x="0" y="2160000"/>
                </a:cubicBezTo>
                <a:lnTo>
                  <a:pt x="0" y="2160000"/>
                </a:lnTo>
                <a:lnTo>
                  <a:pt x="0" y="264751"/>
                </a:lnTo>
                <a:cubicBezTo>
                  <a:pt x="0" y="118533"/>
                  <a:pt x="118533" y="0"/>
                  <a:pt x="264751" y="0"/>
                </a:cubicBezTo>
                <a:close/>
              </a:path>
            </a:pathLst>
          </a:custGeom>
          <a:solidFill>
            <a:schemeClr val="bg1"/>
          </a:solidFill>
          <a:ln w="38100" cap="sq">
            <a:solidFill>
              <a:schemeClr val="accent1"/>
            </a:solidFill>
            <a:miter/>
          </a:ln>
          <a:effectLst>
            <a:outerShdw blurRad="317500" dist="190500" dir="3000000" algn="tl" rotWithShape="0">
              <a:schemeClr val="accent1">
                <a:alpha val="15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309650" y="2552450"/>
            <a:ext cx="7560000" cy="17362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GB" altLang="zh-CN" sz="2800" dirty="0"/>
              <a:t>Will you convert Q1.2.13 to Q1.3.12??</a:t>
            </a:r>
            <a:br>
              <a:rPr kumimoji="1" lang="en-GB" altLang="zh-CN" sz="2800" dirty="0"/>
            </a:br>
            <a:r>
              <a:rPr kumimoji="1" lang="en-GB" altLang="zh-CN" sz="2800" dirty="0"/>
              <a:t>Or</a:t>
            </a:r>
            <a:br>
              <a:rPr kumimoji="1" lang="en-GB" altLang="zh-CN" sz="2800" dirty="0"/>
            </a:br>
            <a:r>
              <a:rPr kumimoji="1" lang="en-GB" altLang="zh-CN" sz="2800" dirty="0"/>
              <a:t>Will you convert Q1.3.12 to Q1.2.13??</a:t>
            </a:r>
            <a:endParaRPr kumimoji="1" lang="zh-CN" altLang="en-US" sz="2800" dirty="0"/>
          </a:p>
        </p:txBody>
      </p:sp>
      <p:sp>
        <p:nvSpPr>
          <p:cNvPr id="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add Q1.18.13 and Q1.18.13??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0" y="1510739"/>
            <a:ext cx="12192000" cy="3827632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>
            <a:off x="5651212" y="4886551"/>
            <a:ext cx="889576" cy="0"/>
          </a:xfrm>
          <a:prstGeom prst="line">
            <a:avLst/>
          </a:prstGeom>
          <a:noFill/>
          <a:ln w="12700" cap="rnd">
            <a:solidFill>
              <a:schemeClr val="bg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2822762" y="1923869"/>
            <a:ext cx="6546476" cy="2714207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Q1.m.n × Q1.m.n = Q2.2m.2n → need to re- scale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Multiplication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689650" y="3934120"/>
            <a:ext cx="10800000" cy="2160000"/>
          </a:xfrm>
          <a:prstGeom prst="round1Rect">
            <a:avLst>
              <a:gd name="adj" fmla="val 30000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alphaModFix/>
          </a:blip>
          <a:srcRect l="464" t="40355" r="464" b="20173"/>
          <a:stretch>
            <a:fillRect/>
          </a:stretch>
        </p:blipFill>
        <p:spPr>
          <a:xfrm>
            <a:off x="689650" y="1414120"/>
            <a:ext cx="10800000" cy="2520000"/>
          </a:xfrm>
          <a:custGeom>
            <a:avLst/>
            <a:gdLst/>
            <a:ahLst/>
            <a:cxnLst/>
            <a:rect l="l" t="t" r="r" b="b"/>
            <a:pathLst>
              <a:path w="10800000" h="2520000">
                <a:moveTo>
                  <a:pt x="0" y="0"/>
                </a:moveTo>
                <a:lnTo>
                  <a:pt x="10044000" y="0"/>
                </a:lnTo>
                <a:cubicBezTo>
                  <a:pt x="10461527" y="0"/>
                  <a:pt x="10800000" y="338473"/>
                  <a:pt x="10800000" y="756000"/>
                </a:cubicBezTo>
                <a:lnTo>
                  <a:pt x="10800000" y="2520000"/>
                </a:lnTo>
                <a:lnTo>
                  <a:pt x="0" y="25200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5" name="标题 1"/>
          <p:cNvSpPr txBox="1"/>
          <p:nvPr/>
        </p:nvSpPr>
        <p:spPr>
          <a:xfrm>
            <a:off x="1049650" y="4499778"/>
            <a:ext cx="10080000" cy="115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Expensive, often replaced with reciprocal + multiply</a:t>
            </a:r>
            <a:endParaRPr kumimoji="1" lang="zh-CN" altLang="en-US"/>
          </a:p>
        </p:txBody>
      </p:sp>
      <p:cxnSp>
        <p:nvCxnSpPr>
          <p:cNvPr id="6" name="标题 1"/>
          <p:cNvCxnSpPr/>
          <p:nvPr/>
        </p:nvCxnSpPr>
        <p:spPr>
          <a:xfrm>
            <a:off x="1130835" y="4265816"/>
            <a:ext cx="720000" cy="0"/>
          </a:xfrm>
          <a:prstGeom prst="line">
            <a:avLst/>
          </a:prstGeom>
          <a:noFill/>
          <a:ln w="88900" cap="rnd">
            <a:solidFill>
              <a:schemeClr val="accent1"/>
            </a:solidFill>
            <a:miter/>
          </a:ln>
        </p:spPr>
      </p:cxn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Division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11200" y="3918857"/>
            <a:ext cx="2583543" cy="957943"/>
          </a:xfrm>
          <a:prstGeom prst="rect">
            <a:avLst/>
          </a:prstGeom>
          <a:solidFill>
            <a:schemeClr val="accent1">
              <a:lumMod val="75000"/>
              <a:alpha val="5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99571" y="1357174"/>
            <a:ext cx="6020758" cy="207182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l"/>
            <a:r>
              <a:rPr kumimoji="1" lang="en-US" altLang="zh-CN" sz="29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Understanding Precision and Range in Fixed-Point Representation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840921" y="4078560"/>
            <a:ext cx="2324100" cy="638537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913146" y="3350724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Integer Bits and Range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473707" y="3354776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473707" y="2244372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3916200" y="2240320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Fractional Bits and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16200000">
            <a:off x="669725" y="440543"/>
            <a:ext cx="2520000" cy="2520000"/>
          </a:xfrm>
          <a:prstGeom prst="teardrop">
            <a:avLst/>
          </a:prstGeom>
          <a:solidFill>
            <a:schemeClr val="accent1"/>
          </a:solidFill>
          <a:ln w="4629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58682" y="1312602"/>
            <a:ext cx="2331043" cy="553998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3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 flipH="1">
            <a:off x="845207" y="1937909"/>
            <a:ext cx="2727886" cy="0"/>
          </a:xfrm>
          <a:prstGeom prst="line">
            <a:avLst/>
          </a:prstGeom>
          <a:noFill/>
          <a:ln w="12700" cap="sq">
            <a:solidFill>
              <a:schemeClr val="bg1"/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3913146" y="4461128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Balancing Precision and Range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473707" y="4465180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Fractional Bits and Precision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15089" y="2057567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526183" y="2168661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87073" y="2340111"/>
            <a:ext cx="457678" cy="442912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accent1"/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415089" y="3945344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6183" y="4056438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730058" y="4244579"/>
            <a:ext cx="378063" cy="409533"/>
          </a:xfrm>
          <a:custGeom>
            <a:avLst/>
            <a:gdLst>
              <a:gd name="connsiteX0" fmla="*/ 712625 w 1425436"/>
              <a:gd name="connsiteY0" fmla="*/ 111621 h 1544091"/>
              <a:gd name="connsiteX1" fmla="*/ 902567 w 1425436"/>
              <a:gd name="connsiteY1" fmla="*/ 190314 h 1544091"/>
              <a:gd name="connsiteX2" fmla="*/ 981260 w 1425436"/>
              <a:gd name="connsiteY2" fmla="*/ 380256 h 1544091"/>
              <a:gd name="connsiteX3" fmla="*/ 902567 w 1425436"/>
              <a:gd name="connsiteY3" fmla="*/ 570198 h 1544091"/>
              <a:gd name="connsiteX4" fmla="*/ 712625 w 1425436"/>
              <a:gd name="connsiteY4" fmla="*/ 648891 h 1544091"/>
              <a:gd name="connsiteX5" fmla="*/ 522684 w 1425436"/>
              <a:gd name="connsiteY5" fmla="*/ 570198 h 1544091"/>
              <a:gd name="connsiteX6" fmla="*/ 444177 w 1425436"/>
              <a:gd name="connsiteY6" fmla="*/ 380070 h 1544091"/>
              <a:gd name="connsiteX7" fmla="*/ 522870 w 1425436"/>
              <a:gd name="connsiteY7" fmla="*/ 190128 h 1544091"/>
              <a:gd name="connsiteX8" fmla="*/ 712625 w 1425436"/>
              <a:gd name="connsiteY8" fmla="*/ 111621 h 1544091"/>
              <a:gd name="connsiteX9" fmla="*/ 712625 w 1425436"/>
              <a:gd name="connsiteY9" fmla="*/ 0 h 1544091"/>
              <a:gd name="connsiteX10" fmla="*/ 332556 w 1425436"/>
              <a:gd name="connsiteY10" fmla="*/ 380070 h 1544091"/>
              <a:gd name="connsiteX11" fmla="*/ 712625 w 1425436"/>
              <a:gd name="connsiteY11" fmla="*/ 760140 h 1544091"/>
              <a:gd name="connsiteX12" fmla="*/ 1092695 w 1425436"/>
              <a:gd name="connsiteY12" fmla="*/ 380070 h 1544091"/>
              <a:gd name="connsiteX13" fmla="*/ 712625 w 1425436"/>
              <a:gd name="connsiteY13" fmla="*/ 0 h 1544091"/>
              <a:gd name="connsiteX14" fmla="*/ 712625 w 1425436"/>
              <a:gd name="connsiteY14" fmla="*/ 943012 h 1544091"/>
              <a:gd name="connsiteX15" fmla="*/ 978842 w 1425436"/>
              <a:gd name="connsiteY15" fmla="*/ 976685 h 1544091"/>
              <a:gd name="connsiteX16" fmla="*/ 1146087 w 1425436"/>
              <a:gd name="connsiteY16" fmla="*/ 1059470 h 1544091"/>
              <a:gd name="connsiteX17" fmla="*/ 1248593 w 1425436"/>
              <a:gd name="connsiteY17" fmla="*/ 1174440 h 1544091"/>
              <a:gd name="connsiteX18" fmla="*/ 1310356 w 1425436"/>
              <a:gd name="connsiteY18" fmla="*/ 1316385 h 1544091"/>
              <a:gd name="connsiteX19" fmla="*/ 1296590 w 1425436"/>
              <a:gd name="connsiteY19" fmla="*/ 1390241 h 1544091"/>
              <a:gd name="connsiteX20" fmla="*/ 1208595 w 1425436"/>
              <a:gd name="connsiteY20" fmla="*/ 1432285 h 1544091"/>
              <a:gd name="connsiteX21" fmla="*/ 216842 w 1425436"/>
              <a:gd name="connsiteY21" fmla="*/ 1432285 h 1544091"/>
              <a:gd name="connsiteX22" fmla="*/ 128847 w 1425436"/>
              <a:gd name="connsiteY22" fmla="*/ 1390241 h 1544091"/>
              <a:gd name="connsiteX23" fmla="*/ 115081 w 1425436"/>
              <a:gd name="connsiteY23" fmla="*/ 1316385 h 1544091"/>
              <a:gd name="connsiteX24" fmla="*/ 176844 w 1425436"/>
              <a:gd name="connsiteY24" fmla="*/ 1174440 h 1544091"/>
              <a:gd name="connsiteX25" fmla="*/ 279350 w 1425436"/>
              <a:gd name="connsiteY25" fmla="*/ 1059470 h 1544091"/>
              <a:gd name="connsiteX26" fmla="*/ 446595 w 1425436"/>
              <a:gd name="connsiteY26" fmla="*/ 976685 h 1544091"/>
              <a:gd name="connsiteX27" fmla="*/ 712625 w 1425436"/>
              <a:gd name="connsiteY27" fmla="*/ 943012 h 1544091"/>
              <a:gd name="connsiteX28" fmla="*/ 712625 w 1425436"/>
              <a:gd name="connsiteY28" fmla="*/ 831391 h 1544091"/>
              <a:gd name="connsiteX29" fmla="*/ 8296 w 1425436"/>
              <a:gd name="connsiteY29" fmla="*/ 1284387 h 1544091"/>
              <a:gd name="connsiteX30" fmla="*/ 216842 w 1425436"/>
              <a:gd name="connsiteY30" fmla="*/ 1544092 h 1544091"/>
              <a:gd name="connsiteX31" fmla="*/ 1208595 w 1425436"/>
              <a:gd name="connsiteY31" fmla="*/ 1544092 h 1544091"/>
              <a:gd name="connsiteX32" fmla="*/ 1417141 w 1425436"/>
              <a:gd name="connsiteY32" fmla="*/ 1284387 h 1544091"/>
              <a:gd name="connsiteX33" fmla="*/ 712625 w 1425436"/>
              <a:gd name="connsiteY33" fmla="*/ 831391 h 1544091"/>
            </a:gdLst>
            <a:ahLst/>
            <a:cxnLst/>
            <a:rect l="l" t="t" r="r" b="b"/>
            <a:pathLst>
              <a:path w="1425436" h="1544091">
                <a:moveTo>
                  <a:pt x="712625" y="111621"/>
                </a:moveTo>
                <a:cubicBezTo>
                  <a:pt x="784435" y="111621"/>
                  <a:pt x="851780" y="139526"/>
                  <a:pt x="902567" y="190314"/>
                </a:cubicBezTo>
                <a:cubicBezTo>
                  <a:pt x="953355" y="241102"/>
                  <a:pt x="981260" y="308446"/>
                  <a:pt x="981260" y="380256"/>
                </a:cubicBezTo>
                <a:cubicBezTo>
                  <a:pt x="981260" y="452065"/>
                  <a:pt x="953355" y="519410"/>
                  <a:pt x="902567" y="570198"/>
                </a:cubicBezTo>
                <a:cubicBezTo>
                  <a:pt x="851780" y="620985"/>
                  <a:pt x="784435" y="648891"/>
                  <a:pt x="712625" y="648891"/>
                </a:cubicBezTo>
                <a:cubicBezTo>
                  <a:pt x="640816" y="648891"/>
                  <a:pt x="573471" y="620985"/>
                  <a:pt x="522684" y="570198"/>
                </a:cubicBezTo>
                <a:cubicBezTo>
                  <a:pt x="472082" y="519224"/>
                  <a:pt x="444177" y="451693"/>
                  <a:pt x="444177" y="380070"/>
                </a:cubicBezTo>
                <a:cubicBezTo>
                  <a:pt x="444177" y="308446"/>
                  <a:pt x="472082" y="240916"/>
                  <a:pt x="522870" y="190128"/>
                </a:cubicBezTo>
                <a:cubicBezTo>
                  <a:pt x="573471" y="139526"/>
                  <a:pt x="641002" y="111621"/>
                  <a:pt x="712625" y="111621"/>
                </a:cubicBezTo>
                <a:moveTo>
                  <a:pt x="712625" y="0"/>
                </a:moveTo>
                <a:cubicBezTo>
                  <a:pt x="502778" y="0"/>
                  <a:pt x="332556" y="170036"/>
                  <a:pt x="332556" y="380070"/>
                </a:cubicBezTo>
                <a:cubicBezTo>
                  <a:pt x="332556" y="589917"/>
                  <a:pt x="502778" y="760140"/>
                  <a:pt x="712625" y="760140"/>
                </a:cubicBezTo>
                <a:cubicBezTo>
                  <a:pt x="922473" y="760140"/>
                  <a:pt x="1092695" y="589917"/>
                  <a:pt x="1092695" y="380070"/>
                </a:cubicBezTo>
                <a:cubicBezTo>
                  <a:pt x="1092881" y="170036"/>
                  <a:pt x="922659" y="0"/>
                  <a:pt x="712625" y="0"/>
                </a:cubicBezTo>
                <a:close/>
                <a:moveTo>
                  <a:pt x="712625" y="943012"/>
                </a:moveTo>
                <a:cubicBezTo>
                  <a:pt x="813643" y="943012"/>
                  <a:pt x="903126" y="954360"/>
                  <a:pt x="978842" y="976685"/>
                </a:cubicBezTo>
                <a:cubicBezTo>
                  <a:pt x="1043582" y="995846"/>
                  <a:pt x="1099951" y="1023752"/>
                  <a:pt x="1146087" y="1059470"/>
                </a:cubicBezTo>
                <a:cubicBezTo>
                  <a:pt x="1186829" y="1091096"/>
                  <a:pt x="1220315" y="1128675"/>
                  <a:pt x="1248593" y="1174440"/>
                </a:cubicBezTo>
                <a:cubicBezTo>
                  <a:pt x="1273708" y="1215368"/>
                  <a:pt x="1293985" y="1261877"/>
                  <a:pt x="1310356" y="1316385"/>
                </a:cubicBezTo>
                <a:cubicBezTo>
                  <a:pt x="1320774" y="1350801"/>
                  <a:pt x="1306264" y="1377404"/>
                  <a:pt x="1296590" y="1390241"/>
                </a:cubicBezTo>
                <a:cubicBezTo>
                  <a:pt x="1276684" y="1417030"/>
                  <a:pt x="1244686" y="1432285"/>
                  <a:pt x="1208595" y="1432285"/>
                </a:cubicBezTo>
                <a:lnTo>
                  <a:pt x="216842" y="1432285"/>
                </a:lnTo>
                <a:cubicBezTo>
                  <a:pt x="180937" y="1432285"/>
                  <a:pt x="148753" y="1417030"/>
                  <a:pt x="128847" y="1390241"/>
                </a:cubicBezTo>
                <a:cubicBezTo>
                  <a:pt x="119359" y="1377404"/>
                  <a:pt x="104849" y="1350801"/>
                  <a:pt x="115081" y="1316385"/>
                </a:cubicBezTo>
                <a:cubicBezTo>
                  <a:pt x="131452" y="1261877"/>
                  <a:pt x="151543" y="1215368"/>
                  <a:pt x="176844" y="1174440"/>
                </a:cubicBezTo>
                <a:cubicBezTo>
                  <a:pt x="204936" y="1128675"/>
                  <a:pt x="238422" y="1090910"/>
                  <a:pt x="279350" y="1059470"/>
                </a:cubicBezTo>
                <a:cubicBezTo>
                  <a:pt x="325486" y="1023752"/>
                  <a:pt x="381855" y="995846"/>
                  <a:pt x="446595" y="976685"/>
                </a:cubicBezTo>
                <a:cubicBezTo>
                  <a:pt x="522125" y="954360"/>
                  <a:pt x="611794" y="943012"/>
                  <a:pt x="712625" y="943012"/>
                </a:cubicBezTo>
                <a:moveTo>
                  <a:pt x="712625" y="831391"/>
                </a:moveTo>
                <a:cubicBezTo>
                  <a:pt x="244561" y="831391"/>
                  <a:pt x="77501" y="1053331"/>
                  <a:pt x="8296" y="1284387"/>
                </a:cubicBezTo>
                <a:cubicBezTo>
                  <a:pt x="-30771" y="1414611"/>
                  <a:pt x="73037" y="1544092"/>
                  <a:pt x="216842" y="1544092"/>
                </a:cubicBezTo>
                <a:lnTo>
                  <a:pt x="1208595" y="1544092"/>
                </a:lnTo>
                <a:cubicBezTo>
                  <a:pt x="1352400" y="1544092"/>
                  <a:pt x="1456208" y="1414611"/>
                  <a:pt x="1417141" y="1284387"/>
                </a:cubicBezTo>
                <a:cubicBezTo>
                  <a:pt x="1347750" y="1053331"/>
                  <a:pt x="1180690" y="831391"/>
                  <a:pt x="712625" y="831391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583978" y="2489665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fractional bits enhances the accuracy of numerical representation, allowing for more precise calculations, which is crucial in fields requiring detailed data.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583978" y="1878957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Higher Precision Explained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583978" y="4377443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The Q1.2.13 format provides limited precision compared to Q1.2.29, illustrating how the additional fractional bits in Q1.2.29 capture finer details in numerical values, affecting data integrity.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7583978" y="3766734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Q1.2.13 vs. Q1.2.29</a:t>
            </a:r>
            <a:endParaRPr kumimoji="1" lang="zh-CN" altLang="en-US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alphaModFix/>
          </a:blip>
          <a:srcRect l="4235" r="32442" b="2461"/>
          <a:stretch>
            <a:fillRect/>
          </a:stretch>
        </p:blipFill>
        <p:spPr>
          <a:xfrm>
            <a:off x="584200" y="1625271"/>
            <a:ext cx="5446538" cy="4521859"/>
          </a:xfrm>
          <a:custGeom>
            <a:avLst/>
            <a:gdLst/>
            <a:ahLst/>
            <a:cxnLst/>
            <a:rect l="l" t="t" r="r" b="b"/>
            <a:pathLst>
              <a:path w="5446538" h="4521859">
                <a:moveTo>
                  <a:pt x="104487" y="0"/>
                </a:moveTo>
                <a:lnTo>
                  <a:pt x="5342051" y="0"/>
                </a:lnTo>
                <a:lnTo>
                  <a:pt x="5389280" y="32638"/>
                </a:lnTo>
                <a:cubicBezTo>
                  <a:pt x="5424657" y="68900"/>
                  <a:pt x="5446538" y="118996"/>
                  <a:pt x="5446538" y="174330"/>
                </a:cubicBezTo>
                <a:lnTo>
                  <a:pt x="5446538" y="4321478"/>
                </a:lnTo>
                <a:cubicBezTo>
                  <a:pt x="5446538" y="4432145"/>
                  <a:pt x="5359013" y="4521859"/>
                  <a:pt x="5251046" y="4521859"/>
                </a:cubicBezTo>
                <a:lnTo>
                  <a:pt x="195492" y="4521859"/>
                </a:lnTo>
                <a:cubicBezTo>
                  <a:pt x="87525" y="4521859"/>
                  <a:pt x="0" y="4432145"/>
                  <a:pt x="0" y="4321478"/>
                </a:cubicBezTo>
                <a:lnTo>
                  <a:pt x="0" y="174330"/>
                </a:lnTo>
                <a:cubicBezTo>
                  <a:pt x="0" y="118996"/>
                  <a:pt x="21881" y="68900"/>
                  <a:pt x="57258" y="32638"/>
                </a:cubicBezTo>
                <a:lnTo>
                  <a:pt x="104487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4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Impact of More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31194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82900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942900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7943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4819649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179649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991943" y="2359072"/>
            <a:ext cx="4189657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Range Limitations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91943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As more fractional bits are added, the range of representable values can decrease, leading to potential underflow or overflow issues that limit practical data use in various applications.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755194" y="2359072"/>
            <a:ext cx="4192206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Real-world Applications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755194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engineering and computer graphics, the balance between precision and range is essential, influencing how data is processed and displayed in tools such as CAD software and gaming engines.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Trade-offs in Precision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Integer Bits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1068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1068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flipH="1" flipV="1">
            <a:off x="4999747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68326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integer bits allows for a greater range of values, enabling computers to accurately represent larger numbers without overflow, which is crucial for complex calculations.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68326" y="2589782"/>
            <a:ext cx="4594274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Larger Range Benefits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384229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84229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 flipH="1" flipV="1">
            <a:off x="10722908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691487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data representation, more integer bits can store larger integers, enhancing performance in applications like gaming and data analysis where numerical limits are often a concern.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91487" y="2589782"/>
            <a:ext cx="4598813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Examples in Data Representation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Importance of More Integer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33451" r="21147"/>
          <a:stretch>
            <a:fillRect/>
          </a:stretch>
        </p:blipFill>
        <p:spPr>
          <a:xfrm>
            <a:off x="6410798" y="0"/>
            <a:ext cx="4954937" cy="6858000"/>
          </a:xfrm>
          <a:custGeom>
            <a:avLst/>
            <a:gdLst/>
            <a:ahLst/>
            <a:cxnLst/>
            <a:rect l="l" t="t" r="r" b="b"/>
            <a:pathLst>
              <a:path w="4954937" h="6858000">
                <a:moveTo>
                  <a:pt x="916808" y="0"/>
                </a:moveTo>
                <a:lnTo>
                  <a:pt x="4954937" y="0"/>
                </a:lnTo>
                <a:lnTo>
                  <a:pt x="4694472" y="125630"/>
                </a:lnTo>
                <a:cubicBezTo>
                  <a:pt x="3532956" y="756725"/>
                  <a:pt x="2741286" y="1982578"/>
                  <a:pt x="2728765" y="3395709"/>
                </a:cubicBezTo>
                <a:cubicBezTo>
                  <a:pt x="2715958" y="4840957"/>
                  <a:pt x="3521461" y="6104790"/>
                  <a:pt x="4715218" y="6743618"/>
                </a:cubicBezTo>
                <a:lnTo>
                  <a:pt x="4948967" y="6858000"/>
                </a:lnTo>
                <a:lnTo>
                  <a:pt x="916144" y="6858000"/>
                </a:lnTo>
                <a:lnTo>
                  <a:pt x="787532" y="6627233"/>
                </a:lnTo>
                <a:cubicBezTo>
                  <a:pt x="275312" y="5653959"/>
                  <a:pt x="-10142" y="4543809"/>
                  <a:pt x="276" y="3368065"/>
                </a:cubicBezTo>
                <a:cubicBezTo>
                  <a:pt x="10694" y="2192322"/>
                  <a:pt x="315776" y="1087404"/>
                  <a:pt x="845162" y="12336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6100116" y="2045138"/>
            <a:ext cx="667634" cy="667634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268839" y="2219188"/>
            <a:ext cx="330188" cy="319534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7101" y="1962433"/>
            <a:ext cx="5058164" cy="33570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Decreased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100" y="2383240"/>
            <a:ext cx="5058165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While more bits increase the range, they can reduce precision in some contexts, affecting applications that rely on exact numeric representation, such as financial calculations.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08320" y="4353172"/>
            <a:ext cx="251226" cy="286908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27100" y="4082898"/>
            <a:ext cx="5054600" cy="302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927100" y="4500911"/>
            <a:ext cx="5041900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Consequences of Increasing Integer Bits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5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Balancing Precision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122126" y="1923633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17400" y="2160760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788745" y="1652203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122126" y="3807511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184622" y="4044638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675480" y="3536081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4777647" y="3556000"/>
            <a:ext cx="5807803" cy="0"/>
          </a:xfrm>
          <a:prstGeom prst="line">
            <a:avLst/>
          </a:prstGeom>
          <a:noFill/>
          <a:ln w="6350" cap="sq">
            <a:solidFill>
              <a:schemeClr val="tx1">
                <a:alpha val="20000"/>
              </a:schemeClr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2348142" y="5760323"/>
            <a:ext cx="1315808" cy="1134318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848883" y="6172200"/>
            <a:ext cx="314325" cy="342900"/>
          </a:xfrm>
          <a:prstGeom prst="downArrow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t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768122" y="1915299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Algorithmic Dependencies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768121" y="2403641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Algorithmic dependencies refer to how various algorithms interact with data. Understanding these relationships helps in achieving optimal performance in precision and range while avoiding errors.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768122" y="3964277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Considerations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768121" y="4439919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considerations involve real- world factors such as computational resources, data variability, and context of use, influencing how to balance precision and range effectively in algorithm design.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561457" y="43096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561457" y="23538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Understanding the Balance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07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Example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92890" y="1478888"/>
            <a:ext cx="11099110" cy="1880921"/>
          </a:xfrm>
          <a:custGeom>
            <a:avLst/>
            <a:gdLst>
              <a:gd name="connsiteX0" fmla="*/ 777240 w 11099110"/>
              <a:gd name="connsiteY0" fmla="*/ 0 h 1554480"/>
              <a:gd name="connsiteX1" fmla="*/ 11099110 w 11099110"/>
              <a:gd name="connsiteY1" fmla="*/ 0 h 1554480"/>
              <a:gd name="connsiteX2" fmla="*/ 11099110 w 11099110"/>
              <a:gd name="connsiteY2" fmla="*/ 1554480 h 1554480"/>
              <a:gd name="connsiteX3" fmla="*/ 777240 w 11099110"/>
              <a:gd name="connsiteY3" fmla="*/ 1554480 h 1554480"/>
              <a:gd name="connsiteX4" fmla="*/ 0 w 11099110"/>
              <a:gd name="connsiteY4" fmla="*/ 777240 h 1554480"/>
              <a:gd name="connsiteX5" fmla="*/ 777240 w 11099110"/>
              <a:gd name="connsiteY5" fmla="*/ 0 h 1554480"/>
            </a:gdLst>
            <a:ahLst/>
            <a:cxnLst/>
            <a:rect l="l" t="t" r="r" b="b"/>
            <a:pathLst>
              <a:path w="11099110" h="1554480">
                <a:moveTo>
                  <a:pt x="777240" y="0"/>
                </a:moveTo>
                <a:lnTo>
                  <a:pt x="11099110" y="0"/>
                </a:lnTo>
                <a:lnTo>
                  <a:pt x="11099110" y="1554480"/>
                </a:lnTo>
                <a:lnTo>
                  <a:pt x="777240" y="1554480"/>
                </a:lnTo>
                <a:cubicBezTo>
                  <a:pt x="347982" y="1554480"/>
                  <a:pt x="0" y="1206498"/>
                  <a:pt x="0" y="777240"/>
                </a:cubicBezTo>
                <a:cubicBezTo>
                  <a:pt x="0" y="347982"/>
                  <a:pt x="347982" y="0"/>
                  <a:pt x="777240" y="0"/>
                </a:cubicBez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 flipH="1">
            <a:off x="10250960" y="4157013"/>
            <a:ext cx="976290" cy="114037"/>
          </a:xfrm>
          <a:custGeom>
            <a:avLst/>
            <a:gdLst>
              <a:gd name="connsiteX0" fmla="*/ 862309 w 976290"/>
              <a:gd name="connsiteY0" fmla="*/ 114037 h 114037"/>
              <a:gd name="connsiteX1" fmla="*/ 919300 w 976290"/>
              <a:gd name="connsiteY1" fmla="*/ 114037 h 114037"/>
              <a:gd name="connsiteX2" fmla="*/ 976290 w 976290"/>
              <a:gd name="connsiteY2" fmla="*/ 57019 h 114037"/>
              <a:gd name="connsiteX3" fmla="*/ 919300 w 976290"/>
              <a:gd name="connsiteY3" fmla="*/ 0 h 114037"/>
              <a:gd name="connsiteX4" fmla="*/ 862309 w 976290"/>
              <a:gd name="connsiteY4" fmla="*/ 0 h 114037"/>
              <a:gd name="connsiteX5" fmla="*/ 919300 w 976290"/>
              <a:gd name="connsiteY5" fmla="*/ 57019 h 114037"/>
              <a:gd name="connsiteX6" fmla="*/ 738104 w 976290"/>
              <a:gd name="connsiteY6" fmla="*/ 114037 h 114037"/>
              <a:gd name="connsiteX7" fmla="*/ 795095 w 976290"/>
              <a:gd name="connsiteY7" fmla="*/ 114037 h 114037"/>
              <a:gd name="connsiteX8" fmla="*/ 852085 w 976290"/>
              <a:gd name="connsiteY8" fmla="*/ 57019 h 114037"/>
              <a:gd name="connsiteX9" fmla="*/ 795095 w 976290"/>
              <a:gd name="connsiteY9" fmla="*/ 0 h 114037"/>
              <a:gd name="connsiteX10" fmla="*/ 738104 w 976290"/>
              <a:gd name="connsiteY10" fmla="*/ 0 h 114037"/>
              <a:gd name="connsiteX11" fmla="*/ 795095 w 976290"/>
              <a:gd name="connsiteY11" fmla="*/ 57019 h 114037"/>
              <a:gd name="connsiteX12" fmla="*/ 616275 w 976290"/>
              <a:gd name="connsiteY12" fmla="*/ 114037 h 114037"/>
              <a:gd name="connsiteX13" fmla="*/ 673266 w 976290"/>
              <a:gd name="connsiteY13" fmla="*/ 114037 h 114037"/>
              <a:gd name="connsiteX14" fmla="*/ 730256 w 976290"/>
              <a:gd name="connsiteY14" fmla="*/ 57019 h 114037"/>
              <a:gd name="connsiteX15" fmla="*/ 673266 w 976290"/>
              <a:gd name="connsiteY15" fmla="*/ 0 h 114037"/>
              <a:gd name="connsiteX16" fmla="*/ 616275 w 976290"/>
              <a:gd name="connsiteY16" fmla="*/ 0 h 114037"/>
              <a:gd name="connsiteX17" fmla="*/ 673266 w 976290"/>
              <a:gd name="connsiteY17" fmla="*/ 57019 h 114037"/>
              <a:gd name="connsiteX18" fmla="*/ 492070 w 976290"/>
              <a:gd name="connsiteY18" fmla="*/ 114037 h 114037"/>
              <a:gd name="connsiteX19" fmla="*/ 549061 w 976290"/>
              <a:gd name="connsiteY19" fmla="*/ 114037 h 114037"/>
              <a:gd name="connsiteX20" fmla="*/ 606051 w 976290"/>
              <a:gd name="connsiteY20" fmla="*/ 57019 h 114037"/>
              <a:gd name="connsiteX21" fmla="*/ 549061 w 976290"/>
              <a:gd name="connsiteY21" fmla="*/ 0 h 114037"/>
              <a:gd name="connsiteX22" fmla="*/ 492070 w 976290"/>
              <a:gd name="connsiteY22" fmla="*/ 0 h 114037"/>
              <a:gd name="connsiteX23" fmla="*/ 549061 w 976290"/>
              <a:gd name="connsiteY23" fmla="*/ 57019 h 114037"/>
              <a:gd name="connsiteX24" fmla="*/ 370240 w 976290"/>
              <a:gd name="connsiteY24" fmla="*/ 114037 h 114037"/>
              <a:gd name="connsiteX25" fmla="*/ 427231 w 976290"/>
              <a:gd name="connsiteY25" fmla="*/ 114037 h 114037"/>
              <a:gd name="connsiteX26" fmla="*/ 484221 w 976290"/>
              <a:gd name="connsiteY26" fmla="*/ 57019 h 114037"/>
              <a:gd name="connsiteX27" fmla="*/ 427231 w 976290"/>
              <a:gd name="connsiteY27" fmla="*/ 0 h 114037"/>
              <a:gd name="connsiteX28" fmla="*/ 370240 w 976290"/>
              <a:gd name="connsiteY28" fmla="*/ 0 h 114037"/>
              <a:gd name="connsiteX29" fmla="*/ 427231 w 976290"/>
              <a:gd name="connsiteY29" fmla="*/ 57019 h 114037"/>
              <a:gd name="connsiteX30" fmla="*/ 246035 w 976290"/>
              <a:gd name="connsiteY30" fmla="*/ 114037 h 114037"/>
              <a:gd name="connsiteX31" fmla="*/ 303026 w 976290"/>
              <a:gd name="connsiteY31" fmla="*/ 114037 h 114037"/>
              <a:gd name="connsiteX32" fmla="*/ 360016 w 976290"/>
              <a:gd name="connsiteY32" fmla="*/ 57019 h 114037"/>
              <a:gd name="connsiteX33" fmla="*/ 303026 w 976290"/>
              <a:gd name="connsiteY33" fmla="*/ 0 h 114037"/>
              <a:gd name="connsiteX34" fmla="*/ 246035 w 976290"/>
              <a:gd name="connsiteY34" fmla="*/ 0 h 114037"/>
              <a:gd name="connsiteX35" fmla="*/ 303026 w 976290"/>
              <a:gd name="connsiteY35" fmla="*/ 57019 h 114037"/>
              <a:gd name="connsiteX36" fmla="*/ 124205 w 976290"/>
              <a:gd name="connsiteY36" fmla="*/ 114037 h 114037"/>
              <a:gd name="connsiteX37" fmla="*/ 181196 w 976290"/>
              <a:gd name="connsiteY37" fmla="*/ 114037 h 114037"/>
              <a:gd name="connsiteX38" fmla="*/ 238186 w 976290"/>
              <a:gd name="connsiteY38" fmla="*/ 57019 h 114037"/>
              <a:gd name="connsiteX39" fmla="*/ 181196 w 976290"/>
              <a:gd name="connsiteY39" fmla="*/ 0 h 114037"/>
              <a:gd name="connsiteX40" fmla="*/ 124205 w 976290"/>
              <a:gd name="connsiteY40" fmla="*/ 0 h 114037"/>
              <a:gd name="connsiteX41" fmla="*/ 181196 w 976290"/>
              <a:gd name="connsiteY41" fmla="*/ 57019 h 114037"/>
              <a:gd name="connsiteX42" fmla="*/ 0 w 976290"/>
              <a:gd name="connsiteY42" fmla="*/ 114037 h 114037"/>
              <a:gd name="connsiteX43" fmla="*/ 56991 w 976290"/>
              <a:gd name="connsiteY43" fmla="*/ 114037 h 114037"/>
              <a:gd name="connsiteX44" fmla="*/ 113981 w 976290"/>
              <a:gd name="connsiteY44" fmla="*/ 57019 h 114037"/>
              <a:gd name="connsiteX45" fmla="*/ 56991 w 976290"/>
              <a:gd name="connsiteY45" fmla="*/ 0 h 114037"/>
              <a:gd name="connsiteX46" fmla="*/ 0 w 976290"/>
              <a:gd name="connsiteY46" fmla="*/ 0 h 114037"/>
              <a:gd name="connsiteX47" fmla="*/ 56991 w 976290"/>
              <a:gd name="connsiteY47" fmla="*/ 57019 h 114037"/>
            </a:gdLst>
            <a:ahLst/>
            <a:cxnLst/>
            <a:rect l="l" t="t" r="r" b="b"/>
            <a:pathLst>
              <a:path w="976290" h="114037">
                <a:moveTo>
                  <a:pt x="862309" y="114037"/>
                </a:moveTo>
                <a:lnTo>
                  <a:pt x="919300" y="114037"/>
                </a:lnTo>
                <a:lnTo>
                  <a:pt x="976290" y="57019"/>
                </a:lnTo>
                <a:lnTo>
                  <a:pt x="919300" y="0"/>
                </a:lnTo>
                <a:lnTo>
                  <a:pt x="862309" y="0"/>
                </a:lnTo>
                <a:lnTo>
                  <a:pt x="919300" y="57019"/>
                </a:lnTo>
                <a:close/>
                <a:moveTo>
                  <a:pt x="738104" y="114037"/>
                </a:moveTo>
                <a:lnTo>
                  <a:pt x="795095" y="114037"/>
                </a:lnTo>
                <a:lnTo>
                  <a:pt x="852085" y="57019"/>
                </a:lnTo>
                <a:lnTo>
                  <a:pt x="795095" y="0"/>
                </a:lnTo>
                <a:lnTo>
                  <a:pt x="738104" y="0"/>
                </a:lnTo>
                <a:lnTo>
                  <a:pt x="795095" y="57019"/>
                </a:lnTo>
                <a:close/>
                <a:moveTo>
                  <a:pt x="616275" y="114037"/>
                </a:moveTo>
                <a:lnTo>
                  <a:pt x="673266" y="114037"/>
                </a:lnTo>
                <a:lnTo>
                  <a:pt x="730256" y="57019"/>
                </a:lnTo>
                <a:lnTo>
                  <a:pt x="673266" y="0"/>
                </a:lnTo>
                <a:lnTo>
                  <a:pt x="616275" y="0"/>
                </a:lnTo>
                <a:lnTo>
                  <a:pt x="673266" y="57019"/>
                </a:lnTo>
                <a:close/>
                <a:moveTo>
                  <a:pt x="492070" y="114037"/>
                </a:moveTo>
                <a:lnTo>
                  <a:pt x="549061" y="114037"/>
                </a:lnTo>
                <a:lnTo>
                  <a:pt x="606051" y="57019"/>
                </a:lnTo>
                <a:lnTo>
                  <a:pt x="549061" y="0"/>
                </a:lnTo>
                <a:lnTo>
                  <a:pt x="492070" y="0"/>
                </a:lnTo>
                <a:lnTo>
                  <a:pt x="549061" y="57019"/>
                </a:lnTo>
                <a:close/>
                <a:moveTo>
                  <a:pt x="370240" y="114037"/>
                </a:moveTo>
                <a:lnTo>
                  <a:pt x="427231" y="114037"/>
                </a:lnTo>
                <a:lnTo>
                  <a:pt x="484221" y="57019"/>
                </a:lnTo>
                <a:lnTo>
                  <a:pt x="427231" y="0"/>
                </a:lnTo>
                <a:lnTo>
                  <a:pt x="370240" y="0"/>
                </a:lnTo>
                <a:lnTo>
                  <a:pt x="427231" y="57019"/>
                </a:lnTo>
                <a:close/>
                <a:moveTo>
                  <a:pt x="246035" y="114037"/>
                </a:moveTo>
                <a:lnTo>
                  <a:pt x="303026" y="114037"/>
                </a:lnTo>
                <a:lnTo>
                  <a:pt x="360016" y="57019"/>
                </a:lnTo>
                <a:lnTo>
                  <a:pt x="303026" y="0"/>
                </a:lnTo>
                <a:lnTo>
                  <a:pt x="246035" y="0"/>
                </a:lnTo>
                <a:lnTo>
                  <a:pt x="303026" y="57019"/>
                </a:lnTo>
                <a:close/>
                <a:moveTo>
                  <a:pt x="124205" y="114037"/>
                </a:moveTo>
                <a:lnTo>
                  <a:pt x="181196" y="114037"/>
                </a:lnTo>
                <a:lnTo>
                  <a:pt x="238186" y="57019"/>
                </a:lnTo>
                <a:lnTo>
                  <a:pt x="181196" y="0"/>
                </a:lnTo>
                <a:lnTo>
                  <a:pt x="124205" y="0"/>
                </a:lnTo>
                <a:lnTo>
                  <a:pt x="181196" y="57019"/>
                </a:lnTo>
                <a:close/>
                <a:moveTo>
                  <a:pt x="0" y="114037"/>
                </a:moveTo>
                <a:lnTo>
                  <a:pt x="56991" y="114037"/>
                </a:lnTo>
                <a:lnTo>
                  <a:pt x="113981" y="57019"/>
                </a:lnTo>
                <a:lnTo>
                  <a:pt x="56991" y="0"/>
                </a:lnTo>
                <a:lnTo>
                  <a:pt x="0" y="0"/>
                </a:lnTo>
                <a:lnTo>
                  <a:pt x="56991" y="57019"/>
                </a:ln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751326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5132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max: 2.786655772180386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3954932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954932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min:</a:t>
            </a:r>
            <a:b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</a:br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-2.9153372837924336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7088695" y="4002027"/>
            <a:ext cx="2883980" cy="424010"/>
          </a:xfrm>
          <a:prstGeom prst="roundRect">
            <a:avLst>
              <a:gd name="adj" fmla="val 50000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250618" y="3947891"/>
            <a:ext cx="2560132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16860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All Coefficients absolute sum: 23.597984136187275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 rot="20700000" flipH="1">
            <a:off x="773281" y="1982539"/>
            <a:ext cx="441936" cy="227832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 rot="4422872" flipV="1">
            <a:off x="427439" y="1451676"/>
            <a:ext cx="274407" cy="155613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>
            <a:fillRect/>
          </a:stretch>
        </p:blipFill>
        <p:spPr>
          <a:xfrm>
            <a:off x="1295400" y="1608353"/>
            <a:ext cx="10883900" cy="1840879"/>
          </a:xfrm>
          <a:prstGeom prst="rect">
            <a:avLst/>
          </a:prstGeom>
        </p:spPr>
      </p:pic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Total FIR Filter Coefficients is 13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083881" y="2481737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noFill/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874331" y="2262662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solidFill>
            <a:schemeClr val="accent1"/>
          </a:solidFill>
          <a:ln w="63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537620" y="2621662"/>
            <a:ext cx="7132100" cy="18147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will you decide Q format for Coefficients??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08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7800684" y="1922201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>
            <a:off x="550666" y="1922200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rot="10800000">
            <a:off x="651402" y="2012200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10800000">
            <a:off x="7901421" y="2012201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974204" y="1742200"/>
            <a:ext cx="4230892" cy="378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1"/>
              </a:gs>
            </a:gsLst>
            <a:lin ang="2700000" scaled="0"/>
          </a:gradFill>
          <a:ln w="50800" cap="flat">
            <a:noFill/>
            <a:miter/>
          </a:ln>
          <a:effectLst>
            <a:outerShdw blurRad="508000" dist="127000" dir="3000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alphaModFix/>
          </a:blip>
          <a:srcRect l="15592" t="2985" r="12841" b="1095"/>
          <a:stretch>
            <a:fillRect/>
          </a:stretch>
        </p:blipFill>
        <p:spPr>
          <a:xfrm>
            <a:off x="4276415" y="2012200"/>
            <a:ext cx="3626468" cy="3240000"/>
          </a:xfrm>
          <a:custGeom>
            <a:avLst/>
            <a:gdLst/>
            <a:ahLst/>
            <a:cxnLst/>
            <a:rect l="l" t="t" r="r" b="b"/>
            <a:pathLst>
              <a:path w="3626468" h="3240000">
                <a:moveTo>
                  <a:pt x="1092039" y="1"/>
                </a:moveTo>
                <a:lnTo>
                  <a:pt x="2534440" y="1"/>
                </a:lnTo>
                <a:cubicBezTo>
                  <a:pt x="2666929" y="0"/>
                  <a:pt x="2789346" y="70685"/>
                  <a:pt x="2855583" y="185427"/>
                </a:cubicBezTo>
                <a:lnTo>
                  <a:pt x="3576784" y="1434574"/>
                </a:lnTo>
                <a:cubicBezTo>
                  <a:pt x="3643030" y="1549317"/>
                  <a:pt x="3643030" y="1690684"/>
                  <a:pt x="3576784" y="1805427"/>
                </a:cubicBezTo>
                <a:lnTo>
                  <a:pt x="2855583" y="3054573"/>
                </a:lnTo>
                <a:cubicBezTo>
                  <a:pt x="2789346" y="3169316"/>
                  <a:pt x="2666929" y="3240000"/>
                  <a:pt x="2534440" y="3240000"/>
                </a:cubicBezTo>
                <a:lnTo>
                  <a:pt x="1092039" y="3240000"/>
                </a:lnTo>
                <a:cubicBezTo>
                  <a:pt x="959551" y="3240000"/>
                  <a:pt x="837134" y="3169316"/>
                  <a:pt x="770897" y="3054573"/>
                </a:cubicBezTo>
                <a:lnTo>
                  <a:pt x="49650" y="1805427"/>
                </a:lnTo>
                <a:cubicBezTo>
                  <a:pt x="-16549" y="1690669"/>
                  <a:pt x="-16549" y="1549332"/>
                  <a:pt x="49650" y="1434574"/>
                </a:cubicBezTo>
                <a:lnTo>
                  <a:pt x="770897" y="185427"/>
                </a:lnTo>
                <a:cubicBezTo>
                  <a:pt x="837134" y="70685"/>
                  <a:pt x="959551" y="0"/>
                  <a:pt x="1092039" y="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>
            <a:off x="111464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Metrics RMSE, PESQ score for speech signals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836466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PESQ score → indicates perceptual quality difference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Compare float vs fixed-point FIR outputs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09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Summary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10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Hands 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Thanks</a:t>
            </a:r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98311" y="5311505"/>
            <a:ext cx="3607647" cy="3978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67">
                <a:ln w="12700">
                  <a:noFill/>
                </a:ln>
                <a:solidFill>
                  <a:srgbClr val="F2F2F2">
                    <a:alpha val="23000"/>
                  </a:srgbClr>
                </a:solidFill>
                <a:latin typeface="poppins-bold"/>
                <a:ea typeface="poppins-bold"/>
                <a:cs typeface="poppins-bold"/>
              </a:rPr>
              <a:t>PowerPoint Design</a:t>
            </a:r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EC314E"/>
      </a:accent1>
      <a:accent2>
        <a:srgbClr val="EF0086"/>
      </a:accent2>
      <a:accent3>
        <a:srgbClr val="EA00AF"/>
      </a:accent3>
      <a:accent4>
        <a:srgbClr val="DB00D0"/>
      </a:accent4>
      <a:accent5>
        <a:srgbClr val="B900E7"/>
      </a:accent5>
      <a:accent6>
        <a:srgbClr val="7A32F0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518</TotalTime>
  <Words>2252</Words>
  <Application>Microsoft Office PowerPoint</Application>
  <PresentationFormat>Widescreen</PresentationFormat>
  <Paragraphs>827</Paragraphs>
  <Slides>64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9" baseType="lpstr">
      <vt:lpstr>Arial</vt:lpstr>
      <vt:lpstr>Cambria Math</vt:lpstr>
      <vt:lpstr>Poppins</vt:lpstr>
      <vt:lpstr>poppins-bold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Saikiran Chepa</cp:lastModifiedBy>
  <cp:revision>25</cp:revision>
  <dcterms:modified xsi:type="dcterms:W3CDTF">2025-09-30T00:11:13Z</dcterms:modified>
</cp:coreProperties>
</file>