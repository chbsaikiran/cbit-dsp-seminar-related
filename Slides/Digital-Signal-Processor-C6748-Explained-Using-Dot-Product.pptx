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7" r:id="rId21"/>
    <p:sldId id="278" r:id="rId22"/>
    <p:sldId id="275" r:id="rId23"/>
    <p:sldId id="276" r:id="rId24"/>
    <p:sldId id="279" r:id="rId25"/>
    <p:sldId id="280" r:id="rId26"/>
    <p:sldId id="281" r:id="rId27"/>
    <p:sldId id="287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87" autoAdjust="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6552-A05C-BC29-E3AD-A7E103BF0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DF44C-8E23-A532-544A-B039B5FA3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CB753-BA40-4B89-C55F-107CD469D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52B6-06C9-4B51-99D6-CD70AA1A351D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DC6B7-3C2C-6669-7847-66FF125F2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941A5-096F-434A-A3D3-0F7E728F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80B2-E7A7-4BE8-9065-8384705D8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97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A1951-5DC8-E1CD-15E2-CD5D13DA3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F59A3-1030-7E3A-D153-96014A470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DE385-A63C-D5A5-8E30-B5B9DFB8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52B6-06C9-4B51-99D6-CD70AA1A351D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192B-E243-D397-547D-23FECE500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EF458-246C-3578-5DC7-B747AFA38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80B2-E7A7-4BE8-9065-8384705D8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63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F31D-F3A6-CEDA-DFFA-A4C572B20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B0F04-D206-7058-7288-5D0723E66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3BE7B-154A-48C7-E332-99862FB8C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52B6-06C9-4B51-99D6-CD70AA1A351D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0009A-534D-8A11-C835-555F0B213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F518D-497E-1AD1-B370-32652A195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80B2-E7A7-4BE8-9065-8384705D8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79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B4F32-3219-2327-845C-DAD4EBEB7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D7430-1655-28D8-D26F-CB2141A9E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5F579-96BB-DF1A-6F37-5743A24BB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AAEB7-C93D-EADB-BDFD-2BAF0B46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52B6-06C9-4B51-99D6-CD70AA1A351D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9A4B5-CB80-4BE4-DBC1-39F95D9B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BC692-8CBC-298E-88E2-A10A65BA1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80B2-E7A7-4BE8-9065-8384705D8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27257-08BD-623B-FD1B-BE4CB1E33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01863-7614-3C7C-6E99-801BC90A5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5552E0-DA01-125E-26E8-1F92D53DD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54B27-24AF-DC4C-3AF9-B0C941C4E4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023A01-A6DA-A246-D519-1D5CEFF8A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ADDF51-299E-692D-22EF-FC88BE3A5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52B6-06C9-4B51-99D6-CD70AA1A351D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29952A-2A80-48AF-BBC9-C3CF3C8E5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DE8A02-9D49-4C6E-C57C-736CE4AF6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80B2-E7A7-4BE8-9065-8384705D8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03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BF883-1DA2-CA3D-9119-58F86EA3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405348-88B2-B304-763B-AB1E9793A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52B6-06C9-4B51-99D6-CD70AA1A351D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DC386-22EA-A077-6B53-CF9A193BD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B35B7-F983-9D26-62C8-2B29CF31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80B2-E7A7-4BE8-9065-8384705D8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82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ADC7FC-EFDF-FC7F-C5B6-27FEDA373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52B6-06C9-4B51-99D6-CD70AA1A351D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FB4E45-606F-0756-58C2-E790B4D1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0A722-16BA-4F9E-E956-FE9A86547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80B2-E7A7-4BE8-9065-8384705D8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7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B1CF2-4B04-9617-FFEA-28A717957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DC5EC-947D-63F4-8CE4-46B747319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00A5E-FA28-4572-A07C-9DE7E3A58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08EE4-3706-C32C-2A6E-3393885B5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52B6-06C9-4B51-99D6-CD70AA1A351D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4260B-3DFB-C6E6-E680-26BB87D7C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93954-A7EB-EF61-2284-0E3948BE4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80B2-E7A7-4BE8-9065-8384705D8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736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32036-ED1C-2F9E-B5A1-75F656EF7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EDA9AC-A379-F23F-2589-F28F5E52F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5EB8C-E8C1-0F06-9ED3-B83DC280E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49C6F-5DA6-89FC-EF03-5B0CEFD88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52B6-06C9-4B51-99D6-CD70AA1A351D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06F9B-C470-59B1-A527-364BC45A1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497B7-A9C5-973B-C85F-0A8763856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80B2-E7A7-4BE8-9065-8384705D8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24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A29C9-5382-87FF-47AC-8DDE86F31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76AFE-FCE4-E97B-4C3A-C7E891621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8D4F2-F0BA-7FCF-8926-67E052FDE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52B6-06C9-4B51-99D6-CD70AA1A351D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7446F-B3D1-019C-1F12-AAD11CF8C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94EBE-1BE3-AA74-FFE7-E066B4CCB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80B2-E7A7-4BE8-9065-8384705D8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83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A3F15A-2B8B-F56D-B953-891D42480F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E1BDF-BFE0-7608-225A-7B54EBBD0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D9550-245E-3132-A596-81F59AFCF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52B6-06C9-4B51-99D6-CD70AA1A351D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D454E-C8D5-B2AC-AE60-4260EAFC9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BFAA8-BCEC-A515-FE39-61AEFB043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80B2-E7A7-4BE8-9065-8384705D8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B4667-F0EC-8838-478B-6F2E2E1B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EE3FC-BB20-113F-3D64-D675977B3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AA232-0EC3-AD0D-CB00-528458EFFE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652B6-06C9-4B51-99D6-CD70AA1A351D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3FB8C-A166-0FA0-043C-200716536F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5ACD9-0F1F-06BC-9E50-DD1689C4B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180B2-E7A7-4BE8-9065-8384705D8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107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5BD90-4309-4B47-E93F-1DEB22C416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Digital Signal Processor – TI C6748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44CF2-B1F8-60F4-02EC-C2F1BB9D35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By Saikiran Chepa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2937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F0C04-E7FA-5F6B-32EE-19F5514B3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b="1" dirty="0"/>
              <a:t>C6748 DSP and CPU: Different Design Goals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5DCAA5-DDFC-19FC-7575-728CD500D9B8}"/>
              </a:ext>
            </a:extLst>
          </p:cNvPr>
          <p:cNvSpPr txBox="1"/>
          <p:nvPr/>
        </p:nvSpPr>
        <p:spPr>
          <a:xfrm>
            <a:off x="2003612" y="44016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1D507C9-B871-23A5-4C9B-CB8782E2D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09190"/>
            <a:ext cx="1024217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 C6748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Signal Processor (DSP)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optimized for 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numeric computation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CPU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Optimized 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general-purpose computing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(OS, multitasking, user apps).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differences: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DSPs focus on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 and deterministic timing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CPUs focus on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flexibility and versatility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C6748 executes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operations per cycle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VLIW (Very Long Instruction Word)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3879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ABB47-889A-FD38-B0D4-4C4576369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Differences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2F1304-743B-C736-D8FE-794D795C2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635773"/>
              </p:ext>
            </p:extLst>
          </p:nvPr>
        </p:nvGraphicFramePr>
        <p:xfrm>
          <a:off x="838200" y="1804395"/>
          <a:ext cx="10269071" cy="394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6333407"/>
                    </a:ext>
                  </a:extLst>
                </a:gridCol>
                <a:gridCol w="3929032">
                  <a:extLst>
                    <a:ext uri="{9D8B030D-6E8A-4147-A177-3AD203B41FA5}">
                      <a16:colId xmlns:a16="http://schemas.microsoft.com/office/drawing/2014/main" val="738181089"/>
                    </a:ext>
                  </a:extLst>
                </a:gridCol>
                <a:gridCol w="3630706">
                  <a:extLst>
                    <a:ext uri="{9D8B030D-6E8A-4147-A177-3AD203B41FA5}">
                      <a16:colId xmlns:a16="http://schemas.microsoft.com/office/drawing/2014/main" val="1647985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 C6748 DSP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 CPU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104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Instruction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VLIW (can issue up to 8 parallel instructions)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Typically, Superscalar or Out-of-Order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89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Execution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Multiple specialized units: 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.L</a:t>
                      </a:r>
                      <a:r>
                        <a:rPr lang="en-GB" dirty="0"/>
                        <a:t>, 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.S</a:t>
                      </a:r>
                      <a:r>
                        <a:rPr lang="en-GB" dirty="0"/>
                        <a:t>, 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.M</a:t>
                      </a:r>
                      <a:r>
                        <a:rPr lang="en-GB" dirty="0"/>
                        <a:t>, 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Few general-purpose ALUs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50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Pipelines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Deep pipeline with deterministic timing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Dynamic pipeline with branch prediction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25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Memory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Harvard Architecture (separate program &amp; data buses)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Von Neumann (shared program/data path)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13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Parallelism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Explicit parallelism (compiler scheduled)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Implicit parallelism (hardware scheduled)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228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Addressing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Circular &amp; bit-reversed addressing for DSP ops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 addressing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270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48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A9695-A234-F3DF-D714-0437C636E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Application and Performance Differences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9D6515-AB0E-FAC3-095D-098D8D63D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294" y="1225689"/>
            <a:ext cx="1057693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DSP Strengths: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signal processing (audio, video, control loops)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Deterministic and low-latency execution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multiply-accumulate (MAC) throughput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 Strengths: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operating systems, multitasking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Broader instruction set and floating-point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C6748 DSP Features: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functional units for parallelism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32-bit fixed + floating-point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loops, circular buffers, zero-overhead addressing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 DSPs achieve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operations per cycle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signal-oriented code.</a:t>
            </a:r>
          </a:p>
        </p:txBody>
      </p:sp>
    </p:spTree>
    <p:extLst>
      <p:ext uri="{BB962C8B-B14F-4D97-AF65-F5344CB8AC3E}">
        <p14:creationId xmlns:p14="http://schemas.microsoft.com/office/powerpoint/2010/main" val="1812702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19824-FDBE-FC46-4E12-6D5EB0FB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06" y="365125"/>
            <a:ext cx="11734800" cy="5838451"/>
          </a:xfrm>
        </p:spPr>
        <p:txBody>
          <a:bodyPr>
            <a:normAutofit/>
          </a:bodyPr>
          <a:lstStyle/>
          <a:p>
            <a:r>
              <a:rPr lang="en-GB" sz="5400" b="1" dirty="0"/>
              <a:t>Introduction to Load/Store Architecture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02820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1867-83D3-FCDF-188B-28E31D69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96"/>
            <a:ext cx="10515600" cy="1325563"/>
          </a:xfrm>
        </p:spPr>
        <p:txBody>
          <a:bodyPr/>
          <a:lstStyle/>
          <a:p>
            <a:r>
              <a:rPr lang="en-US" b="1" dirty="0"/>
              <a:t>Understanding Load/Store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EF8CD9-3A75-104A-40F5-FB092057A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395459"/>
            <a:ext cx="1012488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Load/Store architectures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arithmetic and logic operations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performed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on registers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directly on memory.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instructions bring data from memory into registers.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instructions move data from registers to memory.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design simplifies the instruction pipeline and improves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 execution.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RISC-based DSPs and processors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including TI’s C674x core.</a:t>
            </a:r>
          </a:p>
        </p:txBody>
      </p:sp>
    </p:spTree>
    <p:extLst>
      <p:ext uri="{BB962C8B-B14F-4D97-AF65-F5344CB8AC3E}">
        <p14:creationId xmlns:p14="http://schemas.microsoft.com/office/powerpoint/2010/main" val="1119421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0159D-45B4-8CB4-4F59-E987A13F9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54289"/>
            <a:ext cx="10515600" cy="1325563"/>
          </a:xfrm>
        </p:spPr>
        <p:txBody>
          <a:bodyPr/>
          <a:lstStyle/>
          <a:p>
            <a:r>
              <a:rPr lang="en-GB" b="1" dirty="0"/>
              <a:t>Load/Store Mechanism in C6x DSP Core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2E4EAC-0BC6-83C3-FFCB-422E09B7F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271274"/>
            <a:ext cx="9919447" cy="556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209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E14AE-253B-D065-199D-D7CB523A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Load/Store Architecture is Efficient</a:t>
            </a: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8CDE7F-B5EC-B981-EE9B-376705084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54366"/>
            <a:ext cx="1105623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Parallelism: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Separate units allow concurrent execution of load/store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arithmetic instructions.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 efficiency: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Decoupling memory access avoids pipeline stalls.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Predictable timing: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Each instruction performs a single, well-defined operation.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Compiler-friendly: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Simplifies instruction scheduling for optimizing compilers.</a:t>
            </a:r>
          </a:p>
        </p:txBody>
      </p:sp>
    </p:spTree>
    <p:extLst>
      <p:ext uri="{BB962C8B-B14F-4D97-AF65-F5344CB8AC3E}">
        <p14:creationId xmlns:p14="http://schemas.microsoft.com/office/powerpoint/2010/main" val="464197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DCB1A-ACF1-D995-2C8D-5FAA5D1E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8203"/>
          </a:xfrm>
        </p:spPr>
        <p:txBody>
          <a:bodyPr/>
          <a:lstStyle/>
          <a:p>
            <a:r>
              <a:rPr lang="en-US" b="1" dirty="0"/>
              <a:t>TI C6748 Instruction Set Overview</a:t>
            </a:r>
          </a:p>
        </p:txBody>
      </p:sp>
    </p:spTree>
    <p:extLst>
      <p:ext uri="{BB962C8B-B14F-4D97-AF65-F5344CB8AC3E}">
        <p14:creationId xmlns:p14="http://schemas.microsoft.com/office/powerpoint/2010/main" val="1305272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3330-92A5-5A97-0289-4F38DFBC6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b="1" dirty="0"/>
              <a:t>Instruction Set of TI C6748 DSP</a:t>
            </a: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CD1C4C-3261-A01C-34DB-5155C758E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140897"/>
            <a:ext cx="989084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C6000 VLIW (Very Long Instruction Word)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architecture.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both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fixed-point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floating-point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instructions.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instructions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be issued in one cycle (1 per functional unit).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units: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el"/>
              </a:rPr>
              <a:t>.L → Arithmetic/Logic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el"/>
              </a:rPr>
              <a:t>.S → Branches, shifts, and some arithmetic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el"/>
              </a:rPr>
              <a:t>.M → Multiply and MAC (Multiply-Accumulate)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el"/>
              </a:rPr>
              <a:t>.D → Load/Store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e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data paths: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and 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each with its own set of units and registers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el"/>
              </a:rPr>
              <a:t>(A0–A15, B0–B15).</a:t>
            </a:r>
          </a:p>
        </p:txBody>
      </p:sp>
    </p:spTree>
    <p:extLst>
      <p:ext uri="{BB962C8B-B14F-4D97-AF65-F5344CB8AC3E}">
        <p14:creationId xmlns:p14="http://schemas.microsoft.com/office/powerpoint/2010/main" val="2032548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08F3-C2EB-3D0A-0DEC-8BA81A38D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Understanding Delay Slots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629291-3B10-AACF-A5F0-382BF69DF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14729"/>
            <a:ext cx="1078936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 slot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an instruction position that executes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a branch or load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issued but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branch/load effect takes place.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hide pipeline latency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maintain deterministic timing.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Commonly appears after: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 instructions (e.g., B, CALL)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5 delay slots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instructions (e.g., LDW)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4 delay slots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Compiler (or assembly programmer) must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fill delay slots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useful work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(independent instructions).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no useful instruction is available, the slot is filled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NOP (No Operation)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8046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F301-D783-4504-8FDF-196706FA7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Efficient Use of Delay Slots</a:t>
            </a: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3A33EA-113F-9F7D-4D01-157172050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90688"/>
            <a:ext cx="11291104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ompiler scheduling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(TI Code Composer Studio) usually handles delay slots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Programmers can manually optimize in hand-tuned assembly.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strategies: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independent arithmetic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instructions into delay slots.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using results from loads immediately — wait for load latency to resolve.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Minimize use of NOPs → improves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instruction-level parallelism (ILP)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351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99681-5DA5-CB70-0AFA-F3D22C5C2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184"/>
            <a:ext cx="10515600" cy="1325563"/>
          </a:xfrm>
        </p:spPr>
        <p:txBody>
          <a:bodyPr/>
          <a:lstStyle/>
          <a:p>
            <a:r>
              <a:rPr lang="en-GB" b="1" dirty="0"/>
              <a:t>TI C67x Instruction Set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66329-CC25-46D2-CC0C-F21A500FC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59" y="1229091"/>
            <a:ext cx="10614211" cy="562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443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1CAC-78AD-4728-3519-E360D974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007"/>
            <a:ext cx="10515600" cy="1325563"/>
          </a:xfrm>
        </p:spPr>
        <p:txBody>
          <a:bodyPr/>
          <a:lstStyle/>
          <a:p>
            <a:r>
              <a:rPr lang="en-GB" b="1" dirty="0"/>
              <a:t>C64x Instruction Set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3A4F43-C53B-81A1-FBE9-DE934290D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060" y="1428570"/>
            <a:ext cx="9990740" cy="542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66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EC1B27-CF6E-C3C4-D7EC-54964C55B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71" y="0"/>
            <a:ext cx="113134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05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47F05-43E7-66BF-A958-9D2D9F589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C64x+ Instruction Set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28CB9C-E478-F0E2-214D-D2ACAA24E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2" y="1578967"/>
            <a:ext cx="10663517" cy="491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31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E1FDC6-F894-4C69-CFA9-924408C980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12" y="0"/>
            <a:ext cx="113134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994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6E0937-C6E2-41B6-8506-259B101DBE82}"/>
              </a:ext>
            </a:extLst>
          </p:cNvPr>
          <p:cNvSpPr txBox="1"/>
          <p:nvPr/>
        </p:nvSpPr>
        <p:spPr>
          <a:xfrm>
            <a:off x="1353671" y="2659559"/>
            <a:ext cx="8350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Introduction to Circular Addressing</a:t>
            </a:r>
          </a:p>
        </p:txBody>
      </p:sp>
    </p:spTree>
    <p:extLst>
      <p:ext uri="{BB962C8B-B14F-4D97-AF65-F5344CB8AC3E}">
        <p14:creationId xmlns:p14="http://schemas.microsoft.com/office/powerpoint/2010/main" val="3000370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21EDA-0528-5F3B-5B62-A61F9A77C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Circular Addressing?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79327C-8BFA-A0A8-6AC1-9DD258964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749130"/>
            <a:ext cx="1085733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feature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TI C6000/C674x DSPs that allows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pointer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wrap-around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memory.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Commonly used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 filters, delay lines, and ring buffers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Eliminates software checks for buffer overflow.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Supported in registers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A4–A7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B4–B7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only.</a:t>
            </a:r>
          </a:p>
        </p:txBody>
      </p:sp>
    </p:spTree>
    <p:extLst>
      <p:ext uri="{BB962C8B-B14F-4D97-AF65-F5344CB8AC3E}">
        <p14:creationId xmlns:p14="http://schemas.microsoft.com/office/powerpoint/2010/main" val="2790543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47F1C-AA15-0145-6846-F3FE2C3CF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49"/>
            <a:ext cx="10515600" cy="1325563"/>
          </a:xfrm>
        </p:spPr>
        <p:txBody>
          <a:bodyPr/>
          <a:lstStyle/>
          <a:p>
            <a:r>
              <a:rPr lang="en-GB" b="1" dirty="0"/>
              <a:t>How Circular Mode is Controlled</a:t>
            </a: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B41598-C248-3CFB-8787-7F7F59701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335112"/>
            <a:ext cx="1069555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AMR (Addressing Mode Register)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defines which registers are circular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buffer size.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of the 8 special registers (A4–A7, B4–B7) has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2-bit mode field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el"/>
              </a:rPr>
              <a:t>00 → Linear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el"/>
              </a:rPr>
              <a:t>01 → Circular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el"/>
              </a:rPr>
              <a:t>BK0</a:t>
            </a:r>
            <a:endParaRPr lang="en-US" altLang="en-US" sz="2400" dirty="0">
              <a:latin typeface="Arie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el"/>
              </a:rPr>
              <a:t>10 → Circular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el"/>
              </a:rPr>
              <a:t>BK1</a:t>
            </a:r>
            <a:endParaRPr lang="en-US" altLang="en-US" sz="2400" b="1" dirty="0">
              <a:latin typeface="Arie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e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BK0/BK1 fields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AMR define buffer size as: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Block size = 2^(N + 1) bytes.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Buffer must be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power-of-two aligned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1814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7814-80F7-C55A-B864-0DABEABA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b="1" dirty="0"/>
              <a:t>How Start &amp; End Are Determined</a:t>
            </a: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E6AED2-597F-B828-EB32-0169D90E2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397238"/>
            <a:ext cx="12147177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explicit start/end registers exist.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derives boundaries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 masking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altLang="en-US" sz="2400" dirty="0">
                <a:latin typeface="Arial" panose="020B0604020202020204" pitchFamily="34" charset="0"/>
              </a:rPr>
              <a:t>start = A4 &amp; ~(</a:t>
            </a:r>
            <a:r>
              <a:rPr lang="en-GB" altLang="en-US" sz="2400" dirty="0" err="1">
                <a:latin typeface="Arial" panose="020B0604020202020204" pitchFamily="34" charset="0"/>
              </a:rPr>
              <a:t>block_size</a:t>
            </a:r>
            <a:r>
              <a:rPr lang="en-GB" altLang="en-US" sz="2400" dirty="0">
                <a:latin typeface="Arial" panose="020B0604020202020204" pitchFamily="34" charset="0"/>
              </a:rPr>
              <a:t> - 1)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altLang="en-US" sz="2400" dirty="0">
                <a:latin typeface="Arial" panose="020B0604020202020204" pitchFamily="34" charset="0"/>
              </a:rPr>
              <a:t>end   = start + </a:t>
            </a:r>
            <a:r>
              <a:rPr lang="en-GB" altLang="en-US" sz="2400" dirty="0" err="1">
                <a:latin typeface="Arial" panose="020B0604020202020204" pitchFamily="34" charset="0"/>
              </a:rPr>
              <a:t>block_size</a:t>
            </a:r>
            <a:endParaRPr lang="en-GB" altLang="en-US" sz="24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US" sz="2400" dirty="0">
              <a:latin typeface="Arial" panose="020B0604020202020204" pitchFamily="34" charset="0"/>
            </a:endParaRPr>
          </a:p>
          <a:p>
            <a:r>
              <a:rPr lang="en-GB" sz="2400" b="1" dirty="0"/>
              <a:t>Example:</a:t>
            </a:r>
            <a:endParaRPr lang="en-GB" sz="2400" dirty="0"/>
          </a:p>
          <a:p>
            <a:r>
              <a:rPr lang="en-GB" sz="2400" dirty="0"/>
              <a:t>A4 = 0x8000 0000, BK0 = 3 → block = 16 bytes</a:t>
            </a:r>
          </a:p>
          <a:p>
            <a:r>
              <a:rPr lang="en-GB" sz="2400" dirty="0"/>
              <a:t>Valid range: 0x8000 0000 – 0x8000 000F</a:t>
            </a:r>
          </a:p>
          <a:p>
            <a:r>
              <a:rPr lang="en-GB" sz="2400" dirty="0"/>
              <a:t>At address 0x8000 000E → *A4++ wraps back → 0x8000 0000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US" sz="24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/>
              <a:t>A4 = 0x8000 0004, BK0 = 3 → block = 16 bytes</a:t>
            </a:r>
            <a:endParaRPr lang="en-GB" altLang="en-US" sz="2400" dirty="0">
              <a:latin typeface="Arial" panose="020B0604020202020204" pitchFamily="34" charset="0"/>
            </a:endParaRPr>
          </a:p>
          <a:p>
            <a:r>
              <a:rPr lang="en-GB" sz="2400" dirty="0"/>
              <a:t>Valid range: 0x8000 0000 – 0x8000 000F</a:t>
            </a:r>
          </a:p>
          <a:p>
            <a:r>
              <a:rPr lang="en-GB" sz="2400" dirty="0"/>
              <a:t>At address 0x8000 000E → *A4++ wraps back → 0x8000 0000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147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6CF78-287B-7D0C-361C-816ACAD73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How Circular Mode is Controlled</a:t>
            </a: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DC3628-3593-3D07-6132-586615FDC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187963"/>
              </p:ext>
            </p:extLst>
          </p:nvPr>
        </p:nvGraphicFramePr>
        <p:xfrm>
          <a:off x="838200" y="1472701"/>
          <a:ext cx="8127999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10803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3670837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416346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774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31–27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Block size (for mode=10)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813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26–22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BK0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Block size (for mode=01)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684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21–20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B7MODE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 for B7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367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19–18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B6MODE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 for B6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11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17–16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B5MODE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 for B5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71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15–14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B4MODE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 for B4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188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13–12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A7MODE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 for A7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393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11–10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A6MODE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 for A6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716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9–8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A5MODE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 for A5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85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7–6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A4MODE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 for A4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616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5–0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Must be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468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92449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6FCB22-C934-3DE9-5541-0C0CFECFFB5A}"/>
              </a:ext>
            </a:extLst>
          </p:cNvPr>
          <p:cNvSpPr txBox="1"/>
          <p:nvPr/>
        </p:nvSpPr>
        <p:spPr>
          <a:xfrm>
            <a:off x="842682" y="170329"/>
            <a:ext cx="84320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/>
              <a:t>Example : Two circular buffers (A4=16B, B4=64B)</a:t>
            </a:r>
            <a:endParaRPr lang="en-US" sz="32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FA20F5-B4BD-E550-8E91-F232C6526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571199"/>
              </p:ext>
            </p:extLst>
          </p:nvPr>
        </p:nvGraphicFramePr>
        <p:xfrm>
          <a:off x="842682" y="1248584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4190139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230739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Field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6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BK0 =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(16B)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282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BK1 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(64B)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5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A4MODE = 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BK0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01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B4MODE =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BK1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3582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8E36CC-481A-D56B-21F3-8B607E3538CF}"/>
              </a:ext>
            </a:extLst>
          </p:cNvPr>
          <p:cNvSpPr txBox="1"/>
          <p:nvPr/>
        </p:nvSpPr>
        <p:spPr>
          <a:xfrm>
            <a:off x="775741" y="3881718"/>
            <a:ext cx="88523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AMR bits = BK1(5) BK0(3) + A4mode=01 + B4mode=10 + others=00</a:t>
            </a:r>
          </a:p>
          <a:p>
            <a:r>
              <a:rPr lang="en-GB" sz="2400" dirty="0"/>
              <a:t>Binary: 0010 1000 1100 0000 1000 0000 0100 0000</a:t>
            </a:r>
          </a:p>
          <a:p>
            <a:r>
              <a:rPr lang="en-GB" sz="2400" dirty="0"/>
              <a:t>Hex:    0x28C08040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41380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6770A-1AA4-F3DE-E712-352D52B7A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97130"/>
          </a:xfrm>
        </p:spPr>
        <p:txBody>
          <a:bodyPr/>
          <a:lstStyle/>
          <a:p>
            <a:r>
              <a:rPr lang="en-GB" b="1" dirty="0"/>
              <a:t>Hardware Pipelining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84725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0D37-133A-E762-4D79-0E382522B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Pipelining in C6748 DSP?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38A564-9C2F-3476-DDC4-35C93E506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06023"/>
            <a:ext cx="9497985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 C6748 uses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Long Instruction Word (VLIW)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architecture.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Pipelining allows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instructions to overlap in execution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improving throughput.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CPU executes instructions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like an assembly 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C6748 has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8-unit functional pipeline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× .L (Logic/Arithmetic)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× .S (Shift/Branch)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× .M (Multiply)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× .D (Data load/store)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000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3EBEF0-4B87-41A1-A3E0-A075D89A8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92" y="36168"/>
            <a:ext cx="11453090" cy="682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541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ACC0F8-399F-810F-EB7B-9A594804F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00" y="224118"/>
            <a:ext cx="11881140" cy="648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225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3D78E-F2F1-4220-FFF5-B814177F5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91"/>
            <a:ext cx="10515600" cy="1325563"/>
          </a:xfrm>
        </p:spPr>
        <p:txBody>
          <a:bodyPr/>
          <a:lstStyle/>
          <a:p>
            <a:r>
              <a:rPr lang="en-US" b="1" dirty="0"/>
              <a:t>Hazards in Pipelining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9EEF47-8AD9-1563-00C9-19258C866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382454"/>
            <a:ext cx="1124378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Hazards: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one instruction depends on the result of another still in pipeline.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Solved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scheduling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 renaming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Structural Hazards: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multiple instructions need the same hardware unit.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Hazards: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Occur in branch/jump instructions → mitigated by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delayed branches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C6748 has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deterministic timing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no branch prediction; programmer/compiler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scheduling.</a:t>
            </a:r>
          </a:p>
        </p:txBody>
      </p:sp>
    </p:spTree>
    <p:extLst>
      <p:ext uri="{BB962C8B-B14F-4D97-AF65-F5344CB8AC3E}">
        <p14:creationId xmlns:p14="http://schemas.microsoft.com/office/powerpoint/2010/main" val="31461157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409C-5A30-ADFB-67C5-AC7974193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86293"/>
          </a:xfrm>
        </p:spPr>
        <p:txBody>
          <a:bodyPr/>
          <a:lstStyle/>
          <a:p>
            <a:r>
              <a:rPr lang="en-GB" b="1" dirty="0"/>
              <a:t>Software Pipelining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9664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94B695-0D0E-EFCC-AC6E-23570F934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65" y="85656"/>
            <a:ext cx="11361084" cy="669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328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BC5B3E-6364-AE63-4183-9E65AFE7E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19" y="49556"/>
            <a:ext cx="11453090" cy="676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066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8ADEED-976F-64ED-D4A6-28B2D4C1A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36" y="48158"/>
            <a:ext cx="11508509" cy="677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193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1234</Words>
  <Application>Microsoft Office PowerPoint</Application>
  <PresentationFormat>Widescreen</PresentationFormat>
  <Paragraphs>234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Ariel</vt:lpstr>
      <vt:lpstr>Calibri</vt:lpstr>
      <vt:lpstr>Calibri Light</vt:lpstr>
      <vt:lpstr>Office Theme</vt:lpstr>
      <vt:lpstr>Digital Signal Processor – TI C6748</vt:lpstr>
      <vt:lpstr>C6748 DSP and CPU: Different Design Goals</vt:lpstr>
      <vt:lpstr>Architectural Differences</vt:lpstr>
      <vt:lpstr>Application and Performance Differences</vt:lpstr>
      <vt:lpstr>Introduction to Load/Store Architecture</vt:lpstr>
      <vt:lpstr>Understanding Load/Store Architecture</vt:lpstr>
      <vt:lpstr>Load/Store Mechanism in C6x DSP Core</vt:lpstr>
      <vt:lpstr>Why Load/Store Architecture is Efficient</vt:lpstr>
      <vt:lpstr>TI C6748 Instruction Set Overview</vt:lpstr>
      <vt:lpstr>Instruction Set of TI C6748 DSP</vt:lpstr>
      <vt:lpstr>Understanding Delay Slots</vt:lpstr>
      <vt:lpstr>Efficient Use of Delay Slots</vt:lpstr>
      <vt:lpstr>TI C67x Instruction Set</vt:lpstr>
      <vt:lpstr>C64x Instruction Set</vt:lpstr>
      <vt:lpstr>PowerPoint Presentation</vt:lpstr>
      <vt:lpstr>C64x+ Instruction Set</vt:lpstr>
      <vt:lpstr>PowerPoint Presentation</vt:lpstr>
      <vt:lpstr>PowerPoint Presentation</vt:lpstr>
      <vt:lpstr>What is Circular Addressing?</vt:lpstr>
      <vt:lpstr>How Circular Mode is Controlled</vt:lpstr>
      <vt:lpstr>How Start &amp; End Are Determined</vt:lpstr>
      <vt:lpstr>How Circular Mode is Controlled</vt:lpstr>
      <vt:lpstr>PowerPoint Presentation</vt:lpstr>
      <vt:lpstr>Hardware Pipelining</vt:lpstr>
      <vt:lpstr>What is Pipelining in C6748 DSP?</vt:lpstr>
      <vt:lpstr>PowerPoint Presentation</vt:lpstr>
      <vt:lpstr>PowerPoint Presentation</vt:lpstr>
      <vt:lpstr>Hazards in Pipelining</vt:lpstr>
      <vt:lpstr>Software Pipelining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Saikiran Chepa</dc:creator>
  <cp:lastModifiedBy>Saikiran Chepa</cp:lastModifiedBy>
  <cp:revision>11</cp:revision>
  <dcterms:created xsi:type="dcterms:W3CDTF">2025-10-21T07:06:11Z</dcterms:created>
  <dcterms:modified xsi:type="dcterms:W3CDTF">2025-10-22T03:01:06Z</dcterms:modified>
</cp:coreProperties>
</file>